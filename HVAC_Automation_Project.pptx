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640080"/>
            <a:ext cx="3474720" cy="3474720"/>
          </a:xfrm>
          <a:prstGeom prst="ellipse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1B4F8A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182880"/>
            <a:ext cx="2011680" cy="2011680"/>
          </a:xfrm>
          <a:prstGeom prst="ellipse">
            <a:avLst/>
          </a:prstGeom>
          <a:solidFill>
            <a:srgbClr val="0A7E8C">
              <a:alpha val="40000"/>
            </a:srgbClr>
          </a:solidFill>
          <a:ln w="12700">
            <a:solidFill>
              <a:srgbClr val="0A7E8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3474720"/>
            <a:ext cx="2286000" cy="2286000"/>
          </a:xfrm>
          <a:prstGeom prst="ellipse">
            <a:avLst/>
          </a:prstGeom>
          <a:solidFill>
            <a:srgbClr val="0A7E8C">
              <a:alpha val="20000"/>
            </a:srgbClr>
          </a:solidFill>
          <a:ln w="12700">
            <a:solidFill>
              <a:srgbClr val="0A7E8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914400"/>
            <a:ext cx="73152" cy="3200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77724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Automotive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HVAC Automation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HAL Testing with Robot Framework &amp; ADB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3703320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7033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41448" y="3703320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1448" y="37033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Automotive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05656" y="3703320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05656" y="37033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69864" y="3703320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9864" y="37033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34072" y="3703320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34072" y="37033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Protobuf</a:t>
            </a:r>
            <a:endParaRPr lang="en-US" sz="9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10312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test whether a car's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20848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control system works 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24323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human pressing buttons.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tests: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5488" y="3264408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27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On / Off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" y="361188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75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Speed (0–7)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" y="3959352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9227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(16–32°C)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95728" y="3264408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3227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Zone Mode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95728" y="361188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3575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HVAC Power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109728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709160" y="1755648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755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09160" y="20025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.robot test files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2249424"/>
            <a:ext cx="0" cy="192024"/>
          </a:xfrm>
          <a:prstGeom prst="line">
            <a:avLst/>
          </a:prstGeom>
          <a:noFill/>
          <a:ln w="19050">
            <a:solidFill>
              <a:srgbClr val="7A9C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3682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2459736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459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Keywords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709160" y="27066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ADB commands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29400" y="2953512"/>
            <a:ext cx="0" cy="192024"/>
          </a:xfrm>
          <a:prstGeom prst="line">
            <a:avLst/>
          </a:prstGeom>
          <a:noFill/>
          <a:ln w="19050">
            <a:solidFill>
              <a:srgbClr val="7A9C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072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3163824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1638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 Shell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70916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Android car OS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29400" y="3657600"/>
            <a:ext cx="0" cy="192024"/>
          </a:xfrm>
          <a:prstGeom prst="line">
            <a:avLst/>
          </a:prstGeom>
          <a:noFill/>
          <a:ln w="19050">
            <a:solidFill>
              <a:srgbClr val="7A9C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37764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3867912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2DBD6E"/>
          </a:solidFill>
          <a:ln w="12700">
            <a:solidFill>
              <a:srgbClr val="2DBD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3867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VHAL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709160" y="41148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car hardware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VHAL?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Hardware Abstraction Layer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VHAL is the translator between Android software and physical car hardware.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controllable car feature is a VHAL Property with a numeric ID. To turn on the AC, software tells VHAL: "set property 354419973 to 1."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0" y="1280160"/>
            <a:ext cx="4114800" cy="621792"/>
          </a:xfrm>
          <a:prstGeom prst="roundRect">
            <a:avLst>
              <a:gd name="adj" fmla="val 8824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0" y="128016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Apps &amp; Services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46520" y="1920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2084832"/>
            <a:ext cx="4114800" cy="621792"/>
          </a:xfrm>
          <a:prstGeom prst="roundRect">
            <a:avLst>
              <a:gd name="adj" fmla="val 8824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08483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VHAL  ← translator layer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46520" y="27249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889504"/>
            <a:ext cx="4114800" cy="621792"/>
          </a:xfrm>
          <a:prstGeom prst="roundRect">
            <a:avLst>
              <a:gd name="adj" fmla="val 8824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2889504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Car Hardware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5760" y="29718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HVAC Property IDs used in this project: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401568"/>
            <a:ext cx="2926080" cy="274320"/>
          </a:xfrm>
          <a:prstGeom prst="rect">
            <a:avLst/>
          </a:prstGeom>
          <a:solidFill>
            <a:srgbClr val="1B4F8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40156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3401568"/>
            <a:ext cx="1828800" cy="274320"/>
          </a:xfrm>
          <a:prstGeom prst="rect">
            <a:avLst/>
          </a:prstGeom>
          <a:solidFill>
            <a:srgbClr val="1B4F8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340156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20640" y="3401568"/>
            <a:ext cx="1828800" cy="274320"/>
          </a:xfrm>
          <a:prstGeom prst="rect">
            <a:avLst/>
          </a:prstGeom>
          <a:solidFill>
            <a:srgbClr val="1B4F8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93792" y="340156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675888"/>
            <a:ext cx="2926080" cy="274320"/>
          </a:xfrm>
          <a:prstGeom prst="rect">
            <a:avLst/>
          </a:prstGeom>
          <a:solidFill>
            <a:srgbClr val="16223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67588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HVAC Power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91840" y="3675888"/>
            <a:ext cx="1828800" cy="274320"/>
          </a:xfrm>
          <a:prstGeom prst="rect">
            <a:avLst/>
          </a:prstGeom>
          <a:solidFill>
            <a:srgbClr val="16223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367588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354419984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20640" y="3675888"/>
            <a:ext cx="1828800" cy="274320"/>
          </a:xfrm>
          <a:prstGeom prst="rect">
            <a:avLst/>
          </a:prstGeom>
          <a:solidFill>
            <a:srgbClr val="16223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367588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950208"/>
            <a:ext cx="292608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95020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On/Off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91840" y="3950208"/>
            <a:ext cx="18288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39502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354419973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20640" y="3950208"/>
            <a:ext cx="18288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39502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224528"/>
            <a:ext cx="2926080" cy="274320"/>
          </a:xfrm>
          <a:prstGeom prst="rect">
            <a:avLst/>
          </a:prstGeom>
          <a:solidFill>
            <a:srgbClr val="16223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422452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Speed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91840" y="4224528"/>
            <a:ext cx="1828800" cy="274320"/>
          </a:xfrm>
          <a:prstGeom prst="rect">
            <a:avLst/>
          </a:prstGeom>
          <a:solidFill>
            <a:srgbClr val="16223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64992" y="422452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356517120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120640" y="4224528"/>
            <a:ext cx="1828800" cy="274320"/>
          </a:xfrm>
          <a:prstGeom prst="rect">
            <a:avLst/>
          </a:prstGeom>
          <a:solidFill>
            <a:srgbClr val="16223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93792" y="422452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(0–7)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4498848"/>
            <a:ext cx="292608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449884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Set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91840" y="4498848"/>
            <a:ext cx="18288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64992" y="449884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358614275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120640" y="4498848"/>
            <a:ext cx="18288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93792" y="449884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(16–32°C)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65760" y="4773168"/>
            <a:ext cx="2926080" cy="274320"/>
          </a:xfrm>
          <a:prstGeom prst="rect">
            <a:avLst/>
          </a:prstGeom>
          <a:solidFill>
            <a:srgbClr val="16223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" y="477316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Mode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291840" y="4773168"/>
            <a:ext cx="1828800" cy="274320"/>
          </a:xfrm>
          <a:prstGeom prst="rect">
            <a:avLst/>
          </a:prstGeom>
          <a:solidFill>
            <a:srgbClr val="16223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64992" y="477316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354419977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120640" y="4773168"/>
            <a:ext cx="1828800" cy="274320"/>
          </a:xfrm>
          <a:prstGeom prst="rect">
            <a:avLst/>
          </a:prstGeom>
          <a:solidFill>
            <a:srgbClr val="16223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93792" y="477316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ADB?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B2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Debug Bridge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15568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 is a command-line tool that lets your laptop send commands to an Android device. In this project, that device is a car's computer (head unit) or an Android Automotive emulator running on a PC.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0040" y="22402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Flow: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697480"/>
            <a:ext cx="1280160" cy="658368"/>
          </a:xfrm>
          <a:prstGeom prst="roundRect">
            <a:avLst>
              <a:gd name="adj" fmla="val 9722"/>
            </a:avLst>
          </a:prstGeom>
          <a:solidFill>
            <a:srgbClr val="1B4F8A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69748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0" y="3026664"/>
            <a:ext cx="320040" cy="0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69364" y="2926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2697480"/>
            <a:ext cx="1280160" cy="658368"/>
          </a:xfrm>
          <a:prstGeom prst="roundRect">
            <a:avLst>
              <a:gd name="adj" fmla="val 9722"/>
            </a:avLst>
          </a:prstGeom>
          <a:solidFill>
            <a:srgbClr val="1B2A4A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11680" y="269748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3026664"/>
            <a:ext cx="320040" cy="0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61004" y="2926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03320" y="2697480"/>
            <a:ext cx="1280160" cy="658368"/>
          </a:xfrm>
          <a:prstGeom prst="roundRect">
            <a:avLst>
              <a:gd name="adj" fmla="val 9722"/>
            </a:avLst>
          </a:prstGeom>
          <a:solidFill>
            <a:srgbClr val="1B2A4A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03320" y="269748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3026664"/>
            <a:ext cx="320040" cy="0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52644" y="2926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94960" y="2697480"/>
            <a:ext cx="1280160" cy="658368"/>
          </a:xfrm>
          <a:prstGeom prst="roundRect">
            <a:avLst>
              <a:gd name="adj" fmla="val 9722"/>
            </a:avLst>
          </a:prstGeom>
          <a:solidFill>
            <a:srgbClr val="1B2A4A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94960" y="269748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20840" y="3026664"/>
            <a:ext cx="320040" cy="0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44284" y="2926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86600" y="2697480"/>
            <a:ext cx="1280160" cy="658368"/>
          </a:xfrm>
          <a:prstGeom prst="roundRect">
            <a:avLst>
              <a:gd name="adj" fmla="val 9722"/>
            </a:avLst>
          </a:prstGeom>
          <a:solidFill>
            <a:srgbClr val="2DBD6E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86600" y="269748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520440"/>
            <a:ext cx="850392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6118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adb shell cmd car_service set-property-value 356517120 1 5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" y="39776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Sets fan speed (property 356517120) to level 5 on the car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4325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adb shell cmd car_service get-property-value 356517120 1   →   Value: 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Robot Framework?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Keyword-driven test automation with human-readable test files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069080" cy="3611880"/>
          </a:xfrm>
          <a:prstGeom prst="rect">
            <a:avLst/>
          </a:prstGeom>
          <a:solidFill>
            <a:srgbClr val="111E2F"/>
          </a:solidFill>
          <a:ln w="12700">
            <a:solidFill>
              <a:srgbClr val="111E2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climate.robot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7B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 Settings ***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  climate_keywords.py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7B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 Test Cases ***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Fan Speed 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090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 Fan Speed    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364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Sleep    1s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${speed}=  Get Fan Speed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913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Should Be Equal As Integers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187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   ${speed}    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1234440"/>
            <a:ext cx="4160520" cy="10789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6592" y="1399032"/>
            <a:ext cx="411480" cy="4114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257800" y="1325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Tests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257800" y="167335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are written like instructions, not code. QA engineers who don't know Python can read and write them.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617720" y="2441448"/>
            <a:ext cx="4160520" cy="10789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606040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57800" y="25328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= Python Functions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257800" y="28803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like "Set Fan Speed" map directly to Python functions in climate_keywords.py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617720" y="3648456"/>
            <a:ext cx="4160520" cy="10789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3813048"/>
            <a:ext cx="411480" cy="4114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257800" y="373989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Reports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5257800" y="408736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 produces log.html and report.html showing which tests passed or failed, with timing and logs.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347472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70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automation/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7B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80136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climate.robot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04825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regression.robot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29514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7B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keywords/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climate_keywords.py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78892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vehicle_properties.py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03580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validators.py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28269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utils.py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5295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7B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77647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climate_config.json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02336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vhal_emulator.py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27024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VehicleHalProto_pb2.py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77640" y="1051560"/>
            <a:ext cx="4846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77640" y="1051560"/>
            <a:ext cx="109728" cy="53035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87952" y="108813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climate.robot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87952" y="130759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feature tests — one test case per climate function.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977640" y="1664208"/>
            <a:ext cx="4846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977640" y="1664208"/>
            <a:ext cx="109728" cy="53035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87952" y="170078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regression.robot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187952" y="192024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smoke test — all functions in one test case.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77640" y="2276856"/>
            <a:ext cx="4846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977640" y="2276856"/>
            <a:ext cx="109728" cy="5303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87952" y="231343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climate_keywords.py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187952" y="253288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automation logic. Python functions that issue ADB commands to the car.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977640" y="2889504"/>
            <a:ext cx="4846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977640" y="2889504"/>
            <a:ext cx="109728" cy="5303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87952" y="29260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vehicle_properties.py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187952" y="314553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constants for VHAL property IDs. Prevents magic numbers.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977640" y="3502152"/>
            <a:ext cx="4846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977640" y="3502152"/>
            <a:ext cx="109728" cy="5303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87952" y="353872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validators.py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187952" y="37581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range checks — fan speed 0–7, temperature 16–32°C.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977640" y="4114800"/>
            <a:ext cx="4846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977640" y="4114800"/>
            <a:ext cx="109728" cy="5303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87952" y="415137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7B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climate_config.json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187952" y="437083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limits as JSON — the source of truth for valid ranges.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Execution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happens when you run:  robot tests/climate.robot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402336" cy="402336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87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280160"/>
            <a:ext cx="1097280" cy="960120"/>
          </a:xfrm>
          <a:prstGeom prst="roundRect">
            <a:avLst>
              <a:gd name="adj" fmla="val 5714"/>
            </a:avLst>
          </a:prstGeom>
          <a:solidFill>
            <a:srgbClr val="162236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9456" y="1316736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tests/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climate.robot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9456" y="181051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89304" y="16276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64792" y="987552"/>
            <a:ext cx="402336" cy="402336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64792" y="987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417320" y="1280160"/>
            <a:ext cx="1097280" cy="960120"/>
          </a:xfrm>
          <a:prstGeom prst="roundRect">
            <a:avLst>
              <a:gd name="adj" fmla="val 5714"/>
            </a:avLst>
          </a:prstGeom>
          <a:solidFill>
            <a:srgbClr val="162236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53896" y="1316736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test case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"Verify Fan Speed"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53896" y="181051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keyword 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climate_keywords.py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23744" y="16276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99232" y="987552"/>
            <a:ext cx="402336" cy="402336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99232" y="987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51760" y="1280160"/>
            <a:ext cx="1097280" cy="960120"/>
          </a:xfrm>
          <a:prstGeom prst="roundRect">
            <a:avLst>
              <a:gd name="adj" fmla="val 5714"/>
            </a:avLst>
          </a:prstGeom>
          <a:solidFill>
            <a:srgbClr val="162236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688336" y="1316736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set_fan_speed(5)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88336" y="181051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ADB command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758184" y="16276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33672" y="987552"/>
            <a:ext cx="402336" cy="402336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33672" y="987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886200" y="1280160"/>
            <a:ext cx="1097280" cy="960120"/>
          </a:xfrm>
          <a:prstGeom prst="roundRect">
            <a:avLst>
              <a:gd name="adj" fmla="val 5714"/>
            </a:avLst>
          </a:prstGeom>
          <a:solidFill>
            <a:srgbClr val="162236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922776" y="1316736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 shell cmd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car_service …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922776" y="181051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subprocess.run()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92624" y="16276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68112" y="987552"/>
            <a:ext cx="402336" cy="40233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68112" y="987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120640" y="1280160"/>
            <a:ext cx="1097280" cy="960120"/>
          </a:xfrm>
          <a:prstGeom prst="roundRect">
            <a:avLst>
              <a:gd name="adj" fmla="val 5714"/>
            </a:avLst>
          </a:prstGeom>
          <a:solidFill>
            <a:srgbClr val="162236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157216" y="1316736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VHAL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fan to 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157216" y="181051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responds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27064" y="16276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02552" y="987552"/>
            <a:ext cx="402336" cy="402336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02552" y="987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55080" y="1280160"/>
            <a:ext cx="1097280" cy="960120"/>
          </a:xfrm>
          <a:prstGeom prst="roundRect">
            <a:avLst>
              <a:gd name="adj" fmla="val 5714"/>
            </a:avLst>
          </a:prstGeom>
          <a:solidFill>
            <a:srgbClr val="162236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91656" y="1316736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get_fan_speed()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91656" y="181051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parses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"Value: 5"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461504" y="16276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936992" y="987552"/>
            <a:ext cx="402336" cy="402336"/>
          </a:xfrm>
          <a:prstGeom prst="ellipse">
            <a:avLst/>
          </a:prstGeom>
          <a:solidFill>
            <a:srgbClr val="2DBD6E"/>
          </a:solidFill>
          <a:ln w="12700">
            <a:solidFill>
              <a:srgbClr val="2DBD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36992" y="987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589520" y="1280160"/>
            <a:ext cx="1097280" cy="960120"/>
          </a:xfrm>
          <a:prstGeom prst="roundRect">
            <a:avLst>
              <a:gd name="adj" fmla="val 5714"/>
            </a:avLst>
          </a:prstGeom>
          <a:solidFill>
            <a:srgbClr val="162236"/>
          </a:solidFill>
          <a:ln w="12700">
            <a:solidFill>
              <a:srgbClr val="2DBD6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626096" y="1316736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✓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log.html created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626096" y="181051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result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2514600"/>
            <a:ext cx="8503920" cy="2377440"/>
          </a:xfrm>
          <a:prstGeom prst="rect">
            <a:avLst/>
          </a:prstGeom>
          <a:solidFill>
            <a:srgbClr val="111E2F"/>
          </a:solidFill>
          <a:ln w="12700">
            <a:solidFill>
              <a:srgbClr val="111E2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02920" y="26060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run_adb()  — Error Handling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02920" y="29992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 sometimes returns exit code 0 ("success") even when something went wrong. So the code checks three conditions: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02920" y="3401568"/>
            <a:ext cx="2651760" cy="1261872"/>
          </a:xfrm>
          <a:prstGeom prst="roundRect">
            <a:avLst>
              <a:gd name="adj" fmla="val 4348"/>
            </a:avLst>
          </a:prstGeom>
          <a:solidFill>
            <a:srgbClr val="1B2A4A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76072" y="38221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returncode != 0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76072" y="4160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itself failed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337560" y="3401568"/>
            <a:ext cx="2651760" cy="1261872"/>
          </a:xfrm>
          <a:prstGeom prst="roundRect">
            <a:avLst>
              <a:gd name="adj" fmla="val 4348"/>
            </a:avLst>
          </a:prstGeom>
          <a:solidFill>
            <a:srgbClr val="1B2A4A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10712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3410712" y="38221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devices/emulators found"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410712" y="4160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Android device connected via ADB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172200" y="3401568"/>
            <a:ext cx="2651760" cy="1261872"/>
          </a:xfrm>
          <a:prstGeom prst="roundRect">
            <a:avLst>
              <a:gd name="adj" fmla="val 4348"/>
            </a:avLst>
          </a:prstGeom>
          <a:solidFill>
            <a:srgbClr val="1B2A4A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45352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6245352" y="38221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"Cannot set a property"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245352" y="4160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VHAL rejected the value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Deep Dive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2834640" cy="38404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climate_keywords.py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4904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keyword library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set_hvac_power(value)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13055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set_ac(value)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43230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set_fan_speed(speed)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734056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get_fan_speed()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303580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set_temperature(temp)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333756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set_dual_mode(value)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1752" y="4224528"/>
            <a:ext cx="2688336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" y="4242816"/>
            <a:ext cx="2578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function builds and runs an ADB command. Booleans cast to 1/0 for VHAL protocol.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105156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051560"/>
            <a:ext cx="283464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0515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vehicle_properties.py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91840" y="14904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constants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182880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HVAC_POWER_ON = 356517120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213055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HVAC_FAN_SPEED = 356517121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243230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HVAC_AC_ON = 356517137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2734056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HVAC_TEMPERATURE_SET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303580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DRIVER_AREA =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333756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PASSENGER_AREA = 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73552" y="4224528"/>
            <a:ext cx="2688336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28416" y="4242816"/>
            <a:ext cx="2578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Centralises all VHAL property IDs. Change once → fixes everywhere.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72200" y="105156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1051560"/>
            <a:ext cx="2834640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0515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validators.py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63640" y="14904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 checks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182880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validate_fan_speed(v)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213055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0 ≤ v ≤ 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243230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validate_temperature(v)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3640" y="2734056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16 ≤ v ≤ 32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63640" y="303580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validate_boolean(v)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333756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must be True/False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45352" y="4224528"/>
            <a:ext cx="2688336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0216" y="4242816"/>
            <a:ext cx="2578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bad values before they reach the car. Currently defined but not yet wired in.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VHAL Emulator &amp; Protobuf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lower-level communication path (not used by the main tests)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3931920" cy="3566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80160"/>
            <a:ext cx="3931920" cy="4114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 Shell Approach (used by tests)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Simple setup — no port forwarding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Human-readable text output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Easy to debug in terminal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712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Good for functional testing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= "adb shell cmd car_service"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8130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subprocess.run(cmd)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1280160"/>
            <a:ext cx="4343400" cy="3566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1280160"/>
            <a:ext cx="4343400" cy="4114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2801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VHAL Emulator (advanced / prototype)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0" y="1892808"/>
            <a:ext cx="137160" cy="137160"/>
          </a:xfrm>
          <a:prstGeom prst="ellipse">
            <a:avLst/>
          </a:prstGeom>
          <a:solidFill>
            <a:srgbClr val="7A9CC0"/>
          </a:solidFill>
          <a:ln w="12700">
            <a:solidFill>
              <a:srgbClr val="7A9C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847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TCP socket to VHAL daemon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2231136"/>
            <a:ext cx="137160" cy="137160"/>
          </a:xfrm>
          <a:prstGeom prst="ellipse">
            <a:avLst/>
          </a:prstGeom>
          <a:solidFill>
            <a:srgbClr val="7A9CC0"/>
          </a:solidFill>
          <a:ln w="12700">
            <a:solidFill>
              <a:srgbClr val="7A9C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21854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Protocol Buffers (binary format)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0" y="2569464"/>
            <a:ext cx="137160" cy="137160"/>
          </a:xfrm>
          <a:prstGeom prst="ellipse">
            <a:avLst/>
          </a:prstGeom>
          <a:solidFill>
            <a:srgbClr val="7A9CC0"/>
          </a:solidFill>
          <a:ln w="12700">
            <a:solidFill>
              <a:srgbClr val="7A9C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5237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file: VehicleHalProto_pb2.py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0" y="2907792"/>
            <a:ext cx="137160" cy="137160"/>
          </a:xfrm>
          <a:prstGeom prst="ellipse">
            <a:avLst/>
          </a:prstGeom>
          <a:solidFill>
            <a:srgbClr val="7A9CC0"/>
          </a:solidFill>
          <a:ln w="12700">
            <a:solidFill>
              <a:srgbClr val="7A9C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2862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for bulk messaging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0" y="3246120"/>
            <a:ext cx="137160" cy="137160"/>
          </a:xfrm>
          <a:prstGeom prst="ellipse">
            <a:avLst/>
          </a:prstGeom>
          <a:solidFill>
            <a:srgbClr val="7A9CC0"/>
          </a:solidFill>
          <a:ln w="12700">
            <a:solidFill>
              <a:srgbClr val="7A9C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adb forward for port setup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1772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17720" y="39136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Vhal(VehicleHalProto_pb2)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17720" y="4169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v.setProperty(FAN_SPEED, 1, 5)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17720" y="44256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 = v.rxMsg()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60520" y="2514600"/>
            <a:ext cx="457200" cy="4572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7A9C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605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BD6E"/>
          </a:solidFill>
          <a:ln w="12700">
            <a:solidFill>
              <a:srgbClr val="2DB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&amp; Reports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(from climate.robot)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3931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44752"/>
            <a:ext cx="640080" cy="493776"/>
          </a:xfrm>
          <a:prstGeom prst="roundRect">
            <a:avLst/>
          </a:prstGeom>
          <a:solidFill>
            <a:srgbClr val="2DBD6E"/>
          </a:solidFill>
          <a:ln w="12700">
            <a:solidFill>
              <a:srgbClr val="2DBD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44752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14904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HVAC Power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7007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power on, waits 2s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3931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11680"/>
            <a:ext cx="640080" cy="493776"/>
          </a:xfrm>
          <a:prstGeom prst="roundRect">
            <a:avLst/>
          </a:prstGeom>
          <a:solidFill>
            <a:srgbClr val="2DBD6E"/>
          </a:solidFill>
          <a:ln w="12700">
            <a:solidFill>
              <a:srgbClr val="2DBD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01168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0574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2677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on compressor, waits 1s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578608"/>
            <a:ext cx="3931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578608"/>
            <a:ext cx="640080" cy="493776"/>
          </a:xfrm>
          <a:prstGeom prst="roundRect">
            <a:avLst/>
          </a:prstGeom>
          <a:solidFill>
            <a:srgbClr val="2DBD6E"/>
          </a:solidFill>
          <a:ln w="12700">
            <a:solidFill>
              <a:srgbClr val="2DBD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578608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2624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Fan Speed 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8346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+ reads back + asserts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145536"/>
            <a:ext cx="3931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145536"/>
            <a:ext cx="640080" cy="493776"/>
          </a:xfrm>
          <a:prstGeom prst="roundRect">
            <a:avLst/>
          </a:prstGeom>
          <a:solidFill>
            <a:srgbClr val="2DBD6E"/>
          </a:solidFill>
          <a:ln w="12700">
            <a:solidFill>
              <a:srgbClr val="2DBD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4553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" y="31912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Temperature To 22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4015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22°C, waits 1s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712464"/>
            <a:ext cx="3931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712464"/>
            <a:ext cx="640080" cy="493776"/>
          </a:xfrm>
          <a:prstGeom prst="roundRect">
            <a:avLst/>
          </a:prstGeom>
          <a:solidFill>
            <a:srgbClr val="2DBD6E"/>
          </a:solidFill>
          <a:ln w="12700">
            <a:solidFill>
              <a:srgbClr val="2DBD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712464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51560" y="37581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Dual Mode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9684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dual zones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80560" y="102412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Output Files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80560" y="1444752"/>
            <a:ext cx="4343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80560" y="1444752"/>
            <a:ext cx="109728" cy="9601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15179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report.html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681728" y="182880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summary — pass/fail counts, total time, statistics. Open in a browser for an overview.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480560" y="2514600"/>
            <a:ext cx="4343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480560" y="2514600"/>
            <a:ext cx="109728" cy="9601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1728" y="25877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log.html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681728" y="289864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drill-down — every keyword called, every ADB command run, every value returned.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480560" y="3584448"/>
            <a:ext cx="4343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480560" y="3584448"/>
            <a:ext cx="109728" cy="9601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1728" y="36576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output.xml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681728" y="396849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raw results — used for CI/CD integration or post-processing.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097280"/>
            <a:ext cx="4114800" cy="17190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97280"/>
            <a:ext cx="4114800" cy="5486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Robot Framework?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71907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engineers who aren't Python developers can read and write .robot test files. Tests look like plain English instructions.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14800" cy="17190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411480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234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ADB shell commands (not VHAL socket)?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92040" y="171907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setup — no port forwarding, no protobuf encoding, human-readable output. Ideal for functional testing where timing isn't critical.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971800"/>
            <a:ext cx="4114800" cy="17190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971800"/>
            <a:ext cx="411480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08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vehicle_properties.py?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359359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VHAL IDs are opaque numbers (e.g. 356517120). Naming them as constants makes code readable and lets you change a value in one place.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0" y="2971800"/>
            <a:ext cx="4114800" cy="17190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971800"/>
            <a:ext cx="41148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108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currently incomplete?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92040" y="359359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validators.py is defined but not yet called inside climate_keywords.py. Invalid inputs (e.g. fan speed 10) would still be sent to the car without pre-validation.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B4F8A">
              <a:alpha val="15000"/>
            </a:srgbClr>
          </a:solidFill>
          <a:ln w="12700">
            <a:solidFill>
              <a:srgbClr val="1B4F8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457200"/>
            <a:ext cx="2743200" cy="2743200"/>
          </a:xfrm>
          <a:prstGeom prst="ellipse">
            <a:avLst/>
          </a:prstGeom>
          <a:solidFill>
            <a:srgbClr val="0A7E8C">
              <a:alpha val="20000"/>
            </a:srgbClr>
          </a:solidFill>
          <a:ln w="12700">
            <a:solidFill>
              <a:srgbClr val="0A7E8C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724912" cy="1691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243584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435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7373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of Android Automotive climate control — replaces manual button-pressing in a car.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27832" y="1078992"/>
            <a:ext cx="2724912" cy="1691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24" y="1243584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13632" y="12435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VHAL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364992" y="17373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 between Android software and car hardware. Every feature is a numbered property (e.g. fan speed = 356517120).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35624" y="1078992"/>
            <a:ext cx="2724912" cy="1691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243584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21424" y="12435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272784" y="17373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between laptop and car OS. Commands like adb shell cmd car_service control and read VHAL properties.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20040" y="2953512"/>
            <a:ext cx="2724912" cy="1691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118104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5840" y="3118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57200" y="36118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plain-English .robot test files and calls Python keyword functions. Generates HTML reports automatically.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3227832" y="2953512"/>
            <a:ext cx="2724912" cy="1691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3118104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13632" y="3118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3364992" y="36118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functions in climate_keywords.py that build and run ADB commands, parse output, and raise errors on failure.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135624" y="2953512"/>
            <a:ext cx="2724912" cy="1691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3118104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21424" y="3118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6272784" y="36118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log.html, report.html and output.xml are auto-generated, showing pass/fail status for every test case.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2026-06-10T09:02:59Z</dcterms:created>
  <dcterms:modified xsi:type="dcterms:W3CDTF">2026-06-10T09:02:59Z</dcterms:modified>
</cp:coreProperties>
</file>