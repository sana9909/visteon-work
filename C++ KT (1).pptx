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uce" charset="1" panose="00000500000000000000"/>
      <p:regular r:id="rId21"/>
    </p:embeddedFont>
    <p:embeddedFont>
      <p:font typeface="Open Sauce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8750" y="2722115"/>
            <a:ext cx="15430500" cy="1717675"/>
          </a:xfrm>
          <a:prstGeom prst="rect">
            <a:avLst/>
          </a:prstGeom>
        </p:spPr>
        <p:txBody>
          <a:bodyPr anchor="t" rtlCol="false" tIns="0" lIns="0" bIns="0" rIns="0">
            <a:spAutoFit/>
          </a:bodyPr>
          <a:lstStyle/>
          <a:p>
            <a:pPr algn="ctr">
              <a:lnSpc>
                <a:spcPts val="14000"/>
              </a:lnSpc>
              <a:spcBef>
                <a:spcPct val="0"/>
              </a:spcBef>
            </a:pPr>
            <a:r>
              <a:rPr lang="en-US" sz="10000">
                <a:solidFill>
                  <a:srgbClr val="000000"/>
                </a:solidFill>
                <a:latin typeface="Open Sauce"/>
                <a:ea typeface="Open Sauce"/>
                <a:cs typeface="Open Sauce"/>
                <a:sym typeface="Open Sauce"/>
              </a:rPr>
              <a:t>C++ KT</a:t>
            </a:r>
          </a:p>
        </p:txBody>
      </p:sp>
      <p:sp>
        <p:nvSpPr>
          <p:cNvPr name="TextBox 3" id="3"/>
          <p:cNvSpPr txBox="true"/>
          <p:nvPr/>
        </p:nvSpPr>
        <p:spPr>
          <a:xfrm rot="0">
            <a:off x="3208613" y="4910585"/>
            <a:ext cx="11870774" cy="2454275"/>
          </a:xfrm>
          <a:prstGeom prst="rect">
            <a:avLst/>
          </a:prstGeom>
        </p:spPr>
        <p:txBody>
          <a:bodyPr anchor="t" rtlCol="false" tIns="0" lIns="0" bIns="0" rIns="0">
            <a:spAutoFit/>
          </a:bodyPr>
          <a:lstStyle/>
          <a:p>
            <a:pPr algn="ctr">
              <a:lnSpc>
                <a:spcPts val="4900"/>
              </a:lnSpc>
            </a:pPr>
            <a:r>
              <a:rPr lang="en-US" sz="3500">
                <a:solidFill>
                  <a:srgbClr val="000000"/>
                </a:solidFill>
                <a:latin typeface="Open Sauce"/>
                <a:ea typeface="Open Sauce"/>
                <a:cs typeface="Open Sauce"/>
                <a:sym typeface="Open Sauce"/>
              </a:rPr>
              <a:t>Team - </a:t>
            </a:r>
          </a:p>
          <a:p>
            <a:pPr algn="ctr">
              <a:lnSpc>
                <a:spcPts val="4900"/>
              </a:lnSpc>
            </a:pPr>
            <a:r>
              <a:rPr lang="en-US" sz="3500">
                <a:solidFill>
                  <a:srgbClr val="000000"/>
                </a:solidFill>
                <a:latin typeface="Open Sauce"/>
                <a:ea typeface="Open Sauce"/>
                <a:cs typeface="Open Sauce"/>
                <a:sym typeface="Open Sauce"/>
              </a:rPr>
              <a:t>Aaditya Kumar Choudhary</a:t>
            </a:r>
          </a:p>
          <a:p>
            <a:pPr algn="ctr">
              <a:lnSpc>
                <a:spcPts val="4900"/>
              </a:lnSpc>
            </a:pPr>
            <a:r>
              <a:rPr lang="en-US" sz="3500">
                <a:solidFill>
                  <a:srgbClr val="000000"/>
                </a:solidFill>
                <a:latin typeface="Open Sauce"/>
                <a:ea typeface="Open Sauce"/>
                <a:cs typeface="Open Sauce"/>
                <a:sym typeface="Open Sauce"/>
              </a:rPr>
              <a:t>Roushan Kumar Verma</a:t>
            </a:r>
          </a:p>
          <a:p>
            <a:pPr algn="ctr">
              <a:lnSpc>
                <a:spcPts val="4900"/>
              </a:lnSpc>
              <a:spcBef>
                <a:spcPct val="0"/>
              </a:spcBef>
            </a:pPr>
            <a:r>
              <a:rPr lang="en-US" sz="3500">
                <a:solidFill>
                  <a:srgbClr val="000000"/>
                </a:solidFill>
                <a:latin typeface="Open Sauce"/>
                <a:ea typeface="Open Sauce"/>
                <a:cs typeface="Open Sauce"/>
                <a:sym typeface="Open Sauce"/>
              </a:rPr>
              <a:t>Sneha Lahiri</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8750" y="502435"/>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Contents</a:t>
            </a:r>
          </a:p>
        </p:txBody>
      </p:sp>
      <p:sp>
        <p:nvSpPr>
          <p:cNvPr name="TextBox 3" id="3"/>
          <p:cNvSpPr txBox="true"/>
          <p:nvPr/>
        </p:nvSpPr>
        <p:spPr>
          <a:xfrm rot="0">
            <a:off x="1428750" y="2157579"/>
            <a:ext cx="15430500" cy="7502454"/>
          </a:xfrm>
          <a:prstGeom prst="rect">
            <a:avLst/>
          </a:prstGeom>
        </p:spPr>
        <p:txBody>
          <a:bodyPr anchor="t" rtlCol="false" tIns="0" lIns="0" bIns="0" rIns="0">
            <a:spAutoFit/>
          </a:bodyPr>
          <a:lstStyle/>
          <a:p>
            <a:pPr algn="l">
              <a:lnSpc>
                <a:spcPts val="3499"/>
              </a:lnSpc>
            </a:pPr>
            <a:r>
              <a:rPr lang="en-US" sz="2499" b="true">
                <a:solidFill>
                  <a:srgbClr val="000000"/>
                </a:solidFill>
                <a:latin typeface="Open Sauce Bold"/>
                <a:ea typeface="Open Sauce Bold"/>
                <a:cs typeface="Open Sauce Bold"/>
                <a:sym typeface="Open Sauce Bold"/>
              </a:rPr>
              <a:t>Beginner: Foundational Concepts</a:t>
            </a:r>
          </a:p>
          <a:p>
            <a:pPr algn="l">
              <a:lnSpc>
                <a:spcPts val="3079"/>
              </a:lnSpc>
            </a:pPr>
            <a:r>
              <a:rPr lang="en-US" sz="2199">
                <a:solidFill>
                  <a:srgbClr val="000000"/>
                </a:solidFill>
                <a:latin typeface="Open Sauce"/>
                <a:ea typeface="Open Sauce"/>
                <a:cs typeface="Open Sauce"/>
                <a:sym typeface="Open Sauce"/>
              </a:rPr>
              <a:t> </a:t>
            </a:r>
          </a:p>
          <a:p>
            <a:pPr algn="l">
              <a:lnSpc>
                <a:spcPts val="3079"/>
              </a:lnSpc>
            </a:pPr>
            <a:r>
              <a:rPr lang="en-US" sz="2199" b="true">
                <a:solidFill>
                  <a:srgbClr val="000000"/>
                </a:solidFill>
                <a:latin typeface="Open Sauce Bold"/>
                <a:ea typeface="Open Sauce Bold"/>
                <a:cs typeface="Open Sauce Bold"/>
                <a:sym typeface="Open Sauce Bold"/>
              </a:rPr>
              <a:t>Basics: </a:t>
            </a:r>
            <a:r>
              <a:rPr lang="en-US" sz="2199">
                <a:solidFill>
                  <a:srgbClr val="000000"/>
                </a:solidFill>
                <a:latin typeface="Open Sauce"/>
                <a:ea typeface="Open Sauce"/>
                <a:cs typeface="Open Sauce"/>
                <a:sym typeface="Open Sauce"/>
              </a:rPr>
              <a:t>Variables, Data Types (int, float, char, bool), and Input/Output using cin and cout.</a:t>
            </a:r>
          </a:p>
          <a:p>
            <a:pPr algn="l">
              <a:lnSpc>
                <a:spcPts val="3079"/>
              </a:lnSpc>
            </a:pPr>
            <a:r>
              <a:rPr lang="en-US" sz="2199" b="true">
                <a:solidFill>
                  <a:srgbClr val="000000"/>
                </a:solidFill>
                <a:latin typeface="Open Sauce Bold"/>
                <a:ea typeface="Open Sauce Bold"/>
                <a:cs typeface="Open Sauce Bold"/>
                <a:sym typeface="Open Sauce Bold"/>
              </a:rPr>
              <a:t>Operators: </a:t>
            </a:r>
            <a:r>
              <a:rPr lang="en-US" sz="2199">
                <a:solidFill>
                  <a:srgbClr val="000000"/>
                </a:solidFill>
                <a:latin typeface="Open Sauce"/>
                <a:ea typeface="Open Sauce"/>
                <a:cs typeface="Open Sauce"/>
                <a:sym typeface="Open Sauce"/>
              </a:rPr>
              <a:t>Arithmetic, Relational, Logical, and Bitwise operators. </a:t>
            </a:r>
          </a:p>
          <a:p>
            <a:pPr algn="l">
              <a:lnSpc>
                <a:spcPts val="3079"/>
              </a:lnSpc>
            </a:pPr>
            <a:r>
              <a:rPr lang="en-US" sz="2199" b="true">
                <a:solidFill>
                  <a:srgbClr val="000000"/>
                </a:solidFill>
                <a:latin typeface="Open Sauce Bold"/>
                <a:ea typeface="Open Sauce Bold"/>
                <a:cs typeface="Open Sauce Bold"/>
                <a:sym typeface="Open Sauce Bold"/>
              </a:rPr>
              <a:t>Control Flow: </a:t>
            </a:r>
            <a:r>
              <a:rPr lang="en-US" sz="2199">
                <a:solidFill>
                  <a:srgbClr val="000000"/>
                </a:solidFill>
                <a:latin typeface="Open Sauce"/>
                <a:ea typeface="Open Sauce"/>
                <a:cs typeface="Open Sauce"/>
                <a:sym typeface="Open Sauce"/>
              </a:rPr>
              <a:t>if-else statements, switch-case, and Loops (for, while, do-while)</a:t>
            </a:r>
          </a:p>
          <a:p>
            <a:pPr algn="l">
              <a:lnSpc>
                <a:spcPts val="3079"/>
              </a:lnSpc>
            </a:pPr>
            <a:r>
              <a:rPr lang="en-US" sz="2199" b="true">
                <a:solidFill>
                  <a:srgbClr val="000000"/>
                </a:solidFill>
                <a:latin typeface="Open Sauce Bold"/>
                <a:ea typeface="Open Sauce Bold"/>
                <a:cs typeface="Open Sauce Bold"/>
                <a:sym typeface="Open Sauce Bold"/>
              </a:rPr>
              <a:t>Functions:</a:t>
            </a:r>
            <a:r>
              <a:rPr lang="en-US" sz="2199">
                <a:solidFill>
                  <a:srgbClr val="000000"/>
                </a:solidFill>
                <a:latin typeface="Open Sauce"/>
                <a:ea typeface="Open Sauce"/>
                <a:cs typeface="Open Sauce"/>
                <a:sym typeface="Open Sauce"/>
              </a:rPr>
              <a:t> Declaration, definition, parameters, return types, and Function Overloading. </a:t>
            </a:r>
          </a:p>
          <a:p>
            <a:pPr algn="l">
              <a:lnSpc>
                <a:spcPts val="3079"/>
              </a:lnSpc>
            </a:pPr>
          </a:p>
          <a:p>
            <a:pPr algn="l">
              <a:lnSpc>
                <a:spcPts val="3499"/>
              </a:lnSpc>
            </a:pPr>
            <a:r>
              <a:rPr lang="en-US" sz="2499" b="true">
                <a:solidFill>
                  <a:srgbClr val="000000"/>
                </a:solidFill>
                <a:latin typeface="Open Sauce Bold"/>
                <a:ea typeface="Open Sauce Bold"/>
                <a:cs typeface="Open Sauce Bold"/>
                <a:sym typeface="Open Sauce Bold"/>
              </a:rPr>
              <a:t>Intermediate: Data Management &amp; OOP</a:t>
            </a:r>
          </a:p>
          <a:p>
            <a:pPr algn="l">
              <a:lnSpc>
                <a:spcPts val="3079"/>
              </a:lnSpc>
            </a:pPr>
            <a:r>
              <a:rPr lang="en-US" sz="2199">
                <a:solidFill>
                  <a:srgbClr val="000000"/>
                </a:solidFill>
                <a:latin typeface="Open Sauce"/>
                <a:ea typeface="Open Sauce"/>
                <a:cs typeface="Open Sauce"/>
                <a:sym typeface="Open Sauce"/>
              </a:rPr>
              <a:t> </a:t>
            </a:r>
          </a:p>
          <a:p>
            <a:pPr algn="l">
              <a:lnSpc>
                <a:spcPts val="3079"/>
              </a:lnSpc>
            </a:pPr>
            <a:r>
              <a:rPr lang="en-US" sz="2199" b="true">
                <a:solidFill>
                  <a:srgbClr val="000000"/>
                </a:solidFill>
                <a:latin typeface="Open Sauce Bold"/>
                <a:ea typeface="Open Sauce Bold"/>
                <a:cs typeface="Open Sauce Bold"/>
                <a:sym typeface="Open Sauce Bold"/>
              </a:rPr>
              <a:t>Compound Data Types: </a:t>
            </a:r>
            <a:r>
              <a:rPr lang="en-US" sz="2199">
                <a:solidFill>
                  <a:srgbClr val="000000"/>
                </a:solidFill>
                <a:latin typeface="Open Sauce"/>
                <a:ea typeface="Open Sauce"/>
                <a:cs typeface="Open Sauce"/>
                <a:sym typeface="Open Sauce"/>
              </a:rPr>
              <a:t>Arrays, Strings, Structures (structs), and Enumerations (Enums).</a:t>
            </a:r>
          </a:p>
          <a:p>
            <a:pPr algn="l">
              <a:lnSpc>
                <a:spcPts val="3079"/>
              </a:lnSpc>
            </a:pPr>
            <a:r>
              <a:rPr lang="en-US" sz="2199" b="true">
                <a:solidFill>
                  <a:srgbClr val="000000"/>
                </a:solidFill>
                <a:latin typeface="Open Sauce Bold"/>
                <a:ea typeface="Open Sauce Bold"/>
                <a:cs typeface="Open Sauce Bold"/>
                <a:sym typeface="Open Sauce Bold"/>
              </a:rPr>
              <a:t>Memory Management:</a:t>
            </a:r>
            <a:r>
              <a:rPr lang="en-US" sz="2199">
                <a:solidFill>
                  <a:srgbClr val="000000"/>
                </a:solidFill>
                <a:latin typeface="Open Sauce"/>
                <a:ea typeface="Open Sauce"/>
                <a:cs typeface="Open Sauce"/>
                <a:sym typeface="Open Sauce"/>
              </a:rPr>
              <a:t> Pointers (address-of and dereference operators) and References.</a:t>
            </a:r>
          </a:p>
          <a:p>
            <a:pPr algn="l">
              <a:lnSpc>
                <a:spcPts val="3079"/>
              </a:lnSpc>
            </a:pPr>
            <a:r>
              <a:rPr lang="en-US" sz="2199" b="true">
                <a:solidFill>
                  <a:srgbClr val="000000"/>
                </a:solidFill>
                <a:latin typeface="Open Sauce Bold"/>
                <a:ea typeface="Open Sauce Bold"/>
                <a:cs typeface="Open Sauce Bold"/>
                <a:sym typeface="Open Sauce Bold"/>
              </a:rPr>
              <a:t>Dynamic Memory: </a:t>
            </a:r>
            <a:r>
              <a:rPr lang="en-US" sz="2199">
                <a:solidFill>
                  <a:srgbClr val="000000"/>
                </a:solidFill>
                <a:latin typeface="Open Sauce"/>
                <a:ea typeface="Open Sauce"/>
                <a:cs typeface="Open Sauce"/>
                <a:sym typeface="Open Sauce"/>
              </a:rPr>
              <a:t>Using new and delete to allocate memory on the heap.</a:t>
            </a:r>
          </a:p>
          <a:p>
            <a:pPr algn="l">
              <a:lnSpc>
                <a:spcPts val="3079"/>
              </a:lnSpc>
            </a:pPr>
          </a:p>
          <a:p>
            <a:pPr algn="l">
              <a:lnSpc>
                <a:spcPts val="3079"/>
              </a:lnSpc>
            </a:pPr>
            <a:r>
              <a:rPr lang="en-US" sz="2199" b="true">
                <a:solidFill>
                  <a:srgbClr val="000000"/>
                </a:solidFill>
                <a:latin typeface="Open Sauce Bold"/>
                <a:ea typeface="Open Sauce Bold"/>
                <a:cs typeface="Open Sauce Bold"/>
                <a:sym typeface="Open Sauce Bold"/>
              </a:rPr>
              <a:t>Object-Oriented Programming (OOP):</a:t>
            </a:r>
          </a:p>
          <a:p>
            <a:pPr algn="l">
              <a:lnSpc>
                <a:spcPts val="3079"/>
              </a:lnSpc>
            </a:pPr>
            <a:r>
              <a:rPr lang="en-US" sz="2199" b="true">
                <a:solidFill>
                  <a:srgbClr val="000000"/>
                </a:solidFill>
                <a:latin typeface="Open Sauce Bold"/>
                <a:ea typeface="Open Sauce Bold"/>
                <a:cs typeface="Open Sauce Bold"/>
                <a:sym typeface="Open Sauce Bold"/>
              </a:rPr>
              <a:t>Classes and Objects:</a:t>
            </a:r>
            <a:r>
              <a:rPr lang="en-US" sz="2199">
                <a:solidFill>
                  <a:srgbClr val="000000"/>
                </a:solidFill>
                <a:latin typeface="Open Sauce"/>
                <a:ea typeface="Open Sauce"/>
                <a:cs typeface="Open Sauce"/>
                <a:sym typeface="Open Sauce"/>
              </a:rPr>
              <a:t> Encapsulation, Access Specifiers (public, private, protected).</a:t>
            </a:r>
          </a:p>
          <a:p>
            <a:pPr algn="l">
              <a:lnSpc>
                <a:spcPts val="3079"/>
              </a:lnSpc>
            </a:pPr>
            <a:r>
              <a:rPr lang="en-US" sz="2199" b="true">
                <a:solidFill>
                  <a:srgbClr val="000000"/>
                </a:solidFill>
                <a:latin typeface="Open Sauce Bold"/>
                <a:ea typeface="Open Sauce Bold"/>
                <a:cs typeface="Open Sauce Bold"/>
                <a:sym typeface="Open Sauce Bold"/>
              </a:rPr>
              <a:t>Constructors &amp; Destructors: </a:t>
            </a:r>
            <a:r>
              <a:rPr lang="en-US" sz="2199">
                <a:solidFill>
                  <a:srgbClr val="000000"/>
                </a:solidFill>
                <a:latin typeface="Open Sauce"/>
                <a:ea typeface="Open Sauce"/>
                <a:cs typeface="Open Sauce"/>
                <a:sym typeface="Open Sauce"/>
              </a:rPr>
              <a:t>Managing object lifetimes.</a:t>
            </a:r>
          </a:p>
          <a:p>
            <a:pPr algn="l">
              <a:lnSpc>
                <a:spcPts val="3079"/>
              </a:lnSpc>
            </a:pPr>
            <a:r>
              <a:rPr lang="en-US" sz="2199" b="true">
                <a:solidFill>
                  <a:srgbClr val="000000"/>
                </a:solidFill>
                <a:latin typeface="Open Sauce Bold"/>
                <a:ea typeface="Open Sauce Bold"/>
                <a:cs typeface="Open Sauce Bold"/>
                <a:sym typeface="Open Sauce Bold"/>
              </a:rPr>
              <a:t>Inheritance: </a:t>
            </a:r>
            <a:r>
              <a:rPr lang="en-US" sz="2199">
                <a:solidFill>
                  <a:srgbClr val="000000"/>
                </a:solidFill>
                <a:latin typeface="Open Sauce"/>
                <a:ea typeface="Open Sauce"/>
                <a:cs typeface="Open Sauce"/>
                <a:sym typeface="Open Sauce"/>
              </a:rPr>
              <a:t>Reusing code through base and derived classes.</a:t>
            </a:r>
          </a:p>
          <a:p>
            <a:pPr algn="l">
              <a:lnSpc>
                <a:spcPts val="3079"/>
              </a:lnSpc>
            </a:pPr>
            <a:r>
              <a:rPr lang="en-US" sz="2199" b="true">
                <a:solidFill>
                  <a:srgbClr val="000000"/>
                </a:solidFill>
                <a:latin typeface="Open Sauce Bold"/>
                <a:ea typeface="Open Sauce Bold"/>
                <a:cs typeface="Open Sauce Bold"/>
                <a:sym typeface="Open Sauce Bold"/>
              </a:rPr>
              <a:t>Polymorphism:</a:t>
            </a:r>
            <a:r>
              <a:rPr lang="en-US" sz="2199">
                <a:solidFill>
                  <a:srgbClr val="000000"/>
                </a:solidFill>
                <a:latin typeface="Open Sauce"/>
                <a:ea typeface="Open Sauce"/>
                <a:cs typeface="Open Sauce"/>
                <a:sym typeface="Open Sauce"/>
              </a:rPr>
              <a:t> Virtual functions and abstract classes.</a:t>
            </a:r>
          </a:p>
          <a:p>
            <a:pPr algn="l" marL="0" indent="0" lvl="0">
              <a:lnSpc>
                <a:spcPts val="307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68350" y="358140"/>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Basics</a:t>
            </a:r>
          </a:p>
        </p:txBody>
      </p:sp>
      <p:sp>
        <p:nvSpPr>
          <p:cNvPr name="TextBox 3" id="3"/>
          <p:cNvSpPr txBox="true"/>
          <p:nvPr/>
        </p:nvSpPr>
        <p:spPr>
          <a:xfrm rot="0">
            <a:off x="768350" y="1946489"/>
            <a:ext cx="16751300" cy="8102599"/>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uce Bold"/>
                <a:ea typeface="Open Sauce Bold"/>
                <a:cs typeface="Open Sauce Bold"/>
                <a:sym typeface="Open Sauce Bold"/>
              </a:rPr>
              <a:t>Literals</a:t>
            </a:r>
            <a:r>
              <a:rPr lang="en-US" sz="2000">
                <a:solidFill>
                  <a:srgbClr val="000000"/>
                </a:solidFill>
                <a:latin typeface="Open Sauce"/>
                <a:ea typeface="Open Sauce"/>
                <a:cs typeface="Open Sauce"/>
                <a:sym typeface="Open Sauce"/>
              </a:rPr>
              <a:t> are values that are placed directly into source code. Example - 10, ‘a’, “User”, true</a:t>
            </a:r>
          </a:p>
          <a:p>
            <a:pPr algn="l">
              <a:lnSpc>
                <a:spcPts val="2800"/>
              </a:lnSpc>
            </a:pPr>
            <a:r>
              <a:rPr lang="en-US" sz="2000">
                <a:solidFill>
                  <a:srgbClr val="000000"/>
                </a:solidFill>
                <a:latin typeface="Open Sauce"/>
                <a:ea typeface="Open Sauce"/>
                <a:cs typeface="Open Sauce"/>
                <a:sym typeface="Open Sauce"/>
              </a:rPr>
              <a:t>Disadvantage - Literals are read only-values that can't be modified</a:t>
            </a:r>
          </a:p>
          <a:p>
            <a:pPr algn="l">
              <a:lnSpc>
                <a:spcPts val="2800"/>
              </a:lnSpc>
            </a:pPr>
          </a:p>
          <a:p>
            <a:pPr algn="l">
              <a:lnSpc>
                <a:spcPts val="2800"/>
              </a:lnSpc>
            </a:pPr>
            <a:r>
              <a:rPr lang="en-US" sz="2000">
                <a:solidFill>
                  <a:srgbClr val="000000"/>
                </a:solidFill>
                <a:latin typeface="Open Sauce"/>
                <a:ea typeface="Open Sauce"/>
                <a:cs typeface="Open Sauce"/>
                <a:sym typeface="Open Sauce"/>
              </a:rPr>
              <a:t>If we want to store data in memory we need variables.</a:t>
            </a:r>
          </a:p>
          <a:p>
            <a:pPr algn="l">
              <a:lnSpc>
                <a:spcPts val="2800"/>
              </a:lnSpc>
            </a:pPr>
          </a:p>
          <a:p>
            <a:pPr algn="l">
              <a:lnSpc>
                <a:spcPts val="2800"/>
              </a:lnSpc>
            </a:pPr>
            <a:r>
              <a:rPr lang="en-US" sz="2000">
                <a:solidFill>
                  <a:srgbClr val="000000"/>
                </a:solidFill>
                <a:latin typeface="Open Sauce"/>
                <a:ea typeface="Open Sauce"/>
                <a:cs typeface="Open Sauce"/>
                <a:sym typeface="Open Sauce"/>
              </a:rPr>
              <a:t>A </a:t>
            </a:r>
            <a:r>
              <a:rPr lang="en-US" sz="2000" b="true">
                <a:solidFill>
                  <a:srgbClr val="000000"/>
                </a:solidFill>
                <a:latin typeface="Open Sauce Bold"/>
                <a:ea typeface="Open Sauce Bold"/>
                <a:cs typeface="Open Sauce Bold"/>
                <a:sym typeface="Open Sauce Bold"/>
              </a:rPr>
              <a:t>variable</a:t>
            </a:r>
            <a:r>
              <a:rPr lang="en-US" sz="2000">
                <a:solidFill>
                  <a:srgbClr val="000000"/>
                </a:solidFill>
                <a:latin typeface="Open Sauce"/>
                <a:ea typeface="Open Sauce"/>
                <a:cs typeface="Open Sauce"/>
                <a:sym typeface="Open Sauce"/>
              </a:rPr>
              <a:t> is an object that has a name and an object represents a region of storage</a:t>
            </a:r>
          </a:p>
          <a:p>
            <a:pPr algn="l">
              <a:lnSpc>
                <a:spcPts val="2800"/>
              </a:lnSpc>
            </a:pPr>
            <a:r>
              <a:rPr lang="en-US" sz="2000">
                <a:solidFill>
                  <a:srgbClr val="000000"/>
                </a:solidFill>
                <a:latin typeface="Open Sauce"/>
                <a:ea typeface="Open Sauce"/>
                <a:cs typeface="Open Sauce"/>
                <a:sym typeface="Open Sauce"/>
              </a:rPr>
              <a:t>Not every object is a variable - unnamed temporary(return value) and dynamically allocated(using new keyword) objects aren’t variables</a:t>
            </a:r>
          </a:p>
          <a:p>
            <a:pPr algn="l">
              <a:lnSpc>
                <a:spcPts val="2800"/>
              </a:lnSpc>
            </a:pPr>
          </a:p>
          <a:p>
            <a:pPr algn="l">
              <a:lnSpc>
                <a:spcPts val="2800"/>
              </a:lnSpc>
            </a:pPr>
            <a:r>
              <a:rPr lang="en-US" sz="2000">
                <a:solidFill>
                  <a:srgbClr val="000000"/>
                </a:solidFill>
                <a:latin typeface="Open Sauce"/>
                <a:ea typeface="Open Sauce"/>
                <a:cs typeface="Open Sauce"/>
                <a:sym typeface="Open Sauce"/>
              </a:rPr>
              <a:t>Syntax - data_type variable_name</a:t>
            </a:r>
          </a:p>
          <a:p>
            <a:pPr algn="l">
              <a:lnSpc>
                <a:spcPts val="2800"/>
              </a:lnSpc>
            </a:pPr>
          </a:p>
          <a:p>
            <a:pPr algn="l">
              <a:lnSpc>
                <a:spcPts val="2800"/>
              </a:lnSpc>
            </a:pPr>
            <a:r>
              <a:rPr lang="en-US" sz="2000">
                <a:solidFill>
                  <a:srgbClr val="000000"/>
                </a:solidFill>
                <a:latin typeface="Open Sauce"/>
                <a:ea typeface="Open Sauce"/>
                <a:cs typeface="Open Sauce"/>
                <a:sym typeface="Open Sauce"/>
              </a:rPr>
              <a:t>Process of specifying an initial value for an object is called initialization and the syntax used to initialize an object is called an initializer.</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Different forms of initialization</a:t>
            </a:r>
          </a:p>
          <a:p>
            <a:pPr algn="l">
              <a:lnSpc>
                <a:spcPts val="2800"/>
              </a:lnSpc>
            </a:pPr>
          </a:p>
          <a:p>
            <a:pPr algn="l">
              <a:lnSpc>
                <a:spcPts val="2800"/>
              </a:lnSpc>
            </a:pPr>
            <a:r>
              <a:rPr lang="en-US" sz="2000">
                <a:solidFill>
                  <a:srgbClr val="000000"/>
                </a:solidFill>
                <a:latin typeface="Open Sauce"/>
                <a:ea typeface="Open Sauce"/>
                <a:cs typeface="Open Sauce"/>
                <a:sym typeface="Open Sauce"/>
              </a:rPr>
              <a:t>int a;         // default-initialization (no initializer) , contains garbage value</a:t>
            </a:r>
          </a:p>
          <a:p>
            <a:pPr algn="l">
              <a:lnSpc>
                <a:spcPts val="2800"/>
              </a:lnSpc>
            </a:pPr>
          </a:p>
          <a:p>
            <a:pPr algn="l">
              <a:lnSpc>
                <a:spcPts val="2800"/>
              </a:lnSpc>
            </a:pPr>
            <a:r>
              <a:rPr lang="en-US" sz="2000">
                <a:solidFill>
                  <a:srgbClr val="000000"/>
                </a:solidFill>
                <a:latin typeface="Open Sauce"/>
                <a:ea typeface="Open Sauce"/>
                <a:cs typeface="Open Sauce"/>
                <a:sym typeface="Open Sauce"/>
              </a:rPr>
              <a:t>// Traditional initialization forms:</a:t>
            </a:r>
          </a:p>
          <a:p>
            <a:pPr algn="l">
              <a:lnSpc>
                <a:spcPts val="2800"/>
              </a:lnSpc>
            </a:pPr>
            <a:r>
              <a:rPr lang="en-US" sz="2000">
                <a:solidFill>
                  <a:srgbClr val="000000"/>
                </a:solidFill>
                <a:latin typeface="Open Sauce"/>
                <a:ea typeface="Open Sauce"/>
                <a:cs typeface="Open Sauce"/>
                <a:sym typeface="Open Sauce"/>
              </a:rPr>
              <a:t>int b = 5;     // copy-initialization (initial value after equals sign)</a:t>
            </a:r>
          </a:p>
          <a:p>
            <a:pPr algn="l">
              <a:lnSpc>
                <a:spcPts val="2800"/>
              </a:lnSpc>
            </a:pPr>
            <a:r>
              <a:rPr lang="en-US" sz="2000">
                <a:solidFill>
                  <a:srgbClr val="000000"/>
                </a:solidFill>
                <a:latin typeface="Open Sauce"/>
                <a:ea typeface="Open Sauce"/>
                <a:cs typeface="Open Sauce"/>
                <a:sym typeface="Open Sauce"/>
              </a:rPr>
              <a:t>int c ( 6 );   // direct-initialization (initial value in parenthesis)</a:t>
            </a:r>
          </a:p>
          <a:p>
            <a:pPr algn="l">
              <a:lnSpc>
                <a:spcPts val="2800"/>
              </a:lnSpc>
            </a:pPr>
          </a:p>
          <a:p>
            <a:pPr algn="l">
              <a:lnSpc>
                <a:spcPts val="2800"/>
              </a:lnSpc>
            </a:pPr>
            <a:r>
              <a:rPr lang="en-US" sz="2000">
                <a:solidFill>
                  <a:srgbClr val="000000"/>
                </a:solidFill>
                <a:latin typeface="Open Sauce"/>
                <a:ea typeface="Open Sauce"/>
                <a:cs typeface="Open Sauce"/>
                <a:sym typeface="Open Sauce"/>
              </a:rPr>
              <a:t>// Modern initialization forms (preferred):</a:t>
            </a:r>
          </a:p>
          <a:p>
            <a:pPr algn="l">
              <a:lnSpc>
                <a:spcPts val="2800"/>
              </a:lnSpc>
            </a:pPr>
            <a:r>
              <a:rPr lang="en-US" sz="2000">
                <a:solidFill>
                  <a:srgbClr val="000000"/>
                </a:solidFill>
                <a:latin typeface="Open Sauce"/>
                <a:ea typeface="Open Sauce"/>
                <a:cs typeface="Open Sauce"/>
                <a:sym typeface="Open Sauce"/>
              </a:rPr>
              <a:t>int d { 7 };   // direct-list-initialization (initial value in braces)</a:t>
            </a:r>
          </a:p>
          <a:p>
            <a:pPr algn="l" marL="0" indent="0" lvl="0">
              <a:lnSpc>
                <a:spcPts val="2800"/>
              </a:lnSpc>
              <a:spcBef>
                <a:spcPct val="0"/>
              </a:spcBef>
            </a:pPr>
            <a:r>
              <a:rPr lang="en-US" sz="2000">
                <a:solidFill>
                  <a:srgbClr val="000000"/>
                </a:solidFill>
                <a:latin typeface="Open Sauce"/>
                <a:ea typeface="Open Sauce"/>
                <a:cs typeface="Open Sauce"/>
                <a:sym typeface="Open Sauce"/>
              </a:rPr>
              <a:t>int e {};      // value-initialization (empty braces)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42144"/>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Basics</a:t>
            </a:r>
          </a:p>
        </p:txBody>
      </p:sp>
      <p:sp>
        <p:nvSpPr>
          <p:cNvPr name="TextBox 3" id="3"/>
          <p:cNvSpPr txBox="true"/>
          <p:nvPr/>
        </p:nvSpPr>
        <p:spPr>
          <a:xfrm rot="0">
            <a:off x="1028700" y="1997289"/>
            <a:ext cx="15430500" cy="7045324"/>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uce Bold"/>
                <a:ea typeface="Open Sauce Bold"/>
                <a:cs typeface="Open Sauce Bold"/>
                <a:sym typeface="Open Sauce Bold"/>
              </a:rPr>
              <a:t>List-initialization disallows narrowing conversions</a:t>
            </a:r>
          </a:p>
          <a:p>
            <a:pPr algn="l">
              <a:lnSpc>
                <a:spcPts val="2800"/>
              </a:lnSpc>
            </a:pPr>
          </a:p>
          <a:p>
            <a:pPr algn="l">
              <a:lnSpc>
                <a:spcPts val="2800"/>
              </a:lnSpc>
            </a:pPr>
            <a:r>
              <a:rPr lang="en-US" sz="2000">
                <a:solidFill>
                  <a:srgbClr val="000000"/>
                </a:solidFill>
                <a:latin typeface="Open Sauce"/>
                <a:ea typeface="Open Sauce"/>
                <a:cs typeface="Open Sauce"/>
                <a:sym typeface="Open Sauce"/>
              </a:rPr>
              <a:t>int main()</a:t>
            </a:r>
          </a:p>
          <a:p>
            <a:pPr algn="l">
              <a:lnSpc>
                <a:spcPts val="2800"/>
              </a:lnSpc>
            </a:pPr>
            <a:r>
              <a:rPr lang="en-US" sz="2000">
                <a:solidFill>
                  <a:srgbClr val="000000"/>
                </a:solidFill>
                <a:latin typeface="Open Sauce"/>
                <a:ea typeface="Open Sauce"/>
                <a:cs typeface="Open Sauce"/>
                <a:sym typeface="Open Sauce"/>
              </a:rPr>
              <a:t>{</a:t>
            </a:r>
          </a:p>
          <a:p>
            <a:pPr algn="l">
              <a:lnSpc>
                <a:spcPts val="2800"/>
              </a:lnSpc>
            </a:pPr>
            <a:r>
              <a:rPr lang="en-US" sz="2000">
                <a:solidFill>
                  <a:srgbClr val="000000"/>
                </a:solidFill>
                <a:latin typeface="Open Sauce"/>
                <a:ea typeface="Open Sauce"/>
                <a:cs typeface="Open Sauce"/>
                <a:sym typeface="Open Sauce"/>
              </a:rPr>
              <a:t> // An integer can only hold non-fractional values.</a:t>
            </a:r>
          </a:p>
          <a:p>
            <a:pPr algn="l">
              <a:lnSpc>
                <a:spcPts val="2800"/>
              </a:lnSpc>
            </a:pPr>
            <a:r>
              <a:rPr lang="en-US" sz="2000">
                <a:solidFill>
                  <a:srgbClr val="000000"/>
                </a:solidFill>
                <a:latin typeface="Open Sauce"/>
                <a:ea typeface="Open Sauce"/>
                <a:cs typeface="Open Sauce"/>
                <a:sym typeface="Open Sauce"/>
              </a:rPr>
              <a:t> // Initializing an int with fractional value 4.5 requires the compiler to convert 4.5 to a value an int can hold.</a:t>
            </a:r>
          </a:p>
          <a:p>
            <a:pPr algn="l">
              <a:lnSpc>
                <a:spcPts val="2800"/>
              </a:lnSpc>
            </a:pPr>
            <a:r>
              <a:rPr lang="en-US" sz="2000">
                <a:solidFill>
                  <a:srgbClr val="000000"/>
                </a:solidFill>
                <a:latin typeface="Open Sauce"/>
                <a:ea typeface="Open Sauce"/>
                <a:cs typeface="Open Sauce"/>
                <a:sym typeface="Open Sauce"/>
              </a:rPr>
              <a:t> // Such a conversion is a narrowing conversion, since the fractional part of the value will be lost.</a:t>
            </a:r>
          </a:p>
          <a:p>
            <a:pPr algn="l">
              <a:lnSpc>
                <a:spcPts val="2800"/>
              </a:lnSpc>
            </a:pPr>
          </a:p>
          <a:p>
            <a:pPr algn="l">
              <a:lnSpc>
                <a:spcPts val="2800"/>
              </a:lnSpc>
            </a:pPr>
            <a:r>
              <a:rPr lang="en-US" sz="2000">
                <a:solidFill>
                  <a:srgbClr val="000000"/>
                </a:solidFill>
                <a:latin typeface="Open Sauce"/>
                <a:ea typeface="Open Sauce"/>
                <a:cs typeface="Open Sauce"/>
                <a:sym typeface="Open Sauce"/>
              </a:rPr>
              <a:t> int w1 { 4.5 }; // compile error: list-init does not allow narrowing conversion</a:t>
            </a:r>
          </a:p>
          <a:p>
            <a:pPr algn="l">
              <a:lnSpc>
                <a:spcPts val="2800"/>
              </a:lnSpc>
            </a:pPr>
          </a:p>
          <a:p>
            <a:pPr algn="l">
              <a:lnSpc>
                <a:spcPts val="2800"/>
              </a:lnSpc>
            </a:pPr>
            <a:r>
              <a:rPr lang="en-US" sz="2000">
                <a:solidFill>
                  <a:srgbClr val="000000"/>
                </a:solidFill>
                <a:latin typeface="Open Sauce"/>
                <a:ea typeface="Open Sauce"/>
                <a:cs typeface="Open Sauce"/>
                <a:sym typeface="Open Sauce"/>
              </a:rPr>
              <a:t> int w2 = 4.5; // compiles: w2 copy-initialized to value 4</a:t>
            </a:r>
          </a:p>
          <a:p>
            <a:pPr algn="l">
              <a:lnSpc>
                <a:spcPts val="2800"/>
              </a:lnSpc>
            </a:pPr>
            <a:r>
              <a:rPr lang="en-US" sz="2000">
                <a:solidFill>
                  <a:srgbClr val="000000"/>
                </a:solidFill>
                <a:latin typeface="Open Sauce"/>
                <a:ea typeface="Open Sauce"/>
                <a:cs typeface="Open Sauce"/>
                <a:sym typeface="Open Sauce"/>
              </a:rPr>
              <a:t> int w3 (4.5); // compiles: w3 direct-initialized to value 4</a:t>
            </a:r>
          </a:p>
          <a:p>
            <a:pPr algn="l">
              <a:lnSpc>
                <a:spcPts val="2800"/>
              </a:lnSpc>
            </a:pPr>
          </a:p>
          <a:p>
            <a:pPr algn="l">
              <a:lnSpc>
                <a:spcPts val="2800"/>
              </a:lnSpc>
            </a:pPr>
            <a:r>
              <a:rPr lang="en-US" sz="2000">
                <a:solidFill>
                  <a:srgbClr val="000000"/>
                </a:solidFill>
                <a:latin typeface="Open Sauce"/>
                <a:ea typeface="Open Sauce"/>
                <a:cs typeface="Open Sauce"/>
                <a:sym typeface="Open Sauce"/>
              </a:rPr>
              <a:t> return 0;</a:t>
            </a:r>
          </a:p>
          <a:p>
            <a:pPr algn="l">
              <a:lnSpc>
                <a:spcPts val="2800"/>
              </a:lnSpc>
            </a:pPr>
            <a:r>
              <a:rPr lang="en-US" sz="2000">
                <a:solidFill>
                  <a:srgbClr val="000000"/>
                </a:solidFill>
                <a:latin typeface="Open Sauce"/>
                <a:ea typeface="Open Sauce"/>
                <a:cs typeface="Open Sauce"/>
                <a:sym typeface="Open Sauce"/>
              </a:rPr>
              <a:t>}</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Naming rules for variables</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cannot start with a number</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no spaces allowed</a:t>
            </a:r>
          </a:p>
          <a:p>
            <a:pPr algn="l" marL="431805" indent="-215903" lvl="1">
              <a:lnSpc>
                <a:spcPts val="2800"/>
              </a:lnSpc>
              <a:spcBef>
                <a:spcPct val="0"/>
              </a:spcBef>
              <a:buFont typeface="Arial"/>
              <a:buChar char="•"/>
            </a:pPr>
            <a:r>
              <a:rPr lang="en-US" sz="2000">
                <a:solidFill>
                  <a:srgbClr val="000000"/>
                </a:solidFill>
                <a:latin typeface="Open Sauce"/>
                <a:ea typeface="Open Sauce"/>
                <a:cs typeface="Open Sauce"/>
                <a:sym typeface="Open Sauce"/>
              </a:rPr>
              <a:t>cannot use reserved keywords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7199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Basics</a:t>
            </a:r>
          </a:p>
        </p:txBody>
      </p:sp>
      <p:sp>
        <p:nvSpPr>
          <p:cNvPr name="TextBox 3" id="3"/>
          <p:cNvSpPr txBox="true"/>
          <p:nvPr/>
        </p:nvSpPr>
        <p:spPr>
          <a:xfrm rot="0">
            <a:off x="1028700" y="1860550"/>
            <a:ext cx="16230600" cy="7045325"/>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Open Sauce Bold"/>
                <a:ea typeface="Open Sauce Bold"/>
                <a:cs typeface="Open Sauce Bold"/>
                <a:sym typeface="Open Sauce Bold"/>
              </a:rPr>
              <a:t>auto</a:t>
            </a:r>
            <a:r>
              <a:rPr lang="en-US" sz="2000">
                <a:solidFill>
                  <a:srgbClr val="000000"/>
                </a:solidFill>
                <a:latin typeface="Open Sauce"/>
                <a:ea typeface="Open Sauce"/>
                <a:cs typeface="Open Sauce"/>
                <a:sym typeface="Open Sauce"/>
              </a:rPr>
              <a:t> - </a:t>
            </a:r>
            <a:r>
              <a:rPr lang="en-US" sz="2000">
                <a:solidFill>
                  <a:srgbClr val="000000"/>
                </a:solidFill>
                <a:latin typeface="Open Sauce"/>
                <a:ea typeface="Open Sauce"/>
                <a:cs typeface="Open Sauce"/>
                <a:sym typeface="Open Sauce"/>
              </a:rPr>
              <a:t>This is the default for any local variable declared inside a function or block. It lives on the stack, gets created when the block starts, and is destroyed when it ends. Example - int a=10;</a:t>
            </a:r>
          </a:p>
          <a:p>
            <a:pPr algn="l">
              <a:lnSpc>
                <a:spcPts val="2800"/>
              </a:lnSpc>
              <a:spcBef>
                <a:spcPct val="0"/>
              </a:spcBef>
            </a:pPr>
          </a:p>
          <a:p>
            <a:pPr algn="l">
              <a:lnSpc>
                <a:spcPts val="2800"/>
              </a:lnSpc>
              <a:spcBef>
                <a:spcPct val="0"/>
              </a:spcBef>
            </a:pPr>
            <a:r>
              <a:rPr lang="en-US" b="true" sz="2000">
                <a:solidFill>
                  <a:srgbClr val="000000"/>
                </a:solidFill>
                <a:latin typeface="Open Sauce Bold"/>
                <a:ea typeface="Open Sauce Bold"/>
                <a:cs typeface="Open Sauce Bold"/>
                <a:sym typeface="Open Sauce Bold"/>
              </a:rPr>
              <a:t>extern</a:t>
            </a:r>
            <a:r>
              <a:rPr lang="en-US" sz="2000">
                <a:solidFill>
                  <a:srgbClr val="000000"/>
                </a:solidFill>
                <a:latin typeface="Open Sauce"/>
                <a:ea typeface="Open Sauce"/>
                <a:cs typeface="Open Sauce"/>
                <a:sym typeface="Open Sauce"/>
              </a:rPr>
              <a:t> - Used when you want to share a variable across multiple files. You define the variable in one file and declare it with extern in others. It lives in RAM for the entire duration of the program. Very common in large projects where global state needs to be shared,   like a configuration flag or a global counter. Example - declaring extern variable in header file, then including it in own file and defining value.</a:t>
            </a:r>
          </a:p>
          <a:p>
            <a:pPr algn="l">
              <a:lnSpc>
                <a:spcPts val="2800"/>
              </a:lnSpc>
              <a:spcBef>
                <a:spcPct val="0"/>
              </a:spcBef>
            </a:pPr>
          </a:p>
          <a:p>
            <a:pPr algn="l">
              <a:lnSpc>
                <a:spcPts val="2800"/>
              </a:lnSpc>
              <a:spcBef>
                <a:spcPct val="0"/>
              </a:spcBef>
            </a:pPr>
            <a:r>
              <a:rPr lang="en-US" b="true" sz="2000">
                <a:solidFill>
                  <a:srgbClr val="000000"/>
                </a:solidFill>
                <a:latin typeface="Open Sauce Bold"/>
                <a:ea typeface="Open Sauce Bold"/>
                <a:cs typeface="Open Sauce Bold"/>
                <a:sym typeface="Open Sauce Bold"/>
              </a:rPr>
              <a:t>static</a:t>
            </a:r>
            <a:r>
              <a:rPr lang="en-US" sz="2000">
                <a:solidFill>
                  <a:srgbClr val="000000"/>
                </a:solidFill>
                <a:latin typeface="Open Sauce"/>
                <a:ea typeface="Open Sauce"/>
                <a:cs typeface="Open Sauce"/>
                <a:sym typeface="Open Sauce"/>
              </a:rPr>
              <a:t> - This one has two distinct behaviors depending on where you use it. Inside a function, a static variable retains its value between calls, it's initialized only once and persists until the program ends. Outside a function (at file scope), static restricts the variable's visibility to just that file, preventing name conflicts across files. A classic use case is a function that needs to count how many times it's been called.</a:t>
            </a:r>
          </a:p>
          <a:p>
            <a:pPr algn="l">
              <a:lnSpc>
                <a:spcPts val="2800"/>
              </a:lnSpc>
              <a:spcBef>
                <a:spcPct val="0"/>
              </a:spcBef>
            </a:pPr>
          </a:p>
          <a:p>
            <a:pPr algn="l">
              <a:lnSpc>
                <a:spcPts val="2800"/>
              </a:lnSpc>
              <a:spcBef>
                <a:spcPct val="0"/>
              </a:spcBef>
            </a:pPr>
            <a:r>
              <a:rPr lang="en-US" b="true" sz="2000">
                <a:solidFill>
                  <a:srgbClr val="000000"/>
                </a:solidFill>
                <a:latin typeface="Open Sauce Bold"/>
                <a:ea typeface="Open Sauce Bold"/>
                <a:cs typeface="Open Sauce Bold"/>
                <a:sym typeface="Open Sauce Bold"/>
              </a:rPr>
              <a:t>register</a:t>
            </a:r>
            <a:r>
              <a:rPr lang="en-US" sz="2000">
                <a:solidFill>
                  <a:srgbClr val="000000"/>
                </a:solidFill>
                <a:latin typeface="Open Sauce"/>
                <a:ea typeface="Open Sauce"/>
                <a:cs typeface="Open Sauce"/>
                <a:sym typeface="Open Sauce"/>
              </a:rPr>
              <a:t> - A hint to the compiler to store the variable in a CPU register for faster access. In practice, modern compilers are smart enough to make this optimization on their own, so this keyword is largely obsolete.</a:t>
            </a:r>
          </a:p>
          <a:p>
            <a:pPr algn="l">
              <a:lnSpc>
                <a:spcPts val="2800"/>
              </a:lnSpc>
              <a:spcBef>
                <a:spcPct val="0"/>
              </a:spcBef>
            </a:pPr>
          </a:p>
          <a:p>
            <a:pPr algn="l">
              <a:lnSpc>
                <a:spcPts val="2800"/>
              </a:lnSpc>
              <a:spcBef>
                <a:spcPct val="0"/>
              </a:spcBef>
            </a:pPr>
            <a:r>
              <a:rPr lang="en-US" b="true" sz="2000">
                <a:solidFill>
                  <a:srgbClr val="000000"/>
                </a:solidFill>
                <a:latin typeface="Open Sauce Bold"/>
                <a:ea typeface="Open Sauce Bold"/>
                <a:cs typeface="Open Sauce Bold"/>
                <a:sym typeface="Open Sauce Bold"/>
              </a:rPr>
              <a:t>mutable</a:t>
            </a:r>
            <a:r>
              <a:rPr lang="en-US" sz="2000">
                <a:solidFill>
                  <a:srgbClr val="000000"/>
                </a:solidFill>
                <a:latin typeface="Open Sauce"/>
                <a:ea typeface="Open Sauce"/>
                <a:cs typeface="Open Sauce"/>
                <a:sym typeface="Open Sauce"/>
              </a:rPr>
              <a:t> - Used exclusively on class member variables. It allows a member to be modified even inside a const method — which normally forbids any modifications. A typical use case is a cache or a call counter inside a class: the logical state of the object doesn't change, but you still need to update that internal variable.</a:t>
            </a:r>
          </a:p>
          <a:p>
            <a:pPr algn="l">
              <a:lnSpc>
                <a:spcPts val="28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05417" y="2777647"/>
          <a:ext cx="15730575" cy="6498863"/>
        </p:xfrm>
        <a:graphic>
          <a:graphicData uri="http://schemas.openxmlformats.org/drawingml/2006/table">
            <a:tbl>
              <a:tblPr/>
              <a:tblGrid>
                <a:gridCol w="2221971"/>
                <a:gridCol w="1442337"/>
                <a:gridCol w="5948309"/>
                <a:gridCol w="4027209"/>
                <a:gridCol w="2090749"/>
              </a:tblGrid>
              <a:tr h="859770">
                <a:tc>
                  <a:txBody>
                    <a:bodyPr anchor="t" rtlCol="false"/>
                    <a:lstStyle/>
                    <a:p>
                      <a:pPr algn="ctr">
                        <a:lnSpc>
                          <a:spcPts val="2519"/>
                        </a:lnSpc>
                        <a:defRPr/>
                      </a:pPr>
                      <a:r>
                        <a:rPr lang="en-US" b="true" sz="1799">
                          <a:solidFill>
                            <a:srgbClr val="000000"/>
                          </a:solidFill>
                          <a:latin typeface="Open Sauce Bold"/>
                          <a:ea typeface="Open Sauce Bold"/>
                          <a:cs typeface="Open Sauce Bold"/>
                          <a:sym typeface="Open Sauce Bold"/>
                        </a:rPr>
                        <a:t>Storage Class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b="true" sz="1799">
                          <a:solidFill>
                            <a:srgbClr val="000000"/>
                          </a:solidFill>
                          <a:latin typeface="Open Sauce Bold"/>
                          <a:ea typeface="Open Sauce Bold"/>
                          <a:cs typeface="Open Sauce Bold"/>
                          <a:sym typeface="Open Sauce Bold"/>
                        </a:rPr>
                        <a:t>Keyword</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b="true" sz="1799">
                          <a:solidFill>
                            <a:srgbClr val="000000"/>
                          </a:solidFill>
                          <a:latin typeface="Open Sauce Bold"/>
                          <a:ea typeface="Open Sauce Bold"/>
                          <a:cs typeface="Open Sauce Bold"/>
                          <a:sym typeface="Open Sauce Bold"/>
                        </a:rPr>
                        <a:t>Scope/Visibility</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b="true" sz="1799">
                          <a:solidFill>
                            <a:srgbClr val="000000"/>
                          </a:solidFill>
                          <a:latin typeface="Open Sauce Bold"/>
                          <a:ea typeface="Open Sauce Bold"/>
                          <a:cs typeface="Open Sauce Bold"/>
                          <a:sym typeface="Open Sauce Bold"/>
                        </a:rPr>
                        <a:t>Lifetime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b="true" sz="1799">
                          <a:solidFill>
                            <a:srgbClr val="000000"/>
                          </a:solidFill>
                          <a:latin typeface="Open Sauce Bold"/>
                          <a:ea typeface="Open Sauce Bold"/>
                          <a:cs typeface="Open Sauce Bold"/>
                          <a:sym typeface="Open Sauce Bold"/>
                        </a:rPr>
                        <a:t>Default Initial Value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3316">
                <a:tc>
                  <a:txBody>
                    <a:bodyPr anchor="t" rtlCol="false"/>
                    <a:lstStyle/>
                    <a:p>
                      <a:pPr algn="ctr">
                        <a:lnSpc>
                          <a:spcPts val="2519"/>
                        </a:lnSpc>
                        <a:defRPr/>
                      </a:pPr>
                      <a:r>
                        <a:rPr lang="en-US" sz="1799">
                          <a:solidFill>
                            <a:srgbClr val="000000"/>
                          </a:solidFill>
                          <a:latin typeface="Open Sauce"/>
                          <a:ea typeface="Open Sauce"/>
                          <a:cs typeface="Open Sauce"/>
                          <a:sym typeface="Open Sauce"/>
                        </a:rPr>
                        <a:t>Automatic</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auto</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Local (within the block/function)</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Until the block/function terminates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Garbage value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3316">
                <a:tc>
                  <a:txBody>
                    <a:bodyPr anchor="t" rtlCol="false"/>
                    <a:lstStyle/>
                    <a:p>
                      <a:pPr algn="ctr">
                        <a:lnSpc>
                          <a:spcPts val="2519"/>
                        </a:lnSpc>
                        <a:defRPr/>
                      </a:pPr>
                      <a:r>
                        <a:rPr lang="en-US" sz="1799">
                          <a:solidFill>
                            <a:srgbClr val="000000"/>
                          </a:solidFill>
                          <a:latin typeface="Open Sauce"/>
                          <a:ea typeface="Open Sauce"/>
                          <a:cs typeface="Open Sauce"/>
                          <a:sym typeface="Open Sauce"/>
                        </a:rPr>
                        <a:t>External</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extern</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Global (throughout the program/multiple files)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Until the program terminates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Zero</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3316">
                <a:tc>
                  <a:txBody>
                    <a:bodyPr anchor="t" rtlCol="false"/>
                    <a:lstStyle/>
                    <a:p>
                      <a:pPr algn="ctr">
                        <a:lnSpc>
                          <a:spcPts val="2519"/>
                        </a:lnSpc>
                        <a:defRPr/>
                      </a:pPr>
                      <a:r>
                        <a:rPr lang="en-US" sz="1799">
                          <a:solidFill>
                            <a:srgbClr val="000000"/>
                          </a:solidFill>
                          <a:latin typeface="Open Sauce"/>
                          <a:ea typeface="Open Sauce"/>
                          <a:cs typeface="Open Sauce"/>
                          <a:sym typeface="Open Sauce"/>
                        </a:rPr>
                        <a:t>Static</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static</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Local (within the block/function, or file-wide if global)</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Until the program terminates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Zero</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425830">
                <a:tc>
                  <a:txBody>
                    <a:bodyPr anchor="t" rtlCol="false"/>
                    <a:lstStyle/>
                    <a:p>
                      <a:pPr algn="ctr">
                        <a:lnSpc>
                          <a:spcPts val="2519"/>
                        </a:lnSpc>
                        <a:defRPr/>
                      </a:pPr>
                      <a:r>
                        <a:rPr lang="en-US" sz="1799">
                          <a:solidFill>
                            <a:srgbClr val="000000"/>
                          </a:solidFill>
                          <a:latin typeface="Open Sauce"/>
                          <a:ea typeface="Open Sauce"/>
                          <a:cs typeface="Open Sauce"/>
                          <a:sym typeface="Open Sauce"/>
                        </a:rPr>
                        <a:t>Register</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register</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Local (within the block/function)</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Until the block/function terminates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Garbage value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53316">
                <a:tc>
                  <a:txBody>
                    <a:bodyPr anchor="t" rtlCol="false"/>
                    <a:lstStyle/>
                    <a:p>
                      <a:pPr algn="ctr">
                        <a:lnSpc>
                          <a:spcPts val="2519"/>
                        </a:lnSpc>
                        <a:defRPr/>
                      </a:pPr>
                      <a:r>
                        <a:rPr lang="en-US" sz="1799">
                          <a:solidFill>
                            <a:srgbClr val="000000"/>
                          </a:solidFill>
                          <a:latin typeface="Open Sauce"/>
                          <a:ea typeface="Open Sauce"/>
                          <a:cs typeface="Open Sauce"/>
                          <a:sym typeface="Open Sauce"/>
                        </a:rPr>
                        <a:t>Mutable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mutable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Class (can only be used on class data members)</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Same as the object it belongs to</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uce"/>
                          <a:ea typeface="Open Sauce"/>
                          <a:cs typeface="Open Sauce"/>
                          <a:sym typeface="Open Sauce"/>
                        </a:rPr>
                        <a:t>Undefined (garbage)</a:t>
                      </a:r>
                      <a:endParaRPr lang="en-US" sz="1100"/>
                    </a:p>
                  </a:txBody>
                  <a:tcPr marL="95250" marR="95250" marT="95250" marB="952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028700" y="271992"/>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Basics</a:t>
            </a:r>
          </a:p>
        </p:txBody>
      </p:sp>
      <p:sp>
        <p:nvSpPr>
          <p:cNvPr name="TextBox 4" id="4"/>
          <p:cNvSpPr txBox="true"/>
          <p:nvPr/>
        </p:nvSpPr>
        <p:spPr>
          <a:xfrm rot="0">
            <a:off x="1005417" y="2025068"/>
            <a:ext cx="15730575" cy="313687"/>
          </a:xfrm>
          <a:prstGeom prst="rect">
            <a:avLst/>
          </a:prstGeom>
        </p:spPr>
        <p:txBody>
          <a:bodyPr anchor="t" rtlCol="false" tIns="0" lIns="0" bIns="0" rIns="0">
            <a:spAutoFit/>
          </a:bodyPr>
          <a:lstStyle/>
          <a:p>
            <a:pPr algn="ctr">
              <a:lnSpc>
                <a:spcPts val="2660"/>
              </a:lnSpc>
              <a:spcBef>
                <a:spcPct val="0"/>
              </a:spcBef>
            </a:pPr>
            <a:r>
              <a:rPr lang="en-US" sz="1900">
                <a:solidFill>
                  <a:srgbClr val="000000"/>
                </a:solidFill>
                <a:latin typeface="Open Sauce"/>
                <a:ea typeface="Open Sauce"/>
                <a:cs typeface="Open Sauce"/>
                <a:sym typeface="Open Sauce"/>
              </a:rPr>
              <a:t>Storage Classes - specifiers that control the lifetime, scope (visibility), and memory location of variables and functions within a program</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42144"/>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Basics</a:t>
            </a:r>
          </a:p>
        </p:txBody>
      </p:sp>
      <p:sp>
        <p:nvSpPr>
          <p:cNvPr name="TextBox 3" id="3"/>
          <p:cNvSpPr txBox="true"/>
          <p:nvPr/>
        </p:nvSpPr>
        <p:spPr>
          <a:xfrm rot="0">
            <a:off x="1028700" y="1804260"/>
            <a:ext cx="15430500" cy="8119109"/>
          </a:xfrm>
          <a:prstGeom prst="rect">
            <a:avLst/>
          </a:prstGeom>
        </p:spPr>
        <p:txBody>
          <a:bodyPr anchor="t" rtlCol="false" tIns="0" lIns="0" bIns="0" rIns="0">
            <a:spAutoFit/>
          </a:bodyPr>
          <a:lstStyle/>
          <a:p>
            <a:pPr algn="l">
              <a:lnSpc>
                <a:spcPts val="3080"/>
              </a:lnSpc>
            </a:pPr>
            <a:r>
              <a:rPr lang="en-US" sz="2200" b="true">
                <a:solidFill>
                  <a:srgbClr val="000000"/>
                </a:solidFill>
                <a:latin typeface="Open Sauce Bold"/>
                <a:ea typeface="Open Sauce Bold"/>
                <a:cs typeface="Open Sauce Bold"/>
                <a:sym typeface="Open Sauce Bold"/>
              </a:rPr>
              <a:t>Memory Layout (Lowest to Highest Address)</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1. Text Segment (Code Segment) - </a:t>
            </a:r>
            <a:r>
              <a:rPr lang="en-US" sz="2000">
                <a:solidFill>
                  <a:srgbClr val="000000"/>
                </a:solidFill>
                <a:latin typeface="Open Sauce"/>
                <a:ea typeface="Open Sauce"/>
                <a:cs typeface="Open Sauce"/>
                <a:sym typeface="Open Sauce"/>
              </a:rPr>
              <a:t>The text segment stores the program’s compiled machine code (functions and methods) and is usually read-only to enhance safety. Its size varies based on code complexity.</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2. Data Segment - </a:t>
            </a:r>
            <a:r>
              <a:rPr lang="en-US" sz="2000">
                <a:solidFill>
                  <a:srgbClr val="000000"/>
                </a:solidFill>
                <a:latin typeface="Open Sauce"/>
                <a:ea typeface="Open Sauce"/>
                <a:cs typeface="Open Sauce"/>
                <a:sym typeface="Open Sauce"/>
              </a:rPr>
              <a:t>The data segment stores global and static variables defined by the programmer. This segment is located just above the text segment and is divided into two parts:</a:t>
            </a:r>
          </a:p>
          <a:p>
            <a:pPr algn="l">
              <a:lnSpc>
                <a:spcPts val="2800"/>
              </a:lnSpc>
            </a:pPr>
            <a:r>
              <a:rPr lang="en-US" sz="2000" b="true">
                <a:solidFill>
                  <a:srgbClr val="000000"/>
                </a:solidFill>
                <a:latin typeface="Open Sauce Bold"/>
                <a:ea typeface="Open Sauce Bold"/>
                <a:cs typeface="Open Sauce Bold"/>
                <a:sym typeface="Open Sauce Bold"/>
              </a:rPr>
              <a:t>A. Initialized Data Segment</a:t>
            </a:r>
          </a:p>
          <a:p>
            <a:pPr algn="l">
              <a:lnSpc>
                <a:spcPts val="2800"/>
              </a:lnSpc>
            </a:pPr>
            <a:r>
              <a:rPr lang="en-US" sz="2000">
                <a:solidFill>
                  <a:srgbClr val="000000"/>
                </a:solidFill>
                <a:latin typeface="Open Sauce"/>
                <a:ea typeface="Open Sauce"/>
                <a:cs typeface="Open Sauce"/>
                <a:sym typeface="Open Sauce"/>
              </a:rPr>
              <a:t>Stores global and static variables that are assigned a value at declaration.</a:t>
            </a:r>
          </a:p>
          <a:p>
            <a:pPr algn="l">
              <a:lnSpc>
                <a:spcPts val="2800"/>
              </a:lnSpc>
            </a:pPr>
            <a:r>
              <a:rPr lang="en-US" sz="2000" b="true">
                <a:solidFill>
                  <a:srgbClr val="000000"/>
                </a:solidFill>
                <a:latin typeface="Open Sauce Bold"/>
                <a:ea typeface="Open Sauce Bold"/>
                <a:cs typeface="Open Sauce Bold"/>
                <a:sym typeface="Open Sauce Bold"/>
              </a:rPr>
              <a:t>B. Uninitialized Data Segment (BSS)</a:t>
            </a:r>
          </a:p>
          <a:p>
            <a:pPr algn="l">
              <a:lnSpc>
                <a:spcPts val="2800"/>
              </a:lnSpc>
            </a:pPr>
            <a:r>
              <a:rPr lang="en-US" sz="2000">
                <a:solidFill>
                  <a:srgbClr val="000000"/>
                </a:solidFill>
                <a:latin typeface="Open Sauce"/>
                <a:ea typeface="Open Sauce"/>
                <a:cs typeface="Open Sauce"/>
                <a:sym typeface="Open Sauce"/>
              </a:rPr>
              <a:t>Holds global and static variables that have not been explicitly initialized. The system automatically sets these to zero at runtime.</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3. Heap Segment - </a:t>
            </a:r>
            <a:r>
              <a:rPr lang="en-US" sz="2000">
                <a:solidFill>
                  <a:srgbClr val="000000"/>
                </a:solidFill>
                <a:latin typeface="Open Sauce"/>
                <a:ea typeface="Open Sauce"/>
                <a:cs typeface="Open Sauce"/>
                <a:sym typeface="Open Sauce"/>
              </a:rPr>
              <a:t>The heap is the memory region used for dynamic allocation at runtime. Memory in the heap is managed manually using operators like new/delete.</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4. Stack Segment - </a:t>
            </a:r>
            <a:r>
              <a:rPr lang="en-US" sz="2000">
                <a:solidFill>
                  <a:srgbClr val="000000"/>
                </a:solidFill>
                <a:latin typeface="Open Sauce"/>
                <a:ea typeface="Open Sauce"/>
                <a:cs typeface="Open Sauce"/>
                <a:sym typeface="Open Sauce"/>
              </a:rPr>
              <a:t>The stack is used for:</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Local variables</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Function parameters</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Return addresses</a:t>
            </a:r>
          </a:p>
          <a:p>
            <a:pPr algn="l">
              <a:lnSpc>
                <a:spcPts val="2800"/>
              </a:lnSpc>
            </a:pPr>
          </a:p>
          <a:p>
            <a:pPr algn="l">
              <a:lnSpc>
                <a:spcPts val="2800"/>
              </a:lnSpc>
              <a:spcBef>
                <a:spcPct val="0"/>
              </a:spcBef>
            </a:pPr>
            <a:r>
              <a:rPr lang="en-US" sz="2000">
                <a:solidFill>
                  <a:srgbClr val="000000"/>
                </a:solidFill>
                <a:latin typeface="Open Sauce"/>
                <a:ea typeface="Open Sauce"/>
                <a:cs typeface="Open Sauce"/>
                <a:sym typeface="Open Sauce"/>
              </a:rPr>
              <a:t>Each function call creates a stack frame, which is pushed to the stack. When the function finishes, its frame is popped off.</a:t>
            </a:r>
            <a:r>
              <a:rPr lang="en-US" b="true" sz="2000">
                <a:solidFill>
                  <a:srgbClr val="000000"/>
                </a:solidFill>
                <a:latin typeface="Open Sauce Bold"/>
                <a:ea typeface="Open Sauce Bold"/>
                <a:cs typeface="Open Sauce Bold"/>
                <a:sym typeface="Open Sauce Bold"/>
              </a:rPr>
              <a:t> The stack grows downward (toward lower memory addresses), opposite to the heap.</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98458"/>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Data Types</a:t>
            </a:r>
          </a:p>
        </p:txBody>
      </p:sp>
      <p:sp>
        <p:nvSpPr>
          <p:cNvPr name="TextBox 3" id="3"/>
          <p:cNvSpPr txBox="true"/>
          <p:nvPr/>
        </p:nvSpPr>
        <p:spPr>
          <a:xfrm rot="0">
            <a:off x="1028700" y="2585645"/>
            <a:ext cx="16230600" cy="4823943"/>
          </a:xfrm>
          <a:prstGeom prst="rect">
            <a:avLst/>
          </a:prstGeom>
        </p:spPr>
        <p:txBody>
          <a:bodyPr anchor="t" rtlCol="false" tIns="0" lIns="0" bIns="0" rIns="0">
            <a:spAutoFit/>
          </a:bodyPr>
          <a:lstStyle/>
          <a:p>
            <a:pPr algn="l">
              <a:lnSpc>
                <a:spcPts val="2940"/>
              </a:lnSpc>
            </a:pPr>
            <a:r>
              <a:rPr lang="en-US" sz="2100">
                <a:solidFill>
                  <a:srgbClr val="000000"/>
                </a:solidFill>
                <a:latin typeface="Open Sauce"/>
                <a:ea typeface="Open Sauce"/>
                <a:cs typeface="Open Sauce"/>
                <a:sym typeface="Open Sauce"/>
              </a:rPr>
              <a:t>Can be primitive(built in), derived or user-defined</a:t>
            </a:r>
          </a:p>
          <a:p>
            <a:pPr algn="l">
              <a:lnSpc>
                <a:spcPts val="2940"/>
              </a:lnSpc>
            </a:pPr>
          </a:p>
          <a:p>
            <a:pPr algn="l" marL="453395" indent="-226697" lvl="1">
              <a:lnSpc>
                <a:spcPts val="2940"/>
              </a:lnSpc>
              <a:buFont typeface="Arial"/>
              <a:buChar char="•"/>
            </a:pPr>
            <a:r>
              <a:rPr lang="en-US" sz="2100">
                <a:solidFill>
                  <a:srgbClr val="000000"/>
                </a:solidFill>
                <a:latin typeface="Open Sauce"/>
                <a:ea typeface="Open Sauce"/>
                <a:cs typeface="Open Sauce"/>
                <a:sym typeface="Open Sauce"/>
              </a:rPr>
              <a:t>int (Integer) →  4 bytes → can be modified with short(2B), long(8B), signed(4B/8B), and unsigned(8B)</a:t>
            </a:r>
          </a:p>
          <a:p>
            <a:pPr algn="l" marL="453395" indent="-226697" lvl="1">
              <a:lnSpc>
                <a:spcPts val="2940"/>
              </a:lnSpc>
              <a:buFont typeface="Arial"/>
              <a:buChar char="•"/>
            </a:pPr>
            <a:r>
              <a:rPr lang="en-US" sz="2100">
                <a:solidFill>
                  <a:srgbClr val="000000"/>
                </a:solidFill>
                <a:latin typeface="Open Sauce"/>
                <a:ea typeface="Open Sauce"/>
                <a:cs typeface="Open Sauce"/>
                <a:sym typeface="Open Sauce"/>
              </a:rPr>
              <a:t>float (Floating Point) → 4 bytes → Used for single-precision decimal numbers, offering about 7 decimal digits of precision</a:t>
            </a:r>
          </a:p>
          <a:p>
            <a:pPr algn="l" marL="453395" indent="-226697" lvl="1">
              <a:lnSpc>
                <a:spcPts val="2940"/>
              </a:lnSpc>
              <a:buFont typeface="Arial"/>
              <a:buChar char="•"/>
            </a:pPr>
            <a:r>
              <a:rPr lang="en-US" sz="2100">
                <a:solidFill>
                  <a:srgbClr val="000000"/>
                </a:solidFill>
                <a:latin typeface="Open Sauce"/>
                <a:ea typeface="Open Sauce"/>
                <a:cs typeface="Open Sauce"/>
                <a:sym typeface="Open Sauce"/>
              </a:rPr>
              <a:t>double (Double Floating Point) → 8 bytes → Used for double-precision decimal numbers, offering greater precision than float (about 15 decimal digits)</a:t>
            </a:r>
          </a:p>
          <a:p>
            <a:pPr algn="l" marL="453395" indent="-226697" lvl="1">
              <a:lnSpc>
                <a:spcPts val="2940"/>
              </a:lnSpc>
              <a:buFont typeface="Arial"/>
              <a:buChar char="•"/>
            </a:pPr>
            <a:r>
              <a:rPr lang="en-US" sz="2100">
                <a:solidFill>
                  <a:srgbClr val="000000"/>
                </a:solidFill>
                <a:latin typeface="Open Sauce"/>
                <a:ea typeface="Open Sauce"/>
                <a:cs typeface="Open Sauce"/>
                <a:sym typeface="Open Sauce"/>
              </a:rPr>
              <a:t>char (Character) → 1 byte → specified within ‘ ‘ → can be signed/unsigned(default)</a:t>
            </a:r>
          </a:p>
          <a:p>
            <a:pPr algn="l" marL="453395" indent="-226697" lvl="1">
              <a:lnSpc>
                <a:spcPts val="2940"/>
              </a:lnSpc>
              <a:buFont typeface="Arial"/>
              <a:buChar char="•"/>
            </a:pPr>
            <a:r>
              <a:rPr lang="en-US" sz="2100">
                <a:solidFill>
                  <a:srgbClr val="000000"/>
                </a:solidFill>
                <a:latin typeface="Open Sauce"/>
                <a:ea typeface="Open Sauce"/>
                <a:cs typeface="Open Sauce"/>
                <a:sym typeface="Open Sauce"/>
              </a:rPr>
              <a:t>bool (Boolean) → 1 byte → True/False</a:t>
            </a:r>
          </a:p>
          <a:p>
            <a:pPr algn="l" marL="453395" indent="-226697" lvl="1">
              <a:lnSpc>
                <a:spcPts val="2940"/>
              </a:lnSpc>
              <a:buFont typeface="Arial"/>
              <a:buChar char="•"/>
            </a:pPr>
            <a:r>
              <a:rPr lang="en-US" sz="2100">
                <a:solidFill>
                  <a:srgbClr val="000000"/>
                </a:solidFill>
                <a:latin typeface="Open Sauce"/>
                <a:ea typeface="Open Sauce"/>
                <a:cs typeface="Open Sauce"/>
                <a:sym typeface="Open Sauce"/>
              </a:rPr>
              <a:t>void (Valueless) →   Represents the absence of a value → primarily used when functions do not return a value</a:t>
            </a:r>
          </a:p>
          <a:p>
            <a:pPr algn="l">
              <a:lnSpc>
                <a:spcPts val="2940"/>
              </a:lnSpc>
            </a:pPr>
          </a:p>
          <a:p>
            <a:pPr algn="l">
              <a:lnSpc>
                <a:spcPts val="2940"/>
              </a:lnSpc>
            </a:pPr>
          </a:p>
          <a:p>
            <a:pPr algn="l">
              <a:lnSpc>
                <a:spcPts val="2940"/>
              </a:lnSpc>
            </a:pPr>
            <a:r>
              <a:rPr lang="en-US" sz="2100" b="true">
                <a:solidFill>
                  <a:srgbClr val="000000"/>
                </a:solidFill>
                <a:latin typeface="Open Sauce Bold"/>
                <a:ea typeface="Open Sauce Bold"/>
                <a:cs typeface="Open Sauce Bold"/>
                <a:sym typeface="Open Sauce Bold"/>
              </a:rPr>
              <a:t>Good Practice</a:t>
            </a:r>
            <a:r>
              <a:rPr lang="en-US" sz="2100">
                <a:solidFill>
                  <a:srgbClr val="000000"/>
                </a:solidFill>
                <a:latin typeface="Open Sauce"/>
                <a:ea typeface="Open Sauce"/>
                <a:cs typeface="Open Sauce"/>
                <a:sym typeface="Open Sauce"/>
              </a:rPr>
              <a:t> - </a:t>
            </a:r>
          </a:p>
          <a:p>
            <a:pPr algn="l" marL="0" indent="0" lvl="0">
              <a:lnSpc>
                <a:spcPts val="2940"/>
              </a:lnSpc>
              <a:spcBef>
                <a:spcPct val="0"/>
              </a:spcBef>
            </a:pPr>
            <a:r>
              <a:rPr lang="en-US" sz="2100">
                <a:solidFill>
                  <a:srgbClr val="000000"/>
                </a:solidFill>
                <a:latin typeface="Open Sauce"/>
                <a:ea typeface="Open Sauce"/>
                <a:cs typeface="Open Sauce"/>
                <a:sym typeface="Open Sauce"/>
              </a:rPr>
              <a:t>Fixed-Width Integers: Use uint32_t or uint64_t (from &lt;cstdint&gt;) when exact size is critical for cross-platform compatibility</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8750" y="445436"/>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I/O</a:t>
            </a:r>
          </a:p>
        </p:txBody>
      </p:sp>
      <p:sp>
        <p:nvSpPr>
          <p:cNvPr name="TextBox 3" id="3"/>
          <p:cNvSpPr txBox="true"/>
          <p:nvPr/>
        </p:nvSpPr>
        <p:spPr>
          <a:xfrm rot="0">
            <a:off x="1428750" y="2128998"/>
            <a:ext cx="15430500" cy="7045324"/>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uce Bold"/>
                <a:ea typeface="Open Sauce Bold"/>
                <a:cs typeface="Open Sauce Bold"/>
                <a:sym typeface="Open Sauce Bold"/>
              </a:rPr>
              <a:t>&lt;iostream&gt;</a:t>
            </a:r>
            <a:r>
              <a:rPr lang="en-US" sz="2000">
                <a:solidFill>
                  <a:srgbClr val="000000"/>
                </a:solidFill>
                <a:latin typeface="Open Sauce"/>
                <a:ea typeface="Open Sauce"/>
                <a:cs typeface="Open Sauce"/>
                <a:sym typeface="Open Sauce"/>
              </a:rPr>
              <a:t> library deals with basic input and output</a:t>
            </a:r>
          </a:p>
          <a:p>
            <a:pPr algn="l">
              <a:lnSpc>
                <a:spcPts val="2800"/>
              </a:lnSpc>
            </a:pPr>
          </a:p>
          <a:p>
            <a:pPr algn="l">
              <a:lnSpc>
                <a:spcPts val="2800"/>
              </a:lnSpc>
            </a:pPr>
            <a:r>
              <a:rPr lang="en-US" sz="2000">
                <a:solidFill>
                  <a:srgbClr val="000000"/>
                </a:solidFill>
                <a:latin typeface="Open Sauce"/>
                <a:ea typeface="Open Sauce"/>
                <a:cs typeface="Open Sauce"/>
                <a:sym typeface="Open Sauce"/>
              </a:rPr>
              <a:t>cin → stands for character input → reads input from keyboard</a:t>
            </a:r>
          </a:p>
          <a:p>
            <a:pPr algn="l">
              <a:lnSpc>
                <a:spcPts val="2800"/>
              </a:lnSpc>
            </a:pPr>
            <a:r>
              <a:rPr lang="en-US" sz="2000">
                <a:solidFill>
                  <a:srgbClr val="000000"/>
                </a:solidFill>
                <a:latin typeface="Open Sauce"/>
                <a:ea typeface="Open Sauce"/>
                <a:cs typeface="Open Sauce"/>
                <a:sym typeface="Open Sauce"/>
              </a:rPr>
              <a:t>cout → stands for character output → sends data to the console to be printed as text</a:t>
            </a:r>
          </a:p>
          <a:p>
            <a:pPr algn="l">
              <a:lnSpc>
                <a:spcPts val="2800"/>
              </a:lnSpc>
            </a:pPr>
            <a:r>
              <a:rPr lang="en-US" sz="2000">
                <a:solidFill>
                  <a:srgbClr val="000000"/>
                </a:solidFill>
                <a:latin typeface="Open Sauce"/>
                <a:ea typeface="Open Sauce"/>
                <a:cs typeface="Open Sauce"/>
                <a:sym typeface="Open Sauce"/>
              </a:rPr>
              <a:t>cerr → standard error stream → used for unbuffered error messages ( displays instantly on screen )</a:t>
            </a:r>
          </a:p>
          <a:p>
            <a:pPr algn="l">
              <a:lnSpc>
                <a:spcPts val="2800"/>
              </a:lnSpc>
            </a:pPr>
            <a:r>
              <a:rPr lang="en-US" sz="2000">
                <a:solidFill>
                  <a:srgbClr val="000000"/>
                </a:solidFill>
                <a:latin typeface="Open Sauce"/>
                <a:ea typeface="Open Sauce"/>
                <a:cs typeface="Open Sauce"/>
                <a:sym typeface="Open Sauce"/>
              </a:rPr>
              <a:t>clog → standard log stream → used for buffered log messages ( stores temporarily in buffered memory )</a:t>
            </a:r>
          </a:p>
          <a:p>
            <a:pPr algn="l">
              <a:lnSpc>
                <a:spcPts val="2800"/>
              </a:lnSpc>
            </a:pPr>
          </a:p>
          <a:p>
            <a:pPr algn="l">
              <a:lnSpc>
                <a:spcPts val="2800"/>
              </a:lnSpc>
            </a:pPr>
            <a:r>
              <a:rPr lang="en-US" sz="2000">
                <a:solidFill>
                  <a:srgbClr val="000000"/>
                </a:solidFill>
                <a:latin typeface="Open Sauce"/>
                <a:ea typeface="Open Sauce"/>
                <a:cs typeface="Open Sauce"/>
                <a:sym typeface="Open Sauce"/>
              </a:rPr>
              <a:t>iftsream → input file stream</a:t>
            </a:r>
          </a:p>
          <a:p>
            <a:pPr algn="l">
              <a:lnSpc>
                <a:spcPts val="2800"/>
              </a:lnSpc>
            </a:pPr>
            <a:r>
              <a:rPr lang="en-US" sz="2000">
                <a:solidFill>
                  <a:srgbClr val="000000"/>
                </a:solidFill>
                <a:latin typeface="Open Sauce"/>
                <a:ea typeface="Open Sauce"/>
                <a:cs typeface="Open Sauce"/>
                <a:sym typeface="Open Sauce"/>
              </a:rPr>
              <a:t>ofstream → output file stream</a:t>
            </a:r>
          </a:p>
          <a:p>
            <a:pPr algn="l">
              <a:lnSpc>
                <a:spcPts val="2800"/>
              </a:lnSpc>
            </a:pPr>
            <a:r>
              <a:rPr lang="en-US" sz="2000">
                <a:solidFill>
                  <a:srgbClr val="000000"/>
                </a:solidFill>
                <a:latin typeface="Open Sauce"/>
                <a:ea typeface="Open Sauce"/>
                <a:cs typeface="Open Sauce"/>
                <a:sym typeface="Open Sauce"/>
              </a:rPr>
              <a:t>fstream → both reading and writing to files</a:t>
            </a:r>
          </a:p>
          <a:p>
            <a:pPr algn="l">
              <a:lnSpc>
                <a:spcPts val="2800"/>
              </a:lnSpc>
            </a:pPr>
          </a:p>
          <a:p>
            <a:pPr algn="l">
              <a:lnSpc>
                <a:spcPts val="2800"/>
              </a:lnSpc>
            </a:pPr>
            <a:r>
              <a:rPr lang="en-US" sz="2000">
                <a:solidFill>
                  <a:srgbClr val="000000"/>
                </a:solidFill>
                <a:latin typeface="Open Sauce"/>
                <a:ea typeface="Open Sauce"/>
                <a:cs typeface="Open Sauce"/>
                <a:sym typeface="Open Sauce"/>
              </a:rPr>
              <a:t>&lt;&lt; → insertion operator → used to send data to an output stream</a:t>
            </a:r>
          </a:p>
          <a:p>
            <a:pPr algn="l">
              <a:lnSpc>
                <a:spcPts val="2800"/>
              </a:lnSpc>
            </a:pPr>
            <a:r>
              <a:rPr lang="en-US" sz="2000">
                <a:solidFill>
                  <a:srgbClr val="000000"/>
                </a:solidFill>
                <a:latin typeface="Open Sauce"/>
                <a:ea typeface="Open Sauce"/>
                <a:cs typeface="Open Sauce"/>
                <a:sym typeface="Open Sauce"/>
              </a:rPr>
              <a:t>&gt;&gt; → extraction operator → used to read data from an input stream</a:t>
            </a:r>
          </a:p>
          <a:p>
            <a:pPr algn="l">
              <a:lnSpc>
                <a:spcPts val="2800"/>
              </a:lnSpc>
            </a:pPr>
          </a:p>
          <a:p>
            <a:pPr algn="l">
              <a:lnSpc>
                <a:spcPts val="2800"/>
              </a:lnSpc>
            </a:pPr>
            <a:r>
              <a:rPr lang="en-US" sz="2000">
                <a:solidFill>
                  <a:srgbClr val="000000"/>
                </a:solidFill>
                <a:latin typeface="Open Sauce"/>
                <a:ea typeface="Open Sauce"/>
                <a:cs typeface="Open Sauce"/>
                <a:sym typeface="Open Sauce"/>
              </a:rPr>
              <a:t>endl → inserts newline character and forces stream to be flushed</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endl is slower than ‘\n’ because endl forces a flush of the buffer</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endl →</a:t>
            </a:r>
            <a:r>
              <a:rPr lang="en-US" sz="2000">
                <a:solidFill>
                  <a:srgbClr val="000000"/>
                </a:solidFill>
                <a:latin typeface="Open Sauce"/>
                <a:ea typeface="Open Sauce"/>
                <a:cs typeface="Open Sauce"/>
                <a:sym typeface="Open Sauce"/>
              </a:rPr>
              <a:t> used for real time logging</a:t>
            </a:r>
          </a:p>
          <a:p>
            <a:pPr algn="l" marL="0" indent="0" lvl="0">
              <a:lnSpc>
                <a:spcPts val="2800"/>
              </a:lnSpc>
              <a:spcBef>
                <a:spcPct val="0"/>
              </a:spcBef>
            </a:pPr>
            <a:r>
              <a:rPr lang="en-US" b="true" sz="2000">
                <a:solidFill>
                  <a:srgbClr val="000000"/>
                </a:solidFill>
                <a:latin typeface="Open Sauce Bold"/>
                <a:ea typeface="Open Sauce Bold"/>
                <a:cs typeface="Open Sauce Bold"/>
                <a:sym typeface="Open Sauce Bold"/>
              </a:rPr>
              <a:t>‘\n’ → </a:t>
            </a:r>
            <a:r>
              <a:rPr lang="en-US" sz="2000">
                <a:solidFill>
                  <a:srgbClr val="000000"/>
                </a:solidFill>
                <a:latin typeface="Open Sauce"/>
                <a:ea typeface="Open Sauce"/>
                <a:cs typeface="Open Sauce"/>
                <a:sym typeface="Open Sauce"/>
              </a:rPr>
              <a:t>gives higher performance</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04875"/>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Operators</a:t>
            </a:r>
          </a:p>
        </p:txBody>
      </p:sp>
      <p:sp>
        <p:nvSpPr>
          <p:cNvPr name="TextBox 3" id="3"/>
          <p:cNvSpPr txBox="true"/>
          <p:nvPr/>
        </p:nvSpPr>
        <p:spPr>
          <a:xfrm rot="0">
            <a:off x="1028700" y="2447925"/>
            <a:ext cx="15430500" cy="7302500"/>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uce Bold"/>
                <a:ea typeface="Open Sauce Bold"/>
                <a:cs typeface="Open Sauce Bold"/>
                <a:sym typeface="Open Sauce Bold"/>
              </a:rPr>
              <a:t>Types of operators</a:t>
            </a:r>
            <a:r>
              <a:rPr lang="en-US" sz="2000">
                <a:solidFill>
                  <a:srgbClr val="000000"/>
                </a:solidFill>
                <a:latin typeface="Open Sauce"/>
                <a:ea typeface="Open Sauce"/>
                <a:cs typeface="Open Sauce"/>
                <a:sym typeface="Open Sauce"/>
              </a:rPr>
              <a:t> - A</a:t>
            </a:r>
            <a:r>
              <a:rPr lang="en-US" sz="2000">
                <a:solidFill>
                  <a:srgbClr val="000000"/>
                </a:solidFill>
                <a:latin typeface="Open Sauce"/>
                <a:ea typeface="Open Sauce"/>
                <a:cs typeface="Open Sauce"/>
                <a:sym typeface="Open Sauce"/>
              </a:rPr>
              <a:t>rithmetic, Relational, Logical, Assignment and Bitwise operators</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Arithmetic operators</a:t>
            </a:r>
            <a:r>
              <a:rPr lang="en-US" sz="2000">
                <a:solidFill>
                  <a:srgbClr val="000000"/>
                </a:solidFill>
                <a:latin typeface="Open Sauce"/>
                <a:ea typeface="Open Sauce"/>
                <a:cs typeface="Open Sauce"/>
                <a:sym typeface="Open Sauce"/>
              </a:rPr>
              <a:t> → +, -, *, /, %, ++, --</a:t>
            </a:r>
          </a:p>
          <a:p>
            <a:pPr algn="l">
              <a:lnSpc>
                <a:spcPts val="2800"/>
              </a:lnSpc>
            </a:pPr>
          </a:p>
          <a:p>
            <a:pPr algn="l">
              <a:lnSpc>
                <a:spcPts val="2800"/>
              </a:lnSpc>
            </a:pPr>
            <a:r>
              <a:rPr lang="en-US" sz="2000">
                <a:solidFill>
                  <a:srgbClr val="000000"/>
                </a:solidFill>
                <a:latin typeface="Open Sauce"/>
                <a:ea typeface="Open Sauce"/>
                <a:cs typeface="Open Sauce"/>
                <a:sym typeface="Open Sauce"/>
              </a:rPr>
              <a:t>If we have two integers, and want to divide them without losing the fraction → Using static_cast&lt;&gt; we can do floating point division with integers</a:t>
            </a:r>
          </a:p>
          <a:p>
            <a:pPr algn="l">
              <a:lnSpc>
                <a:spcPts val="2800"/>
              </a:lnSpc>
            </a:pPr>
          </a:p>
          <a:p>
            <a:pPr algn="l">
              <a:lnSpc>
                <a:spcPts val="2380"/>
              </a:lnSpc>
            </a:pPr>
            <a:r>
              <a:rPr lang="en-US" sz="1700">
                <a:solidFill>
                  <a:srgbClr val="000000"/>
                </a:solidFill>
                <a:latin typeface="Open Sauce"/>
                <a:ea typeface="Open Sauce"/>
                <a:cs typeface="Open Sauce"/>
                <a:sym typeface="Open Sauce"/>
              </a:rPr>
              <a:t>#include &lt;iostream&gt;</a:t>
            </a:r>
          </a:p>
          <a:p>
            <a:pPr algn="l">
              <a:lnSpc>
                <a:spcPts val="2380"/>
              </a:lnSpc>
            </a:pPr>
            <a:r>
              <a:rPr lang="en-US" sz="1700">
                <a:solidFill>
                  <a:srgbClr val="000000"/>
                </a:solidFill>
                <a:latin typeface="Open Sauce"/>
                <a:ea typeface="Open Sauce"/>
                <a:cs typeface="Open Sauce"/>
                <a:sym typeface="Open Sauce"/>
              </a:rPr>
              <a:t>int main(){</a:t>
            </a:r>
          </a:p>
          <a:p>
            <a:pPr algn="l">
              <a:lnSpc>
                <a:spcPts val="2380"/>
              </a:lnSpc>
            </a:pPr>
            <a:r>
              <a:rPr lang="en-US" sz="1700">
                <a:solidFill>
                  <a:srgbClr val="000000"/>
                </a:solidFill>
                <a:latin typeface="Open Sauce"/>
                <a:ea typeface="Open Sauce"/>
                <a:cs typeface="Open Sauce"/>
                <a:sym typeface="Open Sauce"/>
              </a:rPr>
              <a:t>    constexpr int x{ 7 };</a:t>
            </a:r>
          </a:p>
          <a:p>
            <a:pPr algn="l">
              <a:lnSpc>
                <a:spcPts val="2380"/>
              </a:lnSpc>
            </a:pPr>
            <a:r>
              <a:rPr lang="en-US" sz="1700">
                <a:solidFill>
                  <a:srgbClr val="000000"/>
                </a:solidFill>
                <a:latin typeface="Open Sauce"/>
                <a:ea typeface="Open Sauce"/>
                <a:cs typeface="Open Sauce"/>
                <a:sym typeface="Open Sauce"/>
              </a:rPr>
              <a:t>    constexpr int y{ 4 };</a:t>
            </a:r>
          </a:p>
          <a:p>
            <a:pPr algn="l">
              <a:lnSpc>
                <a:spcPts val="2380"/>
              </a:lnSpc>
            </a:pPr>
            <a:r>
              <a:rPr lang="en-US" sz="1700">
                <a:solidFill>
                  <a:srgbClr val="000000"/>
                </a:solidFill>
                <a:latin typeface="Open Sauce"/>
                <a:ea typeface="Open Sauce"/>
                <a:cs typeface="Open Sauce"/>
                <a:sym typeface="Open Sauce"/>
              </a:rPr>
              <a:t><![CDATA[    std::cout << "int / int = " << x / y << '\n';]]></a:t>
            </a:r>
          </a:p>
          <a:p>
            <a:pPr algn="l">
              <a:lnSpc>
                <a:spcPts val="2380"/>
              </a:lnSpc>
            </a:pPr>
            <a:r>
              <a:rPr lang="en-US" sz="1700">
                <a:solidFill>
                  <a:srgbClr val="000000"/>
                </a:solidFill>
                <a:latin typeface="Open Sauce"/>
                <a:ea typeface="Open Sauce"/>
                <a:cs typeface="Open Sauce"/>
                <a:sym typeface="Open Sauce"/>
              </a:rPr>
              <a:t><![CDATA[    std::cout << "double / int = " << static_cast<double>(x) / y << '\n';]]></a:t>
            </a:r>
          </a:p>
          <a:p>
            <a:pPr algn="l">
              <a:lnSpc>
                <a:spcPts val="2380"/>
              </a:lnSpc>
            </a:pPr>
            <a:r>
              <a:rPr lang="en-US" sz="1700">
                <a:solidFill>
                  <a:srgbClr val="000000"/>
                </a:solidFill>
                <a:latin typeface="Open Sauce"/>
                <a:ea typeface="Open Sauce"/>
                <a:cs typeface="Open Sauce"/>
                <a:sym typeface="Open Sauce"/>
              </a:rPr>
              <a:t><![CDATA[    std::cout << "int / double = " << x / static_cast<double>(y) << '\n';]]></a:t>
            </a:r>
          </a:p>
          <a:p>
            <a:pPr algn="l">
              <a:lnSpc>
                <a:spcPts val="2380"/>
              </a:lnSpc>
            </a:pPr>
            <a:r>
              <a:rPr lang="en-US" sz="1700">
                <a:solidFill>
                  <a:srgbClr val="000000"/>
                </a:solidFill>
                <a:latin typeface="Open Sauce"/>
                <a:ea typeface="Open Sauce"/>
                <a:cs typeface="Open Sauce"/>
                <a:sym typeface="Open Sauce"/>
              </a:rPr>
              <a:t><![CDATA[    std::cout << "double / double = " << static_cast<double>(x) / static_cast<double>(y) << '\n';return 0;}]]></a:t>
            </a:r>
          </a:p>
          <a:p>
            <a:pPr algn="l">
              <a:lnSpc>
                <a:spcPts val="2380"/>
              </a:lnSpc>
            </a:pPr>
          </a:p>
          <a:p>
            <a:pPr algn="l">
              <a:lnSpc>
                <a:spcPts val="2380"/>
              </a:lnSpc>
            </a:pPr>
            <a:r>
              <a:rPr lang="en-US" sz="1700" b="true">
                <a:solidFill>
                  <a:srgbClr val="000000"/>
                </a:solidFill>
                <a:latin typeface="Open Sauce Bold"/>
                <a:ea typeface="Open Sauce Bold"/>
                <a:cs typeface="Open Sauce Bold"/>
                <a:sym typeface="Open Sauce Bold"/>
              </a:rPr>
              <a:t>Result:</a:t>
            </a:r>
          </a:p>
          <a:p>
            <a:pPr algn="l">
              <a:lnSpc>
                <a:spcPts val="2380"/>
              </a:lnSpc>
            </a:pPr>
            <a:r>
              <a:rPr lang="en-US" sz="1700">
                <a:solidFill>
                  <a:srgbClr val="000000"/>
                </a:solidFill>
                <a:latin typeface="Open Sauce"/>
                <a:ea typeface="Open Sauce"/>
                <a:cs typeface="Open Sauce"/>
                <a:sym typeface="Open Sauce"/>
              </a:rPr>
              <a:t>int / int = 1</a:t>
            </a:r>
          </a:p>
          <a:p>
            <a:pPr algn="l">
              <a:lnSpc>
                <a:spcPts val="2380"/>
              </a:lnSpc>
            </a:pPr>
            <a:r>
              <a:rPr lang="en-US" sz="1700">
                <a:solidFill>
                  <a:srgbClr val="000000"/>
                </a:solidFill>
                <a:latin typeface="Open Sauce"/>
                <a:ea typeface="Open Sauce"/>
                <a:cs typeface="Open Sauce"/>
                <a:sym typeface="Open Sauce"/>
              </a:rPr>
              <a:t>double / int = 1.75</a:t>
            </a:r>
          </a:p>
          <a:p>
            <a:pPr algn="l">
              <a:lnSpc>
                <a:spcPts val="2380"/>
              </a:lnSpc>
            </a:pPr>
            <a:r>
              <a:rPr lang="en-US" sz="1700">
                <a:solidFill>
                  <a:srgbClr val="000000"/>
                </a:solidFill>
                <a:latin typeface="Open Sauce"/>
                <a:ea typeface="Open Sauce"/>
                <a:cs typeface="Open Sauce"/>
                <a:sym typeface="Open Sauce"/>
              </a:rPr>
              <a:t>int / double = 1.75</a:t>
            </a:r>
          </a:p>
          <a:p>
            <a:pPr algn="l">
              <a:lnSpc>
                <a:spcPts val="2380"/>
              </a:lnSpc>
            </a:pPr>
            <a:r>
              <a:rPr lang="en-US" sz="1700">
                <a:solidFill>
                  <a:srgbClr val="000000"/>
                </a:solidFill>
                <a:latin typeface="Open Sauce"/>
                <a:ea typeface="Open Sauce"/>
                <a:cs typeface="Open Sauce"/>
                <a:sym typeface="Open Sauce"/>
              </a:rPr>
              <a:t>double / double = 1.75</a:t>
            </a:r>
          </a:p>
          <a:p>
            <a:pPr algn="l">
              <a:lnSpc>
                <a:spcPts val="2800"/>
              </a:lnSpc>
            </a:pPr>
          </a:p>
          <a:p>
            <a:pPr algn="l" marL="0" indent="0" lvl="0">
              <a:lnSpc>
                <a:spcPts val="2800"/>
              </a:lnSpc>
              <a:spcBef>
                <a:spcPct val="0"/>
              </a:spcBef>
            </a:pPr>
            <a:r>
              <a:rPr lang="en-US" sz="2000">
                <a:solidFill>
                  <a:srgbClr val="000000"/>
                </a:solidFill>
                <a:latin typeface="Open Sauce"/>
                <a:ea typeface="Open Sauce"/>
                <a:cs typeface="Open Sauce"/>
                <a:sym typeface="Open Sauce"/>
              </a:rPr>
              <a:t>If either operand is a floating point number, the result will be floating point division, not integer division.</a:t>
            </a:r>
          </a:p>
        </p:txBody>
      </p:sp>
      <p:sp>
        <p:nvSpPr>
          <p:cNvPr name="TextBox 4" id="4"/>
          <p:cNvSpPr txBox="true"/>
          <p:nvPr/>
        </p:nvSpPr>
        <p:spPr>
          <a:xfrm rot="0">
            <a:off x="12618927" y="4867275"/>
            <a:ext cx="4937283" cy="3168650"/>
          </a:xfrm>
          <a:prstGeom prst="rect">
            <a:avLst/>
          </a:prstGeom>
        </p:spPr>
        <p:txBody>
          <a:bodyPr anchor="t" rtlCol="false" tIns="0" lIns="0" bIns="0" rIns="0">
            <a:spAutoFit/>
          </a:bodyPr>
          <a:lstStyle/>
          <a:p>
            <a:pPr algn="l">
              <a:lnSpc>
                <a:spcPts val="2800"/>
              </a:lnSpc>
            </a:pPr>
            <a:r>
              <a:rPr lang="en-US" sz="2000">
                <a:solidFill>
                  <a:srgbClr val="000000"/>
                </a:solidFill>
                <a:latin typeface="Open Sauce"/>
                <a:ea typeface="Open Sauce"/>
                <a:cs typeface="Open Sauce"/>
                <a:sym typeface="Open Sauce"/>
              </a:rPr>
              <a:t>Why static_cast&lt;double&gt;(x) over (double)(x)?</a:t>
            </a:r>
          </a:p>
          <a:p>
            <a:pPr algn="l">
              <a:lnSpc>
                <a:spcPts val="2800"/>
              </a:lnSpc>
            </a:pPr>
          </a:p>
          <a:p>
            <a:pPr algn="l" marL="431801" indent="-215900" lvl="1">
              <a:lnSpc>
                <a:spcPts val="2800"/>
              </a:lnSpc>
              <a:buFont typeface="Arial"/>
              <a:buChar char="•"/>
            </a:pPr>
            <a:r>
              <a:rPr lang="en-US" sz="2000">
                <a:solidFill>
                  <a:srgbClr val="000000"/>
                </a:solidFill>
                <a:latin typeface="Open Sauce"/>
                <a:ea typeface="Open Sauce"/>
                <a:cs typeface="Open Sauce"/>
                <a:sym typeface="Open Sauce"/>
              </a:rPr>
              <a:t>pr</a:t>
            </a:r>
            <a:r>
              <a:rPr lang="en-US" sz="2000">
                <a:solidFill>
                  <a:srgbClr val="000000"/>
                </a:solidFill>
                <a:latin typeface="Open Sauce"/>
                <a:ea typeface="Open Sauce"/>
                <a:cs typeface="Open Sauce"/>
                <a:sym typeface="Open Sauce"/>
              </a:rPr>
              <a:t>ovides better type safety through compile-time checks</a:t>
            </a:r>
          </a:p>
          <a:p>
            <a:pPr algn="l" marL="431801" indent="-215900" lvl="1">
              <a:lnSpc>
                <a:spcPts val="2800"/>
              </a:lnSpc>
              <a:buFont typeface="Arial"/>
              <a:buChar char="•"/>
            </a:pPr>
            <a:r>
              <a:rPr lang="en-US" sz="2000">
                <a:solidFill>
                  <a:srgbClr val="000000"/>
                </a:solidFill>
                <a:latin typeface="Open Sauce"/>
                <a:ea typeface="Open Sauce"/>
                <a:cs typeface="Open Sauce"/>
                <a:sym typeface="Open Sauce"/>
              </a:rPr>
              <a:t>makes the programmer's intent explicit</a:t>
            </a:r>
          </a:p>
          <a:p>
            <a:pPr algn="l" marL="431801" indent="-215900" lvl="1">
              <a:lnSpc>
                <a:spcPts val="2800"/>
              </a:lnSpc>
              <a:buFont typeface="Arial"/>
              <a:buChar char="•"/>
            </a:pPr>
            <a:r>
              <a:rPr lang="en-US" sz="2000">
                <a:solidFill>
                  <a:srgbClr val="000000"/>
                </a:solidFill>
                <a:latin typeface="Open Sauce"/>
                <a:ea typeface="Open Sauce"/>
                <a:cs typeface="Open Sauce"/>
                <a:sym typeface="Open Sauce"/>
              </a:rPr>
              <a:t>improves code readability and searchability</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04875"/>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Operators</a:t>
            </a:r>
          </a:p>
        </p:txBody>
      </p:sp>
      <p:sp>
        <p:nvSpPr>
          <p:cNvPr name="TextBox 3" id="3"/>
          <p:cNvSpPr txBox="true"/>
          <p:nvPr/>
        </p:nvSpPr>
        <p:spPr>
          <a:xfrm rot="0">
            <a:off x="1028700" y="2447925"/>
            <a:ext cx="15430500" cy="7397750"/>
          </a:xfrm>
          <a:prstGeom prst="rect">
            <a:avLst/>
          </a:prstGeom>
        </p:spPr>
        <p:txBody>
          <a:bodyPr anchor="t" rtlCol="false" tIns="0" lIns="0" bIns="0" rIns="0">
            <a:spAutoFit/>
          </a:bodyPr>
          <a:lstStyle/>
          <a:p>
            <a:pPr algn="l">
              <a:lnSpc>
                <a:spcPts val="2800"/>
              </a:lnSpc>
            </a:pPr>
            <a:r>
              <a:rPr lang="en-US" sz="2000" b="true">
                <a:solidFill>
                  <a:srgbClr val="000000"/>
                </a:solidFill>
                <a:latin typeface="Open Sauce Bold"/>
                <a:ea typeface="Open Sauce Bold"/>
                <a:cs typeface="Open Sauce Bold"/>
                <a:sym typeface="Open Sauce Bold"/>
              </a:rPr>
              <a:t>Relational operators</a:t>
            </a:r>
            <a:r>
              <a:rPr lang="en-US" sz="2000">
                <a:solidFill>
                  <a:srgbClr val="000000"/>
                </a:solidFill>
                <a:latin typeface="Open Sauce"/>
                <a:ea typeface="Open Sauce"/>
                <a:cs typeface="Open Sauce"/>
                <a:sym typeface="Open Sauce"/>
              </a:rPr>
              <a:t> → ==, !=, &gt;, &lt;, &gt;=, &lt;=</a:t>
            </a:r>
          </a:p>
          <a:p>
            <a:pPr algn="l">
              <a:lnSpc>
                <a:spcPts val="2800"/>
              </a:lnSpc>
            </a:pPr>
            <a:r>
              <a:rPr lang="en-US" sz="2000">
                <a:solidFill>
                  <a:srgbClr val="000000"/>
                </a:solidFill>
                <a:latin typeface="Open Sauce"/>
                <a:ea typeface="Open Sauce"/>
                <a:cs typeface="Open Sauce"/>
                <a:sym typeface="Open Sauce"/>
              </a:rPr>
              <a:t>Used to compare two values or expressions and determine the relationship between them</a:t>
            </a:r>
          </a:p>
          <a:p>
            <a:pPr algn="l">
              <a:lnSpc>
                <a:spcPts val="2800"/>
              </a:lnSpc>
            </a:pPr>
            <a:r>
              <a:rPr lang="en-US" sz="2000">
                <a:solidFill>
                  <a:srgbClr val="000000"/>
                </a:solidFill>
                <a:latin typeface="Open Sauce"/>
                <a:ea typeface="Open Sauce"/>
                <a:cs typeface="Open Sauce"/>
                <a:sym typeface="Open Sauce"/>
              </a:rPr>
              <a:t>Result is always true or false</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Logical operators </a:t>
            </a:r>
            <a:r>
              <a:rPr lang="en-US" sz="2000">
                <a:solidFill>
                  <a:srgbClr val="000000"/>
                </a:solidFill>
                <a:latin typeface="Open Sauce"/>
                <a:ea typeface="Open Sauce"/>
                <a:cs typeface="Open Sauce"/>
                <a:sym typeface="Open Sauce"/>
              </a:rPr>
              <a:t>→ &amp;&amp;, ||, ! </a:t>
            </a:r>
          </a:p>
          <a:p>
            <a:pPr algn="l">
              <a:lnSpc>
                <a:spcPts val="2800"/>
              </a:lnSpc>
            </a:pPr>
            <a:r>
              <a:rPr lang="en-US" sz="2000">
                <a:solidFill>
                  <a:srgbClr val="000000"/>
                </a:solidFill>
                <a:latin typeface="Open Sauce"/>
                <a:ea typeface="Open Sauce"/>
                <a:cs typeface="Open Sauce"/>
                <a:sym typeface="Open Sauce"/>
              </a:rPr>
              <a:t>Used to combine or modify boolean expressions</a:t>
            </a:r>
          </a:p>
          <a:p>
            <a:pPr algn="l">
              <a:lnSpc>
                <a:spcPts val="2800"/>
              </a:lnSpc>
            </a:pPr>
            <a:r>
              <a:rPr lang="en-US" sz="2000">
                <a:solidFill>
                  <a:srgbClr val="000000"/>
                </a:solidFill>
                <a:latin typeface="Open Sauce"/>
                <a:ea typeface="Open Sauce"/>
                <a:cs typeface="Open Sauce"/>
                <a:sym typeface="Open Sauce"/>
              </a:rPr>
              <a:t>Result is always true or false</a:t>
            </a:r>
          </a:p>
          <a:p>
            <a:pPr algn="l">
              <a:lnSpc>
                <a:spcPts val="2800"/>
              </a:lnSpc>
            </a:pPr>
            <a:r>
              <a:rPr lang="en-US" sz="2000">
                <a:solidFill>
                  <a:srgbClr val="000000"/>
                </a:solidFill>
                <a:latin typeface="Open Sauce"/>
                <a:ea typeface="Open Sauce"/>
                <a:cs typeface="Open Sauce"/>
                <a:sym typeface="Open Sauce"/>
              </a:rPr>
              <a:t>In A &amp;&amp; B, if A is false, B is never checked, helpful in avoiding crashes (!ptr &amp;&amp; ptr-&gt;next!=null) ⟶ Short circuiting </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Assignment operators</a:t>
            </a:r>
            <a:r>
              <a:rPr lang="en-US" sz="2000">
                <a:solidFill>
                  <a:srgbClr val="000000"/>
                </a:solidFill>
                <a:latin typeface="Open Sauce"/>
                <a:ea typeface="Open Sauce"/>
                <a:cs typeface="Open Sauce"/>
                <a:sym typeface="Open Sauce"/>
              </a:rPr>
              <a:t> → +=,-=.*=,/=,%=</a:t>
            </a:r>
          </a:p>
          <a:p>
            <a:pPr algn="l">
              <a:lnSpc>
                <a:spcPts val="2800"/>
              </a:lnSpc>
            </a:pPr>
            <a:r>
              <a:rPr lang="en-US" sz="2000">
                <a:solidFill>
                  <a:srgbClr val="000000"/>
                </a:solidFill>
                <a:latin typeface="Open Sauce"/>
                <a:ea typeface="Open Sauce"/>
                <a:cs typeface="Open Sauce"/>
                <a:sym typeface="Open Sauce"/>
              </a:rPr>
              <a:t>Used to assign a value to a variable, modifying the value of the object on the left-hand side</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Bitwise operators </a:t>
            </a:r>
            <a:r>
              <a:rPr lang="en-US" sz="2000">
                <a:solidFill>
                  <a:srgbClr val="000000"/>
                </a:solidFill>
                <a:latin typeface="Open Sauce"/>
                <a:ea typeface="Open Sauce"/>
                <a:cs typeface="Open Sauce"/>
                <a:sym typeface="Open Sauce"/>
              </a:rPr>
              <a:t>→ </a:t>
            </a:r>
          </a:p>
          <a:p>
            <a:pPr algn="l">
              <a:lnSpc>
                <a:spcPts val="2800"/>
              </a:lnSpc>
            </a:pPr>
            <a:r>
              <a:rPr lang="en-US" sz="2000">
                <a:solidFill>
                  <a:srgbClr val="000000"/>
                </a:solidFill>
                <a:latin typeface="Open Sauce"/>
                <a:ea typeface="Open Sauce"/>
                <a:cs typeface="Open Sauce"/>
                <a:sym typeface="Open Sauce"/>
              </a:rPr>
              <a:t>&amp; → checking if a bit is set/clear a bit,</a:t>
            </a:r>
          </a:p>
          <a:p>
            <a:pPr algn="l">
              <a:lnSpc>
                <a:spcPts val="2800"/>
              </a:lnSpc>
            </a:pPr>
            <a:r>
              <a:rPr lang="en-US" sz="2000">
                <a:solidFill>
                  <a:srgbClr val="000000"/>
                </a:solidFill>
                <a:latin typeface="Open Sauce"/>
                <a:ea typeface="Open Sauce"/>
                <a:cs typeface="Open Sauce"/>
                <a:sym typeface="Open Sauce"/>
              </a:rPr>
              <a:t>| → setting a bit,</a:t>
            </a:r>
          </a:p>
          <a:p>
            <a:pPr algn="l">
              <a:lnSpc>
                <a:spcPts val="2800"/>
              </a:lnSpc>
            </a:pPr>
            <a:r>
              <a:rPr lang="en-US" sz="2000">
                <a:solidFill>
                  <a:srgbClr val="000000"/>
                </a:solidFill>
                <a:latin typeface="Open Sauce"/>
                <a:ea typeface="Open Sauce"/>
                <a:cs typeface="Open Sauce"/>
                <a:sym typeface="Open Sauce"/>
              </a:rPr>
              <a:t>^ → toggle a bit,</a:t>
            </a:r>
          </a:p>
          <a:p>
            <a:pPr algn="l">
              <a:lnSpc>
                <a:spcPts val="2800"/>
              </a:lnSpc>
            </a:pPr>
            <a:r>
              <a:rPr lang="en-US" sz="2000">
                <a:solidFill>
                  <a:srgbClr val="000000"/>
                </a:solidFill>
                <a:latin typeface="Open Sauce"/>
                <a:ea typeface="Open Sauce"/>
                <a:cs typeface="Open Sauce"/>
                <a:sym typeface="Open Sauce"/>
              </a:rPr>
              <a:t>~ → complement,</a:t>
            </a:r>
          </a:p>
          <a:p>
            <a:pPr algn="l">
              <a:lnSpc>
                <a:spcPts val="2800"/>
              </a:lnSpc>
            </a:pPr>
            <a:r>
              <a:rPr lang="en-US" sz="2000">
                <a:solidFill>
                  <a:srgbClr val="000000"/>
                </a:solidFill>
                <a:latin typeface="Open Sauce"/>
                <a:ea typeface="Open Sauce"/>
                <a:cs typeface="Open Sauce"/>
                <a:sym typeface="Open Sauce"/>
              </a:rPr>
              <a:t>&lt;&lt; → left shift, </a:t>
            </a:r>
          </a:p>
          <a:p>
            <a:pPr algn="l">
              <a:lnSpc>
                <a:spcPts val="2800"/>
              </a:lnSpc>
            </a:pPr>
            <a:r>
              <a:rPr lang="en-US" sz="2000">
                <a:solidFill>
                  <a:srgbClr val="000000"/>
                </a:solidFill>
                <a:latin typeface="Open Sauce"/>
                <a:ea typeface="Open Sauce"/>
                <a:cs typeface="Open Sauce"/>
                <a:sym typeface="Open Sauce"/>
              </a:rPr>
              <a:t>&gt;&gt; → right shift</a:t>
            </a:r>
          </a:p>
          <a:p>
            <a:pPr algn="l">
              <a:lnSpc>
                <a:spcPts val="2800"/>
              </a:lnSpc>
            </a:pPr>
            <a:r>
              <a:rPr lang="en-US" sz="2000">
                <a:solidFill>
                  <a:srgbClr val="000000"/>
                </a:solidFill>
                <a:latin typeface="Open Sauce"/>
                <a:ea typeface="Open Sauce"/>
                <a:cs typeface="Open Sauce"/>
                <a:sym typeface="Open Sauce"/>
              </a:rPr>
              <a:t>Symbols that perform operations at the level of individual bits</a:t>
            </a:r>
          </a:p>
          <a:p>
            <a:pPr algn="l" marL="0" indent="0" lvl="0">
              <a:lnSpc>
                <a:spcPts val="28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8750" y="809943"/>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Operators</a:t>
            </a:r>
          </a:p>
        </p:txBody>
      </p:sp>
      <p:sp>
        <p:nvSpPr>
          <p:cNvPr name="TextBox 3" id="3"/>
          <p:cNvSpPr txBox="true"/>
          <p:nvPr/>
        </p:nvSpPr>
        <p:spPr>
          <a:xfrm rot="0">
            <a:off x="1428750" y="2372043"/>
            <a:ext cx="15430500" cy="6003332"/>
          </a:xfrm>
          <a:prstGeom prst="rect">
            <a:avLst/>
          </a:prstGeom>
        </p:spPr>
        <p:txBody>
          <a:bodyPr anchor="t" rtlCol="false" tIns="0" lIns="0" bIns="0" rIns="0">
            <a:spAutoFit/>
          </a:bodyPr>
          <a:lstStyle/>
          <a:p>
            <a:pPr algn="l">
              <a:lnSpc>
                <a:spcPts val="3080"/>
              </a:lnSpc>
            </a:pPr>
            <a:r>
              <a:rPr lang="en-US" sz="2200" b="true">
                <a:solidFill>
                  <a:srgbClr val="000000"/>
                </a:solidFill>
                <a:latin typeface="Open Sauce Bold"/>
                <a:ea typeface="Open Sauce Bold"/>
                <a:cs typeface="Open Sauce Bold"/>
                <a:sym typeface="Open Sauce Bold"/>
              </a:rPr>
              <a:t>Bitwise for Optimization</a:t>
            </a:r>
          </a:p>
          <a:p>
            <a:pPr algn="l">
              <a:lnSpc>
                <a:spcPts val="2800"/>
              </a:lnSpc>
            </a:pPr>
          </a:p>
          <a:p>
            <a:pPr algn="l">
              <a:lnSpc>
                <a:spcPts val="2800"/>
              </a:lnSpc>
            </a:pPr>
            <a:r>
              <a:rPr lang="en-US" sz="2000">
                <a:solidFill>
                  <a:srgbClr val="000000"/>
                </a:solidFill>
                <a:latin typeface="Open Sauce"/>
                <a:ea typeface="Open Sauce"/>
                <a:cs typeface="Open Sauce"/>
                <a:sym typeface="Open Sauce"/>
              </a:rPr>
              <a:t>Bit-masking is used in systems programming to store 8 boolean "flags" in a single char to save memory.</a:t>
            </a:r>
          </a:p>
          <a:p>
            <a:pPr algn="l">
              <a:lnSpc>
                <a:spcPts val="2800"/>
              </a:lnSpc>
            </a:pPr>
          </a:p>
          <a:p>
            <a:pPr algn="l">
              <a:lnSpc>
                <a:spcPts val="2800"/>
              </a:lnSpc>
            </a:pPr>
            <a:r>
              <a:rPr lang="en-US" sz="2000">
                <a:solidFill>
                  <a:srgbClr val="000000"/>
                </a:solidFill>
                <a:latin typeface="Open Sauce"/>
                <a:ea typeface="Open Sauce"/>
                <a:cs typeface="Open Sauce"/>
                <a:sym typeface="Open Sauce"/>
              </a:rPr>
              <a:t>A mask defines which bits you want to keep, and which bits you want to clear.</a:t>
            </a:r>
          </a:p>
          <a:p>
            <a:pPr algn="l">
              <a:lnSpc>
                <a:spcPts val="2800"/>
              </a:lnSpc>
            </a:pPr>
            <a:r>
              <a:rPr lang="en-US" sz="2000">
                <a:solidFill>
                  <a:srgbClr val="000000"/>
                </a:solidFill>
                <a:latin typeface="Open Sauce"/>
                <a:ea typeface="Open Sauce"/>
                <a:cs typeface="Open Sauce"/>
                <a:sym typeface="Open Sauce"/>
              </a:rPr>
              <a:t>Masking is the act of applying a mask to a value. Below is an example of extracting a subset of the bits in the value:</a:t>
            </a:r>
          </a:p>
          <a:p>
            <a:pPr algn="l">
              <a:lnSpc>
                <a:spcPts val="2800"/>
              </a:lnSpc>
            </a:pPr>
          </a:p>
          <a:p>
            <a:pPr algn="l">
              <a:lnSpc>
                <a:spcPts val="2800"/>
              </a:lnSpc>
            </a:pPr>
            <a:r>
              <a:rPr lang="en-US" sz="2000">
                <a:solidFill>
                  <a:srgbClr val="000000"/>
                </a:solidFill>
                <a:latin typeface="Open Sauce"/>
                <a:ea typeface="Open Sauce"/>
                <a:cs typeface="Open Sauce"/>
                <a:sym typeface="Open Sauce"/>
              </a:rPr>
              <a:t>Mask:   00001111</a:t>
            </a:r>
          </a:p>
          <a:p>
            <a:pPr algn="l">
              <a:lnSpc>
                <a:spcPts val="2800"/>
              </a:lnSpc>
            </a:pPr>
            <a:r>
              <a:rPr lang="en-US" sz="2000">
                <a:solidFill>
                  <a:srgbClr val="000000"/>
                </a:solidFill>
                <a:latin typeface="Open Sauce"/>
                <a:ea typeface="Open Sauce"/>
                <a:cs typeface="Open Sauce"/>
                <a:sym typeface="Open Sauce"/>
              </a:rPr>
              <a:t>Value:  01010101</a:t>
            </a:r>
          </a:p>
          <a:p>
            <a:pPr algn="l">
              <a:lnSpc>
                <a:spcPts val="2800"/>
              </a:lnSpc>
            </a:pPr>
          </a:p>
          <a:p>
            <a:pPr algn="l">
              <a:lnSpc>
                <a:spcPts val="2800"/>
              </a:lnSpc>
            </a:pPr>
            <a:r>
              <a:rPr lang="en-US" sz="2000">
                <a:solidFill>
                  <a:srgbClr val="000000"/>
                </a:solidFill>
                <a:latin typeface="Open Sauce"/>
                <a:ea typeface="Open Sauce"/>
                <a:cs typeface="Open Sauce"/>
                <a:sym typeface="Open Sauce"/>
              </a:rPr>
              <a:t>Applying the mask to the value means that we want to clear the first (higher) 4 bits, and keep the last (lower) 4 bits. Thus we have extracted the lower 4 bits. The result is:</a:t>
            </a:r>
          </a:p>
          <a:p>
            <a:pPr algn="l">
              <a:lnSpc>
                <a:spcPts val="2800"/>
              </a:lnSpc>
            </a:pPr>
          </a:p>
          <a:p>
            <a:pPr algn="l">
              <a:lnSpc>
                <a:spcPts val="2800"/>
              </a:lnSpc>
            </a:pPr>
            <a:r>
              <a:rPr lang="en-US" sz="2000">
                <a:solidFill>
                  <a:srgbClr val="000000"/>
                </a:solidFill>
                <a:latin typeface="Open Sauce"/>
                <a:ea typeface="Open Sauce"/>
                <a:cs typeface="Open Sauce"/>
                <a:sym typeface="Open Sauce"/>
              </a:rPr>
              <a:t>Mask:   00001111</a:t>
            </a:r>
          </a:p>
          <a:p>
            <a:pPr algn="l">
              <a:lnSpc>
                <a:spcPts val="2800"/>
              </a:lnSpc>
            </a:pPr>
            <a:r>
              <a:rPr lang="en-US" sz="2000">
                <a:solidFill>
                  <a:srgbClr val="000000"/>
                </a:solidFill>
                <a:latin typeface="Open Sauce"/>
                <a:ea typeface="Open Sauce"/>
                <a:cs typeface="Open Sauce"/>
                <a:sym typeface="Open Sauce"/>
              </a:rPr>
              <a:t>Value:  01010101</a:t>
            </a:r>
          </a:p>
          <a:p>
            <a:pPr algn="l">
              <a:lnSpc>
                <a:spcPts val="2800"/>
              </a:lnSpc>
            </a:pPr>
            <a:r>
              <a:rPr lang="en-US" sz="2000">
                <a:solidFill>
                  <a:srgbClr val="000000"/>
                </a:solidFill>
                <a:latin typeface="Open Sauce"/>
                <a:ea typeface="Open Sauce"/>
                <a:cs typeface="Open Sauce"/>
                <a:sym typeface="Open Sauce"/>
              </a:rPr>
              <a:t>Result: 00000101</a:t>
            </a:r>
          </a:p>
          <a:p>
            <a:pPr algn="l" marL="0" indent="0" lvl="0">
              <a:lnSpc>
                <a:spcPts val="280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56210" y="518717"/>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Control Flow</a:t>
            </a:r>
          </a:p>
        </p:txBody>
      </p:sp>
      <p:sp>
        <p:nvSpPr>
          <p:cNvPr name="TextBox 3" id="3"/>
          <p:cNvSpPr txBox="true"/>
          <p:nvPr/>
        </p:nvSpPr>
        <p:spPr>
          <a:xfrm rot="0">
            <a:off x="813045" y="2297003"/>
            <a:ext cx="15430500" cy="5988049"/>
          </a:xfrm>
          <a:prstGeom prst="rect">
            <a:avLst/>
          </a:prstGeom>
        </p:spPr>
        <p:txBody>
          <a:bodyPr anchor="t" rtlCol="false" tIns="0" lIns="0" bIns="0" rIns="0">
            <a:spAutoFit/>
          </a:bodyPr>
          <a:lstStyle/>
          <a:p>
            <a:pPr algn="l">
              <a:lnSpc>
                <a:spcPts val="2800"/>
              </a:lnSpc>
            </a:pPr>
            <a:r>
              <a:rPr lang="en-US" sz="2000">
                <a:solidFill>
                  <a:srgbClr val="000000"/>
                </a:solidFill>
                <a:latin typeface="Open Sauce"/>
                <a:ea typeface="Open Sauce"/>
                <a:cs typeface="Open Sauce"/>
                <a:sym typeface="Open Sauce"/>
              </a:rPr>
              <a:t>Three types of control flow statements - Conditional statements, Loops, and Jump statements</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Conditional statements</a:t>
            </a:r>
            <a:r>
              <a:rPr lang="en-US" sz="2000">
                <a:solidFill>
                  <a:srgbClr val="000000"/>
                </a:solidFill>
                <a:latin typeface="Open Sauce"/>
                <a:ea typeface="Open Sauce"/>
                <a:cs typeface="Open Sauce"/>
                <a:sym typeface="Open Sauce"/>
              </a:rPr>
              <a:t> - if, if-else, else if, switch case</a:t>
            </a:r>
          </a:p>
          <a:p>
            <a:pPr algn="l">
              <a:lnSpc>
                <a:spcPts val="2800"/>
              </a:lnSpc>
            </a:pPr>
          </a:p>
          <a:p>
            <a:pPr algn="l">
              <a:lnSpc>
                <a:spcPts val="2800"/>
              </a:lnSpc>
            </a:pPr>
            <a:r>
              <a:rPr lang="en-US" sz="2000">
                <a:solidFill>
                  <a:srgbClr val="000000"/>
                </a:solidFill>
                <a:latin typeface="Open Sauce"/>
                <a:ea typeface="Open Sauce"/>
                <a:cs typeface="Open Sauce"/>
                <a:sym typeface="Open Sauce"/>
              </a:rPr>
              <a:t>If-else → Conditions are checked sequentially from top to bottom.</a:t>
            </a:r>
          </a:p>
          <a:p>
            <a:pPr algn="l">
              <a:lnSpc>
                <a:spcPts val="2800"/>
              </a:lnSpc>
            </a:pPr>
            <a:r>
              <a:rPr lang="en-US" sz="2000">
                <a:solidFill>
                  <a:srgbClr val="000000"/>
                </a:solidFill>
                <a:latin typeface="Open Sauce"/>
                <a:ea typeface="Open Sauce"/>
                <a:cs typeface="Open Sauce"/>
                <a:sym typeface="Open Sauce"/>
              </a:rPr>
              <a:t>Switch case → Jumps directly to the matching case, often using a jump table for optimization, which can be faster with many cases.</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Loop statements </a:t>
            </a:r>
            <a:r>
              <a:rPr lang="en-US" sz="2000">
                <a:solidFill>
                  <a:srgbClr val="000000"/>
                </a:solidFill>
                <a:latin typeface="Open Sauce"/>
                <a:ea typeface="Open Sauce"/>
                <a:cs typeface="Open Sauce"/>
                <a:sym typeface="Open Sauce"/>
              </a:rPr>
              <a:t>- for(range based/indexed based), while, do-while </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for: when you know the count.</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while: repeat while condition true</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do-while: runs at least once</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Jump statements </a:t>
            </a:r>
            <a:r>
              <a:rPr lang="en-US" sz="2000">
                <a:solidFill>
                  <a:srgbClr val="000000"/>
                </a:solidFill>
                <a:latin typeface="Open Sauce"/>
                <a:ea typeface="Open Sauce"/>
                <a:cs typeface="Open Sauce"/>
                <a:sym typeface="Open Sauce"/>
              </a:rPr>
              <a:t>- break, continue, return</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break - used to immediately terminate the current loop </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continue - used within loops to skip the current iteration and proceed directly to the next iteration</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return - used to terminate the execution of the current function or method and return control to the calling code</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46173" y="291379"/>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Functions</a:t>
            </a:r>
          </a:p>
        </p:txBody>
      </p:sp>
      <p:sp>
        <p:nvSpPr>
          <p:cNvPr name="TextBox 3" id="3"/>
          <p:cNvSpPr txBox="true"/>
          <p:nvPr/>
        </p:nvSpPr>
        <p:spPr>
          <a:xfrm rot="0">
            <a:off x="646173" y="1757076"/>
            <a:ext cx="16613127" cy="8100888"/>
          </a:xfrm>
          <a:prstGeom prst="rect">
            <a:avLst/>
          </a:prstGeom>
        </p:spPr>
        <p:txBody>
          <a:bodyPr anchor="t" rtlCol="false" tIns="0" lIns="0" bIns="0" rIns="0">
            <a:spAutoFit/>
          </a:bodyPr>
          <a:lstStyle/>
          <a:p>
            <a:pPr algn="l">
              <a:lnSpc>
                <a:spcPts val="2800"/>
              </a:lnSpc>
            </a:pPr>
            <a:r>
              <a:rPr lang="en-US" sz="2000">
                <a:solidFill>
                  <a:srgbClr val="000000"/>
                </a:solidFill>
                <a:latin typeface="Open Sauce"/>
                <a:ea typeface="Open Sauce"/>
                <a:cs typeface="Open Sauce"/>
                <a:sym typeface="Open Sauce"/>
              </a:rPr>
              <a:t>Functions are </a:t>
            </a:r>
            <a:r>
              <a:rPr lang="en-US" sz="2000">
                <a:solidFill>
                  <a:srgbClr val="000000"/>
                </a:solidFill>
                <a:latin typeface="Open Sauce"/>
                <a:ea typeface="Open Sauce"/>
                <a:cs typeface="Open Sauce"/>
                <a:sym typeface="Open Sauce"/>
              </a:rPr>
              <a:t>reusable sequence of statements designed to do a particular</a:t>
            </a:r>
            <a:r>
              <a:rPr lang="en-US" sz="2000">
                <a:solidFill>
                  <a:srgbClr val="000000"/>
                </a:solidFill>
                <a:latin typeface="Open Sauce"/>
                <a:ea typeface="Open Sauce"/>
                <a:cs typeface="Open Sauce"/>
                <a:sym typeface="Open Sauce"/>
              </a:rPr>
              <a:t> job</a:t>
            </a:r>
          </a:p>
          <a:p>
            <a:pPr algn="l">
              <a:lnSpc>
                <a:spcPts val="2800"/>
              </a:lnSpc>
            </a:pPr>
          </a:p>
          <a:p>
            <a:pPr algn="l">
              <a:lnSpc>
                <a:spcPts val="2800"/>
              </a:lnSpc>
            </a:pPr>
            <a:r>
              <a:rPr lang="en-US" sz="2000">
                <a:solidFill>
                  <a:srgbClr val="000000"/>
                </a:solidFill>
                <a:latin typeface="Open Sauce"/>
                <a:ea typeface="Open Sauce"/>
                <a:cs typeface="Open Sauce"/>
                <a:sym typeface="Open Sauce"/>
              </a:rPr>
              <a:t>A </a:t>
            </a:r>
            <a:r>
              <a:rPr lang="en-US" sz="2000" b="true">
                <a:solidFill>
                  <a:srgbClr val="000000"/>
                </a:solidFill>
                <a:latin typeface="Open Sauce Bold"/>
                <a:ea typeface="Open Sauce Bold"/>
                <a:cs typeface="Open Sauce Bold"/>
                <a:sym typeface="Open Sauce Bold"/>
              </a:rPr>
              <a:t>function declaration</a:t>
            </a:r>
            <a:r>
              <a:rPr lang="en-US" sz="2000">
                <a:solidFill>
                  <a:srgbClr val="000000"/>
                </a:solidFill>
                <a:latin typeface="Open Sauce"/>
                <a:ea typeface="Open Sauce"/>
                <a:cs typeface="Open Sauce"/>
                <a:sym typeface="Open Sauce"/>
              </a:rPr>
              <a:t> introduces a function to the compiler by specifying its return type, name, and parameters without the body, and is used when the function is defined later or in another file.</a:t>
            </a:r>
          </a:p>
          <a:p>
            <a:pPr algn="l">
              <a:lnSpc>
                <a:spcPts val="2800"/>
              </a:lnSpc>
            </a:pPr>
            <a:r>
              <a:rPr lang="en-US" sz="2000">
                <a:solidFill>
                  <a:srgbClr val="000000"/>
                </a:solidFill>
                <a:latin typeface="Open Sauce"/>
                <a:ea typeface="Open Sauce"/>
                <a:cs typeface="Open Sauce"/>
                <a:sym typeface="Open Sauce"/>
              </a:rPr>
              <a:t>Declaration - </a:t>
            </a:r>
          </a:p>
          <a:p>
            <a:pPr algn="l">
              <a:lnSpc>
                <a:spcPts val="2800"/>
              </a:lnSpc>
            </a:pPr>
            <a:r>
              <a:rPr lang="en-US" sz="2000">
                <a:solidFill>
                  <a:srgbClr val="000000"/>
                </a:solidFill>
                <a:latin typeface="Open Sauce"/>
                <a:ea typeface="Open Sauce"/>
                <a:cs typeface="Open Sauce"/>
                <a:sym typeface="Open Sauce"/>
              </a:rPr>
              <a:t>int add(int, int); </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Function definition</a:t>
            </a:r>
            <a:r>
              <a:rPr lang="en-US" sz="2000">
                <a:solidFill>
                  <a:srgbClr val="000000"/>
                </a:solidFill>
                <a:latin typeface="Open Sauce"/>
                <a:ea typeface="Open Sauce"/>
                <a:cs typeface="Open Sauce"/>
                <a:sym typeface="Open Sauce"/>
              </a:rPr>
              <a:t> contains the actual code that specifies what the function does when it is called.</a:t>
            </a:r>
          </a:p>
          <a:p>
            <a:pPr algn="l">
              <a:lnSpc>
                <a:spcPts val="2800"/>
              </a:lnSpc>
            </a:pPr>
            <a:r>
              <a:rPr lang="en-US" sz="2000">
                <a:solidFill>
                  <a:srgbClr val="000000"/>
                </a:solidFill>
                <a:latin typeface="Open Sauce"/>
                <a:ea typeface="Open Sauce"/>
                <a:cs typeface="Open Sauce"/>
                <a:sym typeface="Open Sauce"/>
              </a:rPr>
              <a:t>Definition -</a:t>
            </a:r>
          </a:p>
          <a:p>
            <a:pPr algn="l">
              <a:lnSpc>
                <a:spcPts val="2800"/>
              </a:lnSpc>
            </a:pPr>
            <a:r>
              <a:rPr lang="en-US" sz="2000">
                <a:solidFill>
                  <a:srgbClr val="000000"/>
                </a:solidFill>
                <a:latin typeface="Open Sauce"/>
                <a:ea typeface="Open Sauce"/>
                <a:cs typeface="Open Sauce"/>
                <a:sym typeface="Open Sauce"/>
              </a:rPr>
              <a:t>int add(int a, int b) {</a:t>
            </a:r>
          </a:p>
          <a:p>
            <a:pPr algn="l">
              <a:lnSpc>
                <a:spcPts val="2800"/>
              </a:lnSpc>
            </a:pPr>
            <a:r>
              <a:rPr lang="en-US" sz="2000">
                <a:solidFill>
                  <a:srgbClr val="000000"/>
                </a:solidFill>
                <a:latin typeface="Open Sauce"/>
                <a:ea typeface="Open Sauce"/>
                <a:cs typeface="Open Sauce"/>
                <a:sym typeface="Open Sauce"/>
              </a:rPr>
              <a:t>    return a + b;</a:t>
            </a:r>
          </a:p>
          <a:p>
            <a:pPr algn="l">
              <a:lnSpc>
                <a:spcPts val="2800"/>
              </a:lnSpc>
            </a:pPr>
            <a:r>
              <a:rPr lang="en-US" sz="2000">
                <a:solidFill>
                  <a:srgbClr val="000000"/>
                </a:solidFill>
                <a:latin typeface="Open Sauce"/>
                <a:ea typeface="Open Sauce"/>
                <a:cs typeface="Open Sauce"/>
                <a:sym typeface="Open Sauce"/>
              </a:rPr>
              <a:t>}</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Parameters</a:t>
            </a:r>
            <a:r>
              <a:rPr lang="en-US" sz="2000">
                <a:solidFill>
                  <a:srgbClr val="000000"/>
                </a:solidFill>
                <a:latin typeface="Open Sauce"/>
                <a:ea typeface="Open Sauce"/>
                <a:cs typeface="Open Sauce"/>
                <a:sym typeface="Open Sauce"/>
              </a:rPr>
              <a:t> are placeholders (variables) defined in the function signature that receive input values from the caller when the function is invoked. </a:t>
            </a:r>
          </a:p>
          <a:p>
            <a:pPr algn="l" marL="431805" indent="-215903" lvl="1">
              <a:lnSpc>
                <a:spcPts val="2800"/>
              </a:lnSpc>
              <a:buFont typeface="Arial"/>
              <a:buChar char="•"/>
            </a:pPr>
            <a:r>
              <a:rPr lang="en-US" b="true" sz="2000">
                <a:solidFill>
                  <a:srgbClr val="000000"/>
                </a:solidFill>
                <a:latin typeface="Open Sauce Bold"/>
                <a:ea typeface="Open Sauce Bold"/>
                <a:cs typeface="Open Sauce Bold"/>
                <a:sym typeface="Open Sauce Bold"/>
              </a:rPr>
              <a:t>Formal Parameters</a:t>
            </a:r>
            <a:r>
              <a:rPr lang="en-US" sz="2000">
                <a:solidFill>
                  <a:srgbClr val="000000"/>
                </a:solidFill>
                <a:latin typeface="Open Sauce"/>
                <a:ea typeface="Open Sauce"/>
                <a:cs typeface="Open Sauce"/>
                <a:sym typeface="Open Sauce"/>
              </a:rPr>
              <a:t>: Variables declared in the function definition's parameter list (e.g., a and b in the add function definition above).</a:t>
            </a:r>
          </a:p>
          <a:p>
            <a:pPr algn="l" marL="431805" indent="-215903" lvl="1">
              <a:lnSpc>
                <a:spcPts val="2800"/>
              </a:lnSpc>
              <a:buFont typeface="Arial"/>
              <a:buChar char="•"/>
            </a:pPr>
            <a:r>
              <a:rPr lang="en-US" b="true" sz="2000">
                <a:solidFill>
                  <a:srgbClr val="000000"/>
                </a:solidFill>
                <a:latin typeface="Open Sauce Bold"/>
                <a:ea typeface="Open Sauce Bold"/>
                <a:cs typeface="Open Sauce Bold"/>
                <a:sym typeface="Open Sauce Bold"/>
              </a:rPr>
              <a:t>Arguments: </a:t>
            </a:r>
            <a:r>
              <a:rPr lang="en-US" sz="2000">
                <a:solidFill>
                  <a:srgbClr val="000000"/>
                </a:solidFill>
                <a:latin typeface="Open Sauce"/>
                <a:ea typeface="Open Sauce"/>
                <a:cs typeface="Open Sauce"/>
                <a:sym typeface="Open Sauce"/>
              </a:rPr>
              <a:t>The actual values passed to the function during the call (e.g., in add(5, 3), 5 and 3 are the arguments).</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Parameters can be passed by value (a copy is made) or by reference (the original memory location is accessed). </a:t>
            </a:r>
          </a:p>
          <a:p>
            <a:pPr algn="l">
              <a:lnSpc>
                <a:spcPts val="2800"/>
              </a:lnSpc>
            </a:pPr>
          </a:p>
          <a:p>
            <a:pPr algn="l">
              <a:lnSpc>
                <a:spcPts val="2800"/>
              </a:lnSpc>
            </a:pPr>
            <a:r>
              <a:rPr lang="en-US" sz="2000">
                <a:solidFill>
                  <a:srgbClr val="000000"/>
                </a:solidFill>
                <a:latin typeface="Open Sauce"/>
                <a:ea typeface="Open Sauce"/>
                <a:cs typeface="Open Sauce"/>
                <a:sym typeface="Open Sauce"/>
              </a:rPr>
              <a:t>The </a:t>
            </a:r>
            <a:r>
              <a:rPr lang="en-US" sz="2000" b="true">
                <a:solidFill>
                  <a:srgbClr val="000000"/>
                </a:solidFill>
                <a:latin typeface="Open Sauce Bold"/>
                <a:ea typeface="Open Sauce Bold"/>
                <a:cs typeface="Open Sauce Bold"/>
                <a:sym typeface="Open Sauce Bold"/>
              </a:rPr>
              <a:t>return type </a:t>
            </a:r>
            <a:r>
              <a:rPr lang="en-US" sz="2000">
                <a:solidFill>
                  <a:srgbClr val="000000"/>
                </a:solidFill>
                <a:latin typeface="Open Sauce"/>
                <a:ea typeface="Open Sauce"/>
                <a:cs typeface="Open Sauce"/>
                <a:sym typeface="Open Sauce"/>
              </a:rPr>
              <a:t>specifies the data type of the value that the function sends back to the calling code after completing its task. </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If a function does not return a value, the keyword </a:t>
            </a:r>
            <a:r>
              <a:rPr lang="en-US" b="true" sz="2000">
                <a:solidFill>
                  <a:srgbClr val="000000"/>
                </a:solidFill>
                <a:latin typeface="Open Sauce Bold"/>
                <a:ea typeface="Open Sauce Bold"/>
                <a:cs typeface="Open Sauce Bold"/>
                <a:sym typeface="Open Sauce Bold"/>
              </a:rPr>
              <a:t>void</a:t>
            </a:r>
            <a:r>
              <a:rPr lang="en-US" sz="2000">
                <a:solidFill>
                  <a:srgbClr val="000000"/>
                </a:solidFill>
                <a:latin typeface="Open Sauce"/>
                <a:ea typeface="Open Sauce"/>
                <a:cs typeface="Open Sauce"/>
                <a:sym typeface="Open Sauce"/>
              </a:rPr>
              <a:t> is used as the return type.</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The return statement is used to exit a function and pass the value back to the caller. </a:t>
            </a:r>
          </a:p>
          <a:p>
            <a:pPr algn="l" marL="0" indent="0" lvl="0">
              <a:lnSpc>
                <a:spcPts val="280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19793" y="641858"/>
            <a:ext cx="15430500" cy="1217295"/>
          </a:xfrm>
          <a:prstGeom prst="rect">
            <a:avLst/>
          </a:prstGeom>
        </p:spPr>
        <p:txBody>
          <a:bodyPr anchor="t" rtlCol="false" tIns="0" lIns="0" bIns="0" rIns="0">
            <a:spAutoFit/>
          </a:bodyPr>
          <a:lstStyle/>
          <a:p>
            <a:pPr algn="l" marL="0" indent="0" lvl="0">
              <a:lnSpc>
                <a:spcPts val="10080"/>
              </a:lnSpc>
              <a:spcBef>
                <a:spcPct val="0"/>
              </a:spcBef>
            </a:pPr>
            <a:r>
              <a:rPr lang="en-US" sz="7200">
                <a:solidFill>
                  <a:srgbClr val="000000"/>
                </a:solidFill>
                <a:latin typeface="Open Sauce"/>
                <a:ea typeface="Open Sauce"/>
                <a:cs typeface="Open Sauce"/>
                <a:sym typeface="Open Sauce"/>
              </a:rPr>
              <a:t>Functions</a:t>
            </a:r>
          </a:p>
        </p:txBody>
      </p:sp>
      <p:sp>
        <p:nvSpPr>
          <p:cNvPr name="TextBox 3" id="3"/>
          <p:cNvSpPr txBox="true"/>
          <p:nvPr/>
        </p:nvSpPr>
        <p:spPr>
          <a:xfrm rot="0">
            <a:off x="1119793" y="2297003"/>
            <a:ext cx="16048415" cy="7435849"/>
          </a:xfrm>
          <a:prstGeom prst="rect">
            <a:avLst/>
          </a:prstGeom>
        </p:spPr>
        <p:txBody>
          <a:bodyPr anchor="t" rtlCol="false" tIns="0" lIns="0" bIns="0" rIns="0">
            <a:spAutoFit/>
          </a:bodyPr>
          <a:lstStyle/>
          <a:p>
            <a:pPr algn="l">
              <a:lnSpc>
                <a:spcPts val="2800"/>
              </a:lnSpc>
            </a:pPr>
            <a:r>
              <a:rPr lang="en-US" sz="2000">
                <a:solidFill>
                  <a:srgbClr val="000000"/>
                </a:solidFill>
                <a:latin typeface="Open Sauce"/>
                <a:ea typeface="Open Sauce"/>
                <a:cs typeface="Open Sauce"/>
                <a:sym typeface="Open Sauce"/>
              </a:rPr>
              <a:t>A </a:t>
            </a:r>
            <a:r>
              <a:rPr lang="en-US" sz="2000" b="true">
                <a:solidFill>
                  <a:srgbClr val="000000"/>
                </a:solidFill>
                <a:latin typeface="Open Sauce Bold"/>
                <a:ea typeface="Open Sauce Bold"/>
                <a:cs typeface="Open Sauce Bold"/>
                <a:sym typeface="Open Sauce Bold"/>
              </a:rPr>
              <a:t>function call</a:t>
            </a:r>
            <a:r>
              <a:rPr lang="en-US" sz="2000">
                <a:solidFill>
                  <a:srgbClr val="000000"/>
                </a:solidFill>
                <a:latin typeface="Open Sauce"/>
                <a:ea typeface="Open Sauce"/>
                <a:cs typeface="Open Sauce"/>
                <a:sym typeface="Open Sauce"/>
              </a:rPr>
              <a:t> tells the CPU to interrupt the current function and execute another function. The CPU essentially “puts a bookmark” at the current point of execution, executes the function named in the function call, and then </a:t>
            </a:r>
            <a:r>
              <a:rPr lang="en-US" sz="2000" b="true">
                <a:solidFill>
                  <a:srgbClr val="000000"/>
                </a:solidFill>
                <a:latin typeface="Open Sauce Bold"/>
                <a:ea typeface="Open Sauce Bold"/>
                <a:cs typeface="Open Sauce Bold"/>
                <a:sym typeface="Open Sauce Bold"/>
              </a:rPr>
              <a:t>returns</a:t>
            </a:r>
            <a:r>
              <a:rPr lang="en-US" sz="2000">
                <a:solidFill>
                  <a:srgbClr val="000000"/>
                </a:solidFill>
                <a:latin typeface="Open Sauce"/>
                <a:ea typeface="Open Sauce"/>
                <a:cs typeface="Open Sauce"/>
                <a:sym typeface="Open Sauce"/>
              </a:rPr>
              <a:t> to the point it bookmarked and resumes execution.</a:t>
            </a:r>
          </a:p>
          <a:p>
            <a:pPr algn="l">
              <a:lnSpc>
                <a:spcPts val="2800"/>
              </a:lnSpc>
            </a:pPr>
          </a:p>
          <a:p>
            <a:pPr algn="l">
              <a:lnSpc>
                <a:spcPts val="2800"/>
              </a:lnSpc>
            </a:pPr>
            <a:r>
              <a:rPr lang="en-US" sz="2000">
                <a:solidFill>
                  <a:srgbClr val="000000"/>
                </a:solidFill>
                <a:latin typeface="Open Sauce"/>
                <a:ea typeface="Open Sauce"/>
                <a:cs typeface="Open Sauce"/>
                <a:sym typeface="Open Sauce"/>
              </a:rPr>
              <a:t>Every executable program must have a function named main() (which is where the program starts execution when it is run).</a:t>
            </a:r>
          </a:p>
          <a:p>
            <a:pPr algn="l">
              <a:lnSpc>
                <a:spcPts val="2800"/>
              </a:lnSpc>
            </a:pPr>
            <a:r>
              <a:rPr lang="en-US" sz="2000">
                <a:solidFill>
                  <a:srgbClr val="000000"/>
                </a:solidFill>
                <a:latin typeface="Open Sauce"/>
                <a:ea typeface="Open Sauce"/>
                <a:cs typeface="Open Sauce"/>
                <a:sym typeface="Open Sauce"/>
              </a:rPr>
              <a:t>Unlike other C++ functions, main() cannot be overloaded, declared as inline or static, or have its address taken. It also cannot be called from within the program itself. </a:t>
            </a:r>
          </a:p>
          <a:p>
            <a:pPr algn="l">
              <a:lnSpc>
                <a:spcPts val="2800"/>
              </a:lnSpc>
            </a:pPr>
            <a:r>
              <a:rPr lang="en-US" sz="2000" b="true">
                <a:solidFill>
                  <a:srgbClr val="000000"/>
                </a:solidFill>
                <a:latin typeface="Open Sauce Bold"/>
                <a:ea typeface="Open Sauce Bold"/>
                <a:cs typeface="Open Sauce Bold"/>
                <a:sym typeface="Open Sauce Bold"/>
              </a:rPr>
              <a:t>Your main function should return the value 0 if the program ran normally.</a:t>
            </a:r>
          </a:p>
          <a:p>
            <a:pPr algn="l">
              <a:lnSpc>
                <a:spcPts val="2800"/>
              </a:lnSpc>
            </a:pPr>
          </a:p>
          <a:p>
            <a:pPr algn="l">
              <a:lnSpc>
                <a:spcPts val="2800"/>
              </a:lnSpc>
            </a:pPr>
          </a:p>
          <a:p>
            <a:pPr algn="l">
              <a:lnSpc>
                <a:spcPts val="3080"/>
              </a:lnSpc>
            </a:pPr>
            <a:r>
              <a:rPr lang="en-US" sz="2200" b="true">
                <a:solidFill>
                  <a:srgbClr val="000000"/>
                </a:solidFill>
                <a:latin typeface="Open Sauce Bold"/>
                <a:ea typeface="Open Sauce Bold"/>
                <a:cs typeface="Open Sauce Bold"/>
                <a:sym typeface="Open Sauce Bold"/>
              </a:rPr>
              <a:t>Function Overloading</a:t>
            </a:r>
          </a:p>
          <a:p>
            <a:pPr algn="l">
              <a:lnSpc>
                <a:spcPts val="2800"/>
              </a:lnSpc>
            </a:pPr>
            <a:r>
              <a:rPr lang="en-US" sz="2000">
                <a:solidFill>
                  <a:srgbClr val="000000"/>
                </a:solidFill>
                <a:latin typeface="Open Sauce"/>
                <a:ea typeface="Open Sauce"/>
                <a:cs typeface="Open Sauce"/>
                <a:sym typeface="Open Sauce"/>
              </a:rPr>
              <a:t>Function overloading is a feature that allows multiple functions to have the same name but different parameters. The compiler determines which overloaded function to call at compile time based on the arguments provided in the function call.</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The functions must differ by the number, type, or order of their parameters.</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Function overloading is a form of compile-time polymorphism.</a:t>
            </a:r>
          </a:p>
          <a:p>
            <a:pPr algn="l" marL="431805" indent="-215903" lvl="1">
              <a:lnSpc>
                <a:spcPts val="2800"/>
              </a:lnSpc>
              <a:buFont typeface="Arial"/>
              <a:buChar char="•"/>
            </a:pPr>
            <a:r>
              <a:rPr lang="en-US" sz="2000">
                <a:solidFill>
                  <a:srgbClr val="000000"/>
                </a:solidFill>
                <a:latin typeface="Open Sauce"/>
                <a:ea typeface="Open Sauce"/>
                <a:cs typeface="Open Sauce"/>
                <a:sym typeface="Open Sauce"/>
              </a:rPr>
              <a:t>Functions cannot be overloaded based solely on their return type. </a:t>
            </a:r>
          </a:p>
          <a:p>
            <a:pPr algn="l">
              <a:lnSpc>
                <a:spcPts val="2800"/>
              </a:lnSpc>
            </a:pPr>
          </a:p>
          <a:p>
            <a:pPr algn="l">
              <a:lnSpc>
                <a:spcPts val="2800"/>
              </a:lnSpc>
            </a:pPr>
            <a:r>
              <a:rPr lang="en-US" sz="2000" b="true">
                <a:solidFill>
                  <a:srgbClr val="000000"/>
                </a:solidFill>
                <a:latin typeface="Open Sauce Bold"/>
                <a:ea typeface="Open Sauce Bold"/>
                <a:cs typeface="Open Sauce Bold"/>
                <a:sym typeface="Open Sauce Bold"/>
              </a:rPr>
              <a:t>Example of Function Overloading</a:t>
            </a:r>
          </a:p>
          <a:p>
            <a:pPr algn="l">
              <a:lnSpc>
                <a:spcPts val="2800"/>
              </a:lnSpc>
            </a:pPr>
            <a:r>
              <a:rPr lang="en-US" sz="2000">
                <a:solidFill>
                  <a:srgbClr val="000000"/>
                </a:solidFill>
                <a:latin typeface="Open Sauce"/>
                <a:ea typeface="Open Sauce"/>
                <a:cs typeface="Open Sauce"/>
                <a:sym typeface="Open Sauce"/>
              </a:rPr>
              <a:t>int max(int a, int b) { ... }</a:t>
            </a:r>
          </a:p>
          <a:p>
            <a:pPr algn="l">
              <a:lnSpc>
                <a:spcPts val="2800"/>
              </a:lnSpc>
            </a:pPr>
            <a:r>
              <a:rPr lang="en-US" sz="2000">
                <a:solidFill>
                  <a:srgbClr val="000000"/>
                </a:solidFill>
                <a:latin typeface="Open Sauce"/>
                <a:ea typeface="Open Sauce"/>
                <a:cs typeface="Open Sauce"/>
                <a:sym typeface="Open Sauce"/>
              </a:rPr>
              <a:t>double max(double x, double y) { ... }</a:t>
            </a:r>
          </a:p>
          <a:p>
            <a:pPr algn="l" marL="0" indent="0" lvl="0">
              <a:lnSpc>
                <a:spcPts val="280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DAHCxABzYmA</dc:identifier>
  <dcterms:modified xsi:type="dcterms:W3CDTF">2011-08-01T06:04:30Z</dcterms:modified>
  <cp:revision>1</cp:revision>
  <dc:title>C++ KT</dc:title>
</cp:coreProperties>
</file>