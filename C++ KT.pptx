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8288000" cy="10287000"/>
  <p:notesSz cx="6858000" cy="9144000"/>
  <p:embeddedFontLst>
    <p:embeddedFont>
      <p:font typeface="Open Sauce" charset="1" panose="00000500000000000000"/>
      <p:regular r:id="rId46"/>
    </p:embeddedFont>
    <p:embeddedFont>
      <p:font typeface="Open Sauce Bold" charset="1" panose="00000800000000000000"/>
      <p:regular r:id="rId47"/>
    </p:embeddedFont>
    <p:embeddedFont>
      <p:font typeface="Canva Sans Bold" charset="1" panose="020B0803030501040103"/>
      <p:regular r:id="rId48"/>
    </p:embeddedFont>
    <p:embeddedFont>
      <p:font typeface="Canva Sans" charset="1" panose="020B0503030501040103"/>
      <p:regular r:id="rId49"/>
    </p:embeddedFont>
    <p:embeddedFont>
      <p:font typeface="Open Sauce Bold Italics" charset="1" panose="00000800000000000000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2722115"/>
            <a:ext cx="15430500" cy="171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  <a:spcBef>
                <a:spcPct val="0"/>
              </a:spcBef>
            </a:pPr>
            <a:r>
              <a:rPr lang="en-US" sz="10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C++ KT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08613" y="4910585"/>
            <a:ext cx="11870774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Team - 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Aaditya Kumar Choudhary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Roushan Kumar Verma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Sneha Lahiri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50243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2157579"/>
            <a:ext cx="15430500" cy="750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Beginner: Foundational Concepts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Basics: </a:t>
            </a: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Variables, Data Types (int, float, char, bool), and Input/Output using cin and cout.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Operators: </a:t>
            </a: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Arithmetic, Relational, Logical, and Bitwise operators. 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Control Flow: </a:t>
            </a: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if-else statements, switch-case, and Loops (for, while, do-while)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Functions:</a:t>
            </a: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Declaration, definition, parameters, return types, and Function Overloading. 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Intermediate: Data Management &amp; OOP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Compound Data Types: </a:t>
            </a: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Arrays, Strings, Structures (structs), and Enumerations (Enums).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Memory Management:</a:t>
            </a: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Pointers (address-of and dereference operators) and References.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Dynamic Memory: </a:t>
            </a: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Using new and delete to allocate memory on the heap.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Object-Oriented Programming (OOP):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Classes and Objects:</a:t>
            </a: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Encapsulation, Access Specifiers (public, private, protected).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Constructors &amp; Destructors: </a:t>
            </a: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Managing object lifetimes.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Inheritance: </a:t>
            </a: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Reusing code through base and derived classes.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Polymorphism:</a:t>
            </a: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Virtual functions and abstract classes.</a:t>
            </a:r>
          </a:p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8350" y="358140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Va</a:t>
            </a: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riables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8350" y="1946489"/>
            <a:ext cx="16751300" cy="8453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Literals are values that are placed directly into source code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Disadvantage - Literals are read only-values that can't be modified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If we want to store data in memory we need variables.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variable is an object that has a name and an object represents a region of storage(typically RAM or a CPU register)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Process of specifying an initial value for an object is called initialization and the syntax used to initialize an object is called an initializer.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Syntax - data_type variable_name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Different forms of initialization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 a;         // default-initialization (no initializer) , contains garbage value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// Traditional initialization forms: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 b = 5;     // copy-initialization (initial value after equals sign)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 c ( 6 );   // direct-initialization (initial value in parenthesis)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// Modern initialization forms (preferred):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 d { 7 };   // direct-list-initialization (initial value in braces)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 e {};      // value-initialization (empty braces)</a:t>
            </a:r>
          </a:p>
          <a:p>
            <a:pPr algn="l">
              <a:lnSpc>
                <a:spcPts val="2800"/>
              </a:lnSpc>
            </a:pP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2144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Va</a:t>
            </a: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riables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97289"/>
            <a:ext cx="15430500" cy="7396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List-initialization disallows narrowing conversions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 main()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{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// An integer can only hold non-fractional values.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// Initializing an int with fractional value 4.5 requires the compiler to convert 4.5 to a value an int can hold.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// Such a conversion is a narrowing conversion, since the fractional part of the value will be lost.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int w1 { 4.5 }; // compile error: list-init does not allow narrowing conversion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int w2 = 4.5; // compiles: w2 copy-initialized to value 4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int w3 (4.5); // compiles: w3 direct-initialized to value 4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return 0;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}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Naming rules for variables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cannot start with a number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 spaces allowed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cannot use reserved keywords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05417" y="2777647"/>
          <a:ext cx="16253883" cy="6691842"/>
        </p:xfrm>
        <a:graphic>
          <a:graphicData uri="http://schemas.openxmlformats.org/drawingml/2006/table">
            <a:tbl>
              <a:tblPr/>
              <a:tblGrid>
                <a:gridCol w="2177563"/>
                <a:gridCol w="1312212"/>
                <a:gridCol w="2506445"/>
                <a:gridCol w="4019028"/>
                <a:gridCol w="3676202"/>
                <a:gridCol w="2562434"/>
              </a:tblGrid>
              <a:tr h="10532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Storage Class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Keyword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Storage Location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Scope/Visibility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Lifetime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Default Initial Value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32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Automatic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auto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Memory (Stack)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Local (within the block/function)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Until the block/function terminates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Garbage value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32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External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extern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Memory (RAM)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Global (throughout the program/multiple files)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Until the program terminates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Zero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32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Static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static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Memory (RAM)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Local (within the block/function, or file-wide if global)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Until the program terminates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Zero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57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Register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register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CPU Register (if available, otherwise RAM)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Local (within the block/function)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Until the block/function terminates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Garbage value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32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Mutable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mutable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Memory (depends on the object)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Class (can only be used on class data members)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Same as the object it belongs to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Undefined (garbage)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271992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Va</a:t>
            </a: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riables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5417" y="2025068"/>
            <a:ext cx="15730575" cy="313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Storage Classes - specifiers that control the lifetime, scope (visibility), and memory location of variables and functions within a program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98458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Data Types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85645"/>
            <a:ext cx="16230600" cy="482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Can be primitive(built in), derived or user-defined</a:t>
            </a:r>
          </a:p>
          <a:p>
            <a:pPr algn="l">
              <a:lnSpc>
                <a:spcPts val="2940"/>
              </a:lnSpc>
            </a:pPr>
          </a:p>
          <a:p>
            <a:pPr algn="l" marL="453395" indent="-226697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 (Integer) →  4 bytes → can be modified with short(2B), long(8B), signed(4B/8B), and unsigned(8B)</a:t>
            </a:r>
          </a:p>
          <a:p>
            <a:pPr algn="l" marL="453395" indent="-226697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float (Floating Point) → 4 bytes → Used for single-precision decimal numbers, offering about 7 decimal digits of precision</a:t>
            </a:r>
          </a:p>
          <a:p>
            <a:pPr algn="l" marL="453395" indent="-226697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double (Double Floating Point) → 8 bytes → Used for double-precision decimal numbers, offering greater precision than float (about 15 decimal digits)</a:t>
            </a:r>
          </a:p>
          <a:p>
            <a:pPr algn="l" marL="453395" indent="-226697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char (Character) → 1 byte → specified within ‘ ‘ → can be signed/unsigned(default)</a:t>
            </a:r>
          </a:p>
          <a:p>
            <a:pPr algn="l" marL="453395" indent="-226697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bool (Boolean) → 1 byte → True/False</a:t>
            </a:r>
          </a:p>
          <a:p>
            <a:pPr algn="l" marL="453395" indent="-226697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void (Valueless) →   Represents the absence of a value → primarily used when functions do not return a value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Good Practice</a:t>
            </a: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- 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Fixed-Width Integers: Use uint32_t or uint64_t (from &lt;cstdint&gt;) when exact size is critical for cross-platform compatibility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445436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I/O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2128998"/>
            <a:ext cx="15430500" cy="669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&lt;iostream&gt;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library deals with basic input and output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cin → stands for character input → reads input from keyboard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cout → stands for character output → sends data to the console to be printed as text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cerr → standard error stream → used for unbuffered error messages ( displays instantly on screen 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clog → standard log stream → used for buffered log messages ( stores temporarily in buffered memory )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iftsream → input file stream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ofstream → output file stream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fstream → both reading and writing to files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&lt;&lt; → insertion operator → used to send data to an output stream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&gt;&gt; → extraction operator → used to read data from an input stream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endl → inserts newline character and forces stream to be flushed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endl is slower than ‘\n’ because endl forces a flush of the buffer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endl → used for real time logging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‘\n’ → gives higher performance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487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Operators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47925"/>
            <a:ext cx="15430500" cy="7301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Types of operators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- A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rithmetic, Relational, Logical, Assignment and Bitwise operators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Arithmetic operators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→ +, -, *, /, %, ++, --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If we have two integers, and want to divide them without losing the fraction → Using static_cast&lt;&gt; we can do floating point division with integers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#include &lt;iostream&gt;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 main(){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constexpr int x{ 7 };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constexpr int y{ 4 };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<![CDATA[    std::cout << "int / int = " << x / y << '\n';]]>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<![CDATA[    std::cout << "double / int = " << static_cast<double>(x) / y << '\n';]]>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<![CDATA[    std::cout << "int / double = " << x / static_cast<double>(y) << '\n';]]>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<![CDATA[    std::cout << "double / double = " << static_cast<double>(x) / static_cast<double>(y) << '\n';return 0;}]]>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Result: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 / int = 1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double / int = 1.75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 / double = 1.75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double / double = 1.75</a:t>
            </a:r>
          </a:p>
          <a:p>
            <a:pPr algn="l">
              <a:lnSpc>
                <a:spcPts val="2800"/>
              </a:lnSpc>
            </a:pP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If either operand is a floating point number, the result will be floating point division, not integer division.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487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Operators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47925"/>
            <a:ext cx="15430500" cy="528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Relational operators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→ ==, !=, &gt;, &lt;, &gt;=, &lt;=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Logical operators 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 &amp;&amp;, ||, !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 A &amp;&amp; B, if A is false, B is never checked, helpful in avoiding crashes (!ptr &amp;&amp; ptr-&gt;next!=null) ⟶ Short circuiting 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Assignment operators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→ +=,-=.*=,/=,%=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Bitwise operators 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&amp; → checking if a bit is set/clear a bit,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| → setting a bit,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^ → toggle a bit,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~ → complement,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&lt;&lt; → left shift,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&gt;&gt; → right shift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809943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Operators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2372043"/>
            <a:ext cx="15430500" cy="600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Bitwise for Optimization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Bit-masking is used in systems programming to store 8 boolean "flags" in a single char to save memory.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mask defines which bits you want to keep, and which bits you want to clear.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Masking is the act of applying a mask to a value. Below is an example of extracting a subset of the bits in the value: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Mask:   00001111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Value:  01010101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Applying the mask to the value means that we want to clear the first (higher) 4 bits, and keep the last (lower) 4 bits. Thus we have extracted the lower 4 bits. The result is: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Mask:   00001111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Value:  01010101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Result: 00000101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6210" y="518717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Control 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3045" y="2297003"/>
            <a:ext cx="15430500" cy="5986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Three types of control flow statements - Conditional statements, Loops, and Jump statements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Conditional statements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- if, if-else, else if, switch case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If-else → Conditions are checked sequentially from top to bottom.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Switch case → Jumps directly to the matching case, often using a jump table for optimization, which can be faster with many cases.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Loop statements 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- for(range based/indexed based), while, do-while 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for: when you know the count.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while: repeat while condition true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do-while: runs at least once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Jump statements 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- break, continue, return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break - used to immediately terminate prematurely the current loop 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continue - used within loops to skip the current iteration and proceed directly to the next iteration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return - used to terminate the execution of the current function or method and return control to the calling code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6173" y="291379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Functions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6173" y="1757076"/>
            <a:ext cx="16613127" cy="8100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Functions are 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reusable sequence of statements designed to do a particular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job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</a:t>
            </a: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function declaration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introduces a function to the compiler by specifying its return type, name, and parameters without the body, and is used when the function is defined later or in another file.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Declaration -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 add(int, int); 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Function definition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contains the actual code that specifies what the function does when it is called.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Definition -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 add(int a, int b) {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return a + b;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}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Parameters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are placeholders (variables) defined in the function signature that receive input values from the caller when the function is invoked. 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Formal Parameters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Variables declared in the function definition's parameter list (e.g., a and b in the add function definition above).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Arguments: 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actual values passed to the function during the call (e.g., in add(5, 3), 5 and 3 are the arguments).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Parameters can be passed by value (a copy is made) or by reference (the original memory location is accessed). 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</a:t>
            </a: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return type 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specifies the data type of the value that the function sends back to the calling code after completing its task. 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If a function does not return a value, the keyword </a:t>
            </a:r>
            <a:r>
              <a:rPr lang="en-US" b="true" sz="2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void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is used as the return type.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return statement is used to exit a function and pass the value back to the caller. 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19793" y="641858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Functions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19793" y="2297003"/>
            <a:ext cx="16048415" cy="704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</a:t>
            </a: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function call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tells the CPU to interrupt the current function and execute another function. The CPU essentially “puts a bookmark” at the current point of execution, executes the function named in the function call, and then </a:t>
            </a: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returns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to the point it bookmarked and resumes execution.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Every executable program must have a function named main() (which is where the program starts execution when it is run).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Unlike other C++ functions, main() cannot be overloaded, declared as inline or static, or have its address taken. It also cannot be called from within the program itself. 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Your main function should return the value 0 if the program ran normally.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Function Overloading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Function overloading is a feature in some programming languages (like C++ and Java) that allows multiple functions to have the same name but different parameters. 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functions must differ by the number, type, or order of their parameters.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Function overloading is a form of compile-time polymorphism.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Functions cannot be overloaded based solely on their return type. 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Example of Function Overloading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 max(int a, int b) { ... }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double max(double x, double y) { ... }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6025" y="733425"/>
            <a:ext cx="16333225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Arrays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26025" y="1997517"/>
            <a:ext cx="17422971" cy="497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 array is a collection of elements of the same data type stored in contiguous memory locations.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5621" y="2584209"/>
            <a:ext cx="5915948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b="true" sz="31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</a:t>
            </a:r>
            <a:r>
              <a:rPr lang="en-US" b="true" sz="31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Arrays Are Needed?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6025" y="3088761"/>
            <a:ext cx="103814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Suppose we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want to store 100 student marks.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34934" y="3545961"/>
            <a:ext cx="9898885" cy="94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27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</a:t>
            </a:r>
            <a:r>
              <a:rPr lang="en-US" sz="27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ithout array:  int m1, m2, m3, m4, .... m100;</a:t>
            </a:r>
          </a:p>
          <a:p>
            <a:pPr algn="l">
              <a:lnSpc>
                <a:spcPts val="3782"/>
              </a:lnSpc>
            </a:pPr>
            <a:r>
              <a:rPr lang="en-US" sz="27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Using array:  int marks[100];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4519" y="4540568"/>
            <a:ext cx="288623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Dec</a:t>
            </a:r>
            <a:r>
              <a:rPr lang="en-US" sz="2900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900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ara</a:t>
            </a:r>
            <a:r>
              <a:rPr lang="en-US" sz="2900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tio</a:t>
            </a:r>
            <a:r>
              <a:rPr lang="en-US" sz="2900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90752" y="4635818"/>
            <a:ext cx="4728964" cy="88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 arr[5];// 1D array 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 arr[2][3];// 2D array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6025" y="5427028"/>
            <a:ext cx="2993549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Initi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alization: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90752" y="5443538"/>
            <a:ext cx="631666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 arr[5] = {10,20,30,40,50};//size is 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29204" y="5877848"/>
            <a:ext cx="1528714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 arr[] = {10,20,30,40,50};//compiler will automatically detect the size of array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4519" y="6302028"/>
            <a:ext cx="2312829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29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dexing 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13237" y="6311553"/>
            <a:ext cx="7283996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Array always starts from index 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17347" y="6794802"/>
            <a:ext cx="5781358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ample : arr[0] = first element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arr[1] = second element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6025" y="7711757"/>
            <a:ext cx="16733275" cy="1016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Compiler Calculates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ress:  Address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 arr[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] = Bas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Address + (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×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size_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f_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a_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ype)</a:t>
            </a:r>
          </a:p>
          <a:p>
            <a:pPr algn="l">
              <a:lnSpc>
                <a:spcPts val="406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595674" y="8207057"/>
            <a:ext cx="931179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Example: arr[0] = 1000// Base address is 1000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arr[1] = 1000 + (1×4) = 1004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arr[2] = 1000 + (2×4) = 1008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5430" y="518745"/>
            <a:ext cx="2683986" cy="122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9928" y="1559560"/>
            <a:ext cx="13490787" cy="8543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string is a sequence of characters stored in memory.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Example of characters: H e l l o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C++ there are two types of strings: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1. C-style string (Character array)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 : 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char str[6] = "Hello";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Here:H e l l o \0 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\0 = null character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C++ String (std::string)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is from the string class in STL.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Example:#include &lt;string&gt;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string name = "Hello";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is easier and safer than character arrays.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Null Character (\0): \0 tells the compiler where string ends.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Example:  char str[6] = "Hello";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Memory representation: 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Index    0     1     2     3     4     5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Value    H    e     l       l      o    \0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55229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Inpu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 fo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rings :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3986" y="1485265"/>
            <a:ext cx="13630219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There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t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mm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ways.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Method 1 — Using cin    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cin&gt;&gt;name;     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Input: Aaditya Kumar  ,   Output stored: Aaditya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Because 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cin stops at space.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Method 2 — Using getline()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read complete line including spaces.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getline(cin, name);   Input: Aaditya Kumar  ,  Stored: Aaditya Kumar</a:t>
            </a:r>
          </a:p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563110"/>
            <a:ext cx="596890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ring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ions 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15400" y="5086350"/>
            <a:ext cx="10192654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Access characters : cout &lt;&lt; s[0];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Modify characters : s[0] = 'Y';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1542" y="5958786"/>
            <a:ext cx="446524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String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Func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tio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 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4366" y="6482026"/>
            <a:ext cx="13555565" cy="306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eng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h(): Re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urns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of 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characters ,cou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&lt;&lt; s.l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ng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h();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size() : 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Same as length, cout&lt;&lt;s.size();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append() :Adds string at the end, s1.append(s2);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Concatenation (+) : Add multiple string and return new string , 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string c = a + b;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substr() :Extract part of string, s.substr(i,j); // i is included and j is excluded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find() : Find position of substring, s.find("gram");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9174" y="660504"/>
            <a:ext cx="7828756" cy="122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Structure</a:t>
            </a:r>
            <a:r>
              <a:rPr lang="en-US" b="true" sz="7200" strike="noStrike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7200" strike="noStrike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(struct)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9174" y="1830163"/>
            <a:ext cx="15681035" cy="769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structure is a user-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efine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t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ype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hat groups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fferen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types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varia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les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og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her.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 Problem: Suppose we want to store student information.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Each student has: Name , Roll number ,Marks</a:t>
            </a: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Without struct:  string name;</a:t>
            </a: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 int roll;</a:t>
            </a: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 float marks;</a:t>
            </a: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But if there are 100 students, this becomes messy.</a:t>
            </a: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So we should create a structure.</a:t>
            </a:r>
          </a:p>
          <a:p>
            <a:pPr algn="l" marL="626112" indent="-313056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Syntax : 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struct         structure_name {</a:t>
            </a: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data_type member1;</a:t>
            </a: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data_type member2;</a:t>
            </a: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data_type member3;</a:t>
            </a: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};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C we cannot define function or operator inside struct but in C++ we can.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8465" y="723416"/>
            <a:ext cx="15667676" cy="836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C we must have to write struct before its use everywhere but in case of C++ we only have to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 at the time of struct definition.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Creating Structure Variables :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After defin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ng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 s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ructur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create var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ables.</a:t>
            </a: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Example:  Studen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s1;</a:t>
            </a: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 s1 is an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ject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 structure Stu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Accessing Structure Members</a:t>
            </a: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use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 dot operator (.)</a:t>
            </a: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structure_name.member_variable</a:t>
            </a: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structure_name.member_function</a:t>
            </a:r>
          </a:p>
          <a:p>
            <a:pPr algn="l" marL="626112" indent="-313056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Structure Initialization  :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can initialize structure directly.</a:t>
            </a: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</a:t>
            </a: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Example:Student s1 = {val1, val2, val3};</a:t>
            </a:r>
          </a:p>
          <a:p>
            <a:pPr algn="l" marL="626112" indent="-313056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 members of a single object get stored together in memory.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By default all the members and functions are public. </a:t>
            </a: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4734" y="500200"/>
            <a:ext cx="9197921" cy="122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Enumer</a:t>
            </a:r>
            <a:r>
              <a:rPr lang="en-US" b="true" sz="7200" strike="noStrike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7200" strike="noStrike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tion</a:t>
            </a:r>
            <a:r>
              <a:rPr lang="en-US" b="true" sz="7200" strike="noStrike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7200" strike="noStrike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b="true" sz="7200" strike="noStrike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</a:t>
            </a:r>
            <a:r>
              <a:rPr lang="en-US" b="true" sz="7200" strike="noStrike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um)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63549" y="1669859"/>
            <a:ext cx="15801263" cy="855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Enumeration (enum) in C++ is a user-define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ata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type th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lows us to ass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gn names 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 a se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of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eger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nstants so the code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ecomes m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 rea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able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m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0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aningful.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Why enum is Needed?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Suppose in a grocery delivery app there are different types of users: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Customer , Delivery Partner ,Admin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Without enum : We might store user type using numbers.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 userType = 1;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Problem : When someone reads the code, they don't know what 1 means.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1 → Customer ?  , 1 → Admin ? , 1 → Delivery Partner ?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So the code becomes confusing.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Using enum We define an enumeration: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enum UserType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{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CUSTOMER,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DELIVERY_PARTNER,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ADMIN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};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Now we write: UserType user = CUSTOMER;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Now the code is clear and readable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0439" y="348621"/>
            <a:ext cx="3315335" cy="122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Pointer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525270"/>
            <a:ext cx="15667676" cy="7733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pointer is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var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mem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address of ano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 variable.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Declaring a Pointer : data_type    *pointer_name;</a:t>
            </a:r>
          </a:p>
          <a:p>
            <a:pPr algn="l">
              <a:lnSpc>
                <a:spcPts val="3780"/>
              </a:lnSpc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Example:  int *p;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Address-of Operator &amp; :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address-of operator gives the memory address of a variable.</a:t>
            </a:r>
          </a:p>
          <a:p>
            <a:pPr algn="l">
              <a:lnSpc>
                <a:spcPts val="3780"/>
              </a:lnSpc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Example:  int x = 10;</a:t>
            </a:r>
          </a:p>
          <a:p>
            <a:pPr algn="l">
              <a:lnSpc>
                <a:spcPts val="3780"/>
              </a:lnSpc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cout &lt;&lt; &amp;x;</a:t>
            </a:r>
          </a:p>
          <a:p>
            <a:pPr algn="l">
              <a:lnSpc>
                <a:spcPts val="3780"/>
              </a:lnSpc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Output (example): 0x61ff08</a:t>
            </a:r>
          </a:p>
          <a:p>
            <a:pPr algn="l">
              <a:lnSpc>
                <a:spcPts val="3780"/>
              </a:lnSpc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This is the address where x is stored.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Assigning Address to Pointer :</a:t>
            </a:r>
          </a:p>
          <a:p>
            <a:pPr algn="l">
              <a:lnSpc>
                <a:spcPts val="3780"/>
              </a:lnSpc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Example: int x = 10;</a:t>
            </a:r>
          </a:p>
          <a:p>
            <a:pPr algn="l">
              <a:lnSpc>
                <a:spcPts val="3780"/>
              </a:lnSpc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int *p = &amp;x;</a:t>
            </a:r>
          </a:p>
          <a:p>
            <a:pPr algn="l">
              <a:lnSpc>
                <a:spcPts val="3780"/>
              </a:lnSpc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Meaning: 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 stores address of x</a:t>
            </a:r>
          </a:p>
          <a:p>
            <a:pPr algn="l">
              <a:lnSpc>
                <a:spcPts val="3780"/>
              </a:lnSpc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Memory representation:</a:t>
            </a:r>
          </a:p>
          <a:p>
            <a:pPr algn="l">
              <a:lnSpc>
                <a:spcPts val="3780"/>
              </a:lnSpc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Variable   Address   Value</a:t>
            </a:r>
          </a:p>
          <a:p>
            <a:pPr algn="l">
              <a:lnSpc>
                <a:spcPts val="3780"/>
              </a:lnSpc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x          1000          10</a:t>
            </a:r>
          </a:p>
          <a:p>
            <a:pPr algn="l">
              <a:lnSpc>
                <a:spcPts val="3780"/>
              </a:lnSpc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p          2000        1000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4574" y="603188"/>
            <a:ext cx="16509272" cy="856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3" indent="-291467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Dereference Operator * : </a:t>
            </a: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* operator is also use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ccess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va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ue s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ored a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address.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cout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&lt;&lt; *p;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Explanat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on: p con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ains address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of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*p means go t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that a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dress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ge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value</a:t>
            </a:r>
          </a:p>
          <a:p>
            <a:pPr algn="l" marL="582933" indent="-291467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Size of a Pointer :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size of a pointer depends on the system architecture, not on 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data type it points to.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System Architecture                     Pointer Size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16-bit                                           2 bytes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32-bit                                           4 bytes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64-bit                                           8 bytes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Changing Value Using Pointer : 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Example:  int x = 10;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int *p = &amp;x;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*p = 50; // Now x become 50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Basic Pointer Arithmetic Operations : 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Allowed operations on pointers: ptr++ , ptr-- , ptr + n(constant) , ptr - n , ptr1 - ptr2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Not allowed: ptr * n , ptr / n , ptr % n , ptr1+ptr2 , ptr1*ptr2  , ptr1/ptr2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3966" y="621665"/>
            <a:ext cx="16925334" cy="92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Wil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Pointer :  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wil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pointer is 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 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hat is dec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ut not in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ialized.</a:t>
            </a:r>
          </a:p>
          <a:p>
            <a:pPr algn="l">
              <a:lnSpc>
                <a:spcPts val="3360"/>
              </a:lnSpc>
            </a:pP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ints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 unknown or ran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om memor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 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loca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ion.</a:t>
            </a:r>
          </a:p>
          <a:p>
            <a:pPr algn="l">
              <a:lnSpc>
                <a:spcPts val="3360"/>
              </a:lnSpc>
            </a:pP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Exampl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:  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*p;   // wild pointer</a:t>
            </a:r>
          </a:p>
          <a:p>
            <a:pPr algn="l">
              <a:lnSpc>
                <a:spcPts val="3360"/>
              </a:lnSpc>
            </a:pP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*p = 10;  // dangerous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Null Pointer : 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null pointer is a pointer that points to nothing.</a:t>
            </a:r>
          </a:p>
          <a:p>
            <a:pPr algn="l">
              <a:lnSpc>
                <a:spcPts val="3360"/>
              </a:lnSpc>
            </a:pP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initialized using : nullptr</a:t>
            </a:r>
          </a:p>
          <a:p>
            <a:pPr algn="l">
              <a:lnSpc>
                <a:spcPts val="3360"/>
              </a:lnSpc>
            </a:pP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Example:  int *p = nullptr;</a:t>
            </a:r>
          </a:p>
          <a:p>
            <a:pPr algn="l">
              <a:lnSpc>
                <a:spcPts val="3360"/>
              </a:lnSpc>
            </a:pP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Dereferencing a null pointer is illegal.</a:t>
            </a:r>
          </a:p>
          <a:p>
            <a:pPr algn="l">
              <a:lnSpc>
                <a:spcPts val="3360"/>
              </a:lnSpc>
            </a:pP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*p   // runtime error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Dangling Pointer : 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dangling pointer is a pointer that points to memory that has already been freed or deleted.</a:t>
            </a:r>
          </a:p>
          <a:p>
            <a:pPr algn="l">
              <a:lnSpc>
                <a:spcPts val="3360"/>
              </a:lnSpc>
            </a:pP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 (dynamic memory) : int *p = new int(10);</a:t>
            </a:r>
          </a:p>
          <a:p>
            <a:pPr algn="l">
              <a:lnSpc>
                <a:spcPts val="3360"/>
              </a:lnSpc>
            </a:pP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             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delete p;</a:t>
            </a:r>
          </a:p>
          <a:p>
            <a:pPr algn="l">
              <a:lnSpc>
                <a:spcPts val="3360"/>
              </a:lnSpc>
            </a:pP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Now : p → memory that is already deleted</a:t>
            </a:r>
          </a:p>
          <a:p>
            <a:pPr algn="l">
              <a:lnSpc>
                <a:spcPts val="3360"/>
              </a:lnSpc>
            </a:pP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        So p becomes a dangling pointer.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Void Pointer : A void pointer is a pointer that can store the address of any data type.</a:t>
            </a:r>
          </a:p>
          <a:p>
            <a:pPr algn="l">
              <a:lnSpc>
                <a:spcPts val="3360"/>
              </a:lnSpc>
            </a:pP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void *p;</a:t>
            </a:r>
          </a:p>
          <a:p>
            <a:pPr algn="l">
              <a:lnSpc>
                <a:spcPts val="3360"/>
              </a:lnSpc>
            </a:pP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Example : int x = 10;</a:t>
            </a:r>
          </a:p>
          <a:p>
            <a:pPr algn="l">
              <a:lnSpc>
                <a:spcPts val="3360"/>
              </a:lnSpc>
            </a:pP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</a:t>
            </a:r>
            <a:r>
              <a:rPr lang="en-US" sz="24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void *p = &amp;x;</a:t>
            </a:r>
          </a:p>
          <a:p>
            <a:pPr algn="l">
              <a:lnSpc>
                <a:spcPts val="3500"/>
              </a:lnSpc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Pointer p now stores address of x.</a:t>
            </a:r>
          </a:p>
          <a:p>
            <a:pPr algn="l">
              <a:lnSpc>
                <a:spcPts val="3500"/>
              </a:lnSpc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Important Rule : You cannot dereference a void pointer directly.</a:t>
            </a:r>
          </a:p>
          <a:p>
            <a:pPr algn="l">
              <a:lnSpc>
                <a:spcPts val="3500"/>
              </a:lnSpc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Wrong:  cout &lt;&lt; *p;   //Because the compiler does not know the data type.</a:t>
            </a:r>
          </a:p>
          <a:p>
            <a:pPr algn="l">
              <a:lnSpc>
                <a:spcPts val="3500"/>
              </a:lnSpc>
            </a:pP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You must typecast.  cout &lt;&lt; *(int*)p;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2445" y="339896"/>
            <a:ext cx="4714134" cy="122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7200" strike="noStrike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7200" strike="noStrike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7200" strike="noStrike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5626" y="1509555"/>
            <a:ext cx="16936749" cy="702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reference is an alias (another name) for an existing variable and it 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5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oes not store a new value; it refers to the same memory location as the original variable.</a:t>
            </a:r>
          </a:p>
          <a:p>
            <a:pPr algn="l" marL="582933" indent="-291467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Syntax :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ata_type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&amp;reference_n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= variab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e;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Example: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x = 10;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in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&amp;ref = x;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Here: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x → original variab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ref → reference (another name for x)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Both x and re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refer t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same a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dress.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Changing Value Using Reference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ample: in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x = 10;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int &amp;ref = x;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ref = 20;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Reference must be initialized at the time of its declaration.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7477" y="348621"/>
            <a:ext cx="11110436" cy="122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new and delete</a:t>
            </a:r>
            <a:r>
              <a:rPr lang="en-US" b="true" sz="7200" strike="noStrike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7200" strike="noStrike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</a:t>
            </a:r>
            <a:r>
              <a:rPr lang="en-US" b="true" sz="7200" strike="noStrike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7200" strike="noStrike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7200" strike="noStrike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7200" strike="noStrike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0304" y="1785452"/>
            <a:ext cx="15253725" cy="639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new Operator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new operator is use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 allocate memory from the heap.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Syntax :  pointer = new   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ata_type;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Example:  int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*p = new int;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Dynam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 Array Alloca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ion : 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Example: in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n = 5;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int *arr = new int[n];</a:t>
            </a:r>
          </a:p>
          <a:p>
            <a:pPr algn="l" marL="561344" indent="-280672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trike="noStrike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delete Operator 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delete operator is used to free the dynamically allocated memory.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Syntax: delete  po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er;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Example: delete 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p;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Deleting D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namic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Arrays :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arrays we use: dele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[]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E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ample:dele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e[]  arr;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This releases the entire array memory.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OOPs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2785653"/>
            <a:ext cx="4291315" cy="57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8"/>
              </a:lnSpc>
              <a:spcBef>
                <a:spcPct val="0"/>
              </a:spcBef>
            </a:pPr>
            <a:r>
              <a:rPr lang="en-US" sz="33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</a:t>
            </a:r>
            <a:r>
              <a:rPr lang="en-US" sz="335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asses and Objects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5111" y="3285780"/>
            <a:ext cx="11279486" cy="687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5"/>
              </a:lnSpc>
              <a:spcBef>
                <a:spcPct val="0"/>
              </a:spcBef>
            </a:pPr>
            <a:r>
              <a:rPr lang="en-US" sz="406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class is a  </a:t>
            </a:r>
            <a:r>
              <a:rPr lang="en-US" sz="406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template used to create objects.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21575" y="4189991"/>
            <a:ext cx="4937725" cy="3950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  <a:spcBef>
                <a:spcPct val="0"/>
              </a:spcBef>
            </a:pPr>
            <a:r>
              <a:rPr lang="en-US" sz="2528">
                <a:solidFill>
                  <a:srgbClr val="FF5757"/>
                </a:solidFill>
                <a:latin typeface="Open Sauce"/>
                <a:ea typeface="Open Sauce"/>
                <a:cs typeface="Open Sauce"/>
                <a:sym typeface="Open Sauce"/>
              </a:rPr>
              <a:t>class Ca</a:t>
            </a:r>
            <a:r>
              <a:rPr lang="en-US" sz="2528">
                <a:solidFill>
                  <a:srgbClr val="FF5757"/>
                </a:solidFill>
                <a:latin typeface="Open Sauce"/>
                <a:ea typeface="Open Sauce"/>
                <a:cs typeface="Open Sauce"/>
                <a:sym typeface="Open Sauce"/>
              </a:rPr>
              <a:t>r {</a:t>
            </a:r>
          </a:p>
          <a:p>
            <a:pPr algn="l">
              <a:lnSpc>
                <a:spcPts val="3539"/>
              </a:lnSpc>
              <a:spcBef>
                <a:spcPct val="0"/>
              </a:spcBef>
            </a:pPr>
            <a:r>
              <a:rPr lang="en-US" sz="2528">
                <a:solidFill>
                  <a:srgbClr val="FF5757"/>
                </a:solidFill>
                <a:latin typeface="Open Sauce"/>
                <a:ea typeface="Open Sauce"/>
                <a:cs typeface="Open Sauce"/>
                <a:sym typeface="Open Sauce"/>
              </a:rPr>
              <a:t>public:</a:t>
            </a:r>
          </a:p>
          <a:p>
            <a:pPr algn="l">
              <a:lnSpc>
                <a:spcPts val="3539"/>
              </a:lnSpc>
              <a:spcBef>
                <a:spcPct val="0"/>
              </a:spcBef>
            </a:pPr>
            <a:r>
              <a:rPr lang="en-US" sz="2528">
                <a:solidFill>
                  <a:srgbClr val="FF5757"/>
                </a:solidFill>
                <a:latin typeface="Open Sauce"/>
                <a:ea typeface="Open Sauce"/>
                <a:cs typeface="Open Sauce"/>
                <a:sym typeface="Open Sauce"/>
              </a:rPr>
              <a:t>    string brand;</a:t>
            </a:r>
          </a:p>
          <a:p>
            <a:pPr algn="l">
              <a:lnSpc>
                <a:spcPts val="3539"/>
              </a:lnSpc>
              <a:spcBef>
                <a:spcPct val="0"/>
              </a:spcBef>
            </a:pPr>
            <a:r>
              <a:rPr lang="en-US" sz="2528">
                <a:solidFill>
                  <a:srgbClr val="FF5757"/>
                </a:solidFill>
                <a:latin typeface="Open Sauce"/>
                <a:ea typeface="Open Sauce"/>
                <a:cs typeface="Open Sauce"/>
                <a:sym typeface="Open Sauce"/>
              </a:rPr>
              <a:t>    int speed;</a:t>
            </a:r>
          </a:p>
          <a:p>
            <a:pPr algn="l">
              <a:lnSpc>
                <a:spcPts val="3539"/>
              </a:lnSpc>
              <a:spcBef>
                <a:spcPct val="0"/>
              </a:spcBef>
            </a:pPr>
          </a:p>
          <a:p>
            <a:pPr algn="l">
              <a:lnSpc>
                <a:spcPts val="3539"/>
              </a:lnSpc>
              <a:spcBef>
                <a:spcPct val="0"/>
              </a:spcBef>
            </a:pPr>
            <a:r>
              <a:rPr lang="en-US" sz="2528">
                <a:solidFill>
                  <a:srgbClr val="FF5757"/>
                </a:solidFill>
                <a:latin typeface="Open Sauce"/>
                <a:ea typeface="Open Sauce"/>
                <a:cs typeface="Open Sauce"/>
                <a:sym typeface="Open Sauce"/>
              </a:rPr>
              <a:t>    void drive() {</a:t>
            </a:r>
          </a:p>
          <a:p>
            <a:pPr algn="l">
              <a:lnSpc>
                <a:spcPts val="3539"/>
              </a:lnSpc>
              <a:spcBef>
                <a:spcPct val="0"/>
              </a:spcBef>
            </a:pPr>
            <a:r>
              <a:rPr lang="en-US" sz="2528">
                <a:solidFill>
                  <a:srgbClr val="FF5757"/>
                </a:solidFill>
                <a:latin typeface="Open Sauce"/>
                <a:ea typeface="Open Sauce"/>
                <a:cs typeface="Open Sauce"/>
                <a:sym typeface="Open Sauce"/>
              </a:rPr>
              <a:t>        cout &lt;&lt; "Car is driving";</a:t>
            </a:r>
          </a:p>
          <a:p>
            <a:pPr algn="l">
              <a:lnSpc>
                <a:spcPts val="3539"/>
              </a:lnSpc>
              <a:spcBef>
                <a:spcPct val="0"/>
              </a:spcBef>
            </a:pPr>
            <a:r>
              <a:rPr lang="en-US" sz="2528">
                <a:solidFill>
                  <a:srgbClr val="FF5757"/>
                </a:solidFill>
                <a:latin typeface="Open Sauce"/>
                <a:ea typeface="Open Sauce"/>
                <a:cs typeface="Open Sauce"/>
                <a:sym typeface="Open Sauce"/>
              </a:rPr>
              <a:t>    }</a:t>
            </a:r>
          </a:p>
          <a:p>
            <a:pPr algn="l">
              <a:lnSpc>
                <a:spcPts val="3041"/>
              </a:lnSpc>
              <a:spcBef>
                <a:spcPct val="0"/>
              </a:spcBef>
            </a:pPr>
            <a:r>
              <a:rPr lang="en-US" sz="2172">
                <a:solidFill>
                  <a:srgbClr val="FF5757"/>
                </a:solidFill>
                <a:latin typeface="Open Sauce"/>
                <a:ea typeface="Open Sauce"/>
                <a:cs typeface="Open Sauce"/>
                <a:sym typeface="Open Sauce"/>
              </a:rPr>
              <a:t>};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161416"/>
            <a:ext cx="8282186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An object is an instance of a class. 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7838" y="5555877"/>
            <a:ext cx="7995155" cy="107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6469" indent="-333234" lvl="1">
              <a:lnSpc>
                <a:spcPts val="4321"/>
              </a:lnSpc>
              <a:spcBef>
                <a:spcPct val="0"/>
              </a:spcBef>
              <a:buFont typeface="Arial"/>
              <a:buChar char="•"/>
            </a:pPr>
            <a:r>
              <a:rPr lang="en-US" sz="3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Class defines pr</a:t>
            </a:r>
            <a:r>
              <a:rPr lang="en-US" sz="3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operties + behavior</a:t>
            </a:r>
          </a:p>
          <a:p>
            <a:pPr algn="ctr" marL="666469" indent="-333234" lvl="1">
              <a:lnSpc>
                <a:spcPts val="4321"/>
              </a:lnSpc>
              <a:spcBef>
                <a:spcPct val="0"/>
              </a:spcBef>
              <a:buFont typeface="Arial"/>
              <a:buChar char="•"/>
            </a:pPr>
            <a:r>
              <a:rPr lang="en-US" sz="3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Object uses the class functionality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29812" y="3147370"/>
            <a:ext cx="14180540" cy="5693824"/>
            <a:chOff x="0" y="0"/>
            <a:chExt cx="21074688" cy="84619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57670" y="1995627"/>
              <a:ext cx="20770397" cy="4782982"/>
            </a:xfrm>
            <a:custGeom>
              <a:avLst/>
              <a:gdLst/>
              <a:ahLst/>
              <a:cxnLst/>
              <a:rect r="r" b="b" t="t" l="l"/>
              <a:pathLst>
                <a:path h="4782982" w="20770397">
                  <a:moveTo>
                    <a:pt x="20767158" y="4600732"/>
                  </a:moveTo>
                  <a:cubicBezTo>
                    <a:pt x="20755728" y="4744241"/>
                    <a:pt x="19791798" y="4675661"/>
                    <a:pt x="19621619" y="4702332"/>
                  </a:cubicBezTo>
                  <a:cubicBezTo>
                    <a:pt x="18030308" y="4741701"/>
                    <a:pt x="1711770" y="4803932"/>
                    <a:pt x="120460" y="4775991"/>
                  </a:cubicBezTo>
                  <a:cubicBezTo>
                    <a:pt x="-61150" y="4769641"/>
                    <a:pt x="20130" y="4439441"/>
                    <a:pt x="7430" y="4312441"/>
                  </a:cubicBezTo>
                  <a:cubicBezTo>
                    <a:pt x="21400" y="3624102"/>
                    <a:pt x="-40830" y="816153"/>
                    <a:pt x="64580" y="132893"/>
                  </a:cubicBezTo>
                  <a:cubicBezTo>
                    <a:pt x="79820" y="-15697"/>
                    <a:pt x="197930" y="-2997"/>
                    <a:pt x="312230" y="3353"/>
                  </a:cubicBezTo>
                  <a:cubicBezTo>
                    <a:pt x="2190560" y="102413"/>
                    <a:pt x="18813898" y="-118567"/>
                    <a:pt x="20678258" y="151943"/>
                  </a:cubicBezTo>
                  <a:cubicBezTo>
                    <a:pt x="20801448" y="181153"/>
                    <a:pt x="20744298" y="356413"/>
                    <a:pt x="20764619" y="452933"/>
                  </a:cubicBezTo>
                  <a:cubicBezTo>
                    <a:pt x="20768428" y="902513"/>
                    <a:pt x="20774778" y="3465352"/>
                    <a:pt x="20765889" y="3914932"/>
                  </a:cubicBezTo>
                  <a:cubicBezTo>
                    <a:pt x="20749378" y="4125752"/>
                    <a:pt x="20792558" y="4367052"/>
                    <a:pt x="20722708" y="4561361"/>
                  </a:cubicBezTo>
                  <a:cubicBezTo>
                    <a:pt x="20661748" y="4040662"/>
                    <a:pt x="20696039" y="3489482"/>
                    <a:pt x="20707469" y="850443"/>
                  </a:cubicBezTo>
                  <a:cubicBezTo>
                    <a:pt x="20690958" y="209093"/>
                    <a:pt x="20906858" y="188773"/>
                    <a:pt x="20379808" y="160833"/>
                  </a:cubicBezTo>
                  <a:cubicBezTo>
                    <a:pt x="18578948" y="4623"/>
                    <a:pt x="2030540" y="261163"/>
                    <a:pt x="233490" y="66853"/>
                  </a:cubicBezTo>
                  <a:cubicBezTo>
                    <a:pt x="-5270" y="-33477"/>
                    <a:pt x="109030" y="3801902"/>
                    <a:pt x="72200" y="4019071"/>
                  </a:cubicBezTo>
                  <a:cubicBezTo>
                    <a:pt x="86170" y="4124482"/>
                    <a:pt x="9970" y="4723921"/>
                    <a:pt x="111570" y="4713761"/>
                  </a:cubicBezTo>
                  <a:cubicBezTo>
                    <a:pt x="2086420" y="4740432"/>
                    <a:pt x="18792308" y="4648991"/>
                    <a:pt x="20767158" y="460073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91716" y="485775"/>
            <a:ext cx="4086523" cy="72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4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ata Alignment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0984" y="1141096"/>
            <a:ext cx="17328456" cy="51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9"/>
              </a:lnSpc>
              <a:spcBef>
                <a:spcPct val="0"/>
              </a:spcBef>
            </a:pPr>
            <a:r>
              <a:rPr lang="en-US" sz="294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94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rranging data in memory according to specific boundaries so the CPU can access it efficiently.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0984" y="2051995"/>
            <a:ext cx="481617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E17EB"/>
                </a:solidFill>
                <a:latin typeface="Open Sauce"/>
                <a:ea typeface="Open Sauce"/>
                <a:cs typeface="Open Sauce"/>
                <a:sym typeface="Open Sauce"/>
              </a:rPr>
              <a:t>Each data type m</a:t>
            </a:r>
            <a:r>
              <a:rPr lang="en-US" sz="3000">
                <a:solidFill>
                  <a:srgbClr val="5E17EB"/>
                </a:solidFill>
                <a:latin typeface="Open Sauce"/>
                <a:ea typeface="Open Sauce"/>
                <a:cs typeface="Open Sauce"/>
                <a:sym typeface="Open Sauce"/>
              </a:rPr>
              <a:t>ust start at a memory address that is a multiple of its alignment requirement.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4604695"/>
            <a:ext cx="1285280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data type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87362" y="4627079"/>
            <a:ext cx="1295230" cy="34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1"/>
              </a:lnSpc>
              <a:spcBef>
                <a:spcPct val="0"/>
              </a:spcBef>
            </a:pPr>
            <a:r>
              <a:rPr lang="en-US" sz="19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Alignmentl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7162" y="5105400"/>
            <a:ext cx="2895430" cy="1396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78"/>
              </a:lnSpc>
            </a:pPr>
            <a:r>
              <a:rPr lang="en-US" sz="198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char                   1</a:t>
            </a:r>
          </a:p>
          <a:p>
            <a:pPr algn="just">
              <a:lnSpc>
                <a:spcPts val="2778"/>
              </a:lnSpc>
            </a:pPr>
            <a:r>
              <a:rPr lang="en-US" sz="198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                      4</a:t>
            </a:r>
          </a:p>
          <a:p>
            <a:pPr algn="just">
              <a:lnSpc>
                <a:spcPts val="2778"/>
              </a:lnSpc>
            </a:pPr>
            <a:r>
              <a:rPr lang="en-US" sz="198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long                   4</a:t>
            </a:r>
          </a:p>
          <a:p>
            <a:pPr algn="just">
              <a:lnSpc>
                <a:spcPts val="2778"/>
              </a:lnSpc>
              <a:spcBef>
                <a:spcPct val="0"/>
              </a:spcBef>
            </a:pPr>
            <a:r>
              <a:rPr lang="en-US" sz="198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double               8</a:t>
            </a:r>
            <a:r>
              <a:rPr lang="en-US" sz="198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79505" y="1848795"/>
            <a:ext cx="7770813" cy="284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5757"/>
                </a:solidFill>
                <a:latin typeface="Open Sauce"/>
                <a:ea typeface="Open Sauce"/>
                <a:cs typeface="Open Sauce"/>
                <a:sym typeface="Open Sauce"/>
              </a:rPr>
              <a:t>Reasons f</a:t>
            </a:r>
            <a:r>
              <a:rPr lang="en-US" sz="3099">
                <a:solidFill>
                  <a:srgbClr val="FF5757"/>
                </a:solidFill>
                <a:latin typeface="Open Sauce"/>
                <a:ea typeface="Open Sauce"/>
                <a:cs typeface="Open Sauce"/>
                <a:sym typeface="Open Sauce"/>
              </a:rPr>
              <a:t>or Data Alignment</a:t>
            </a:r>
          </a:p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Faster memory access</a:t>
            </a:r>
          </a:p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CPU reads memory in blocks (4 or 8 bytes)</a:t>
            </a:r>
          </a:p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Prevents extra memory operations</a:t>
            </a:r>
          </a:p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Improves program performance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478238" y="4697296"/>
            <a:ext cx="2277643" cy="262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1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class</a:t>
            </a:r>
            <a:r>
              <a:rPr lang="en-US" sz="2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A{</a:t>
            </a:r>
          </a:p>
          <a:p>
            <a:pPr algn="just">
              <a:lnSpc>
                <a:spcPts val="3501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public:</a:t>
            </a:r>
          </a:p>
          <a:p>
            <a:pPr algn="just">
              <a:lnSpc>
                <a:spcPts val="3501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</a:t>
            </a:r>
            <a:r>
              <a:rPr lang="en-US" sz="2500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char a;</a:t>
            </a:r>
          </a:p>
          <a:p>
            <a:pPr algn="just">
              <a:lnSpc>
                <a:spcPts val="3501"/>
              </a:lnSpc>
              <a:spcBef>
                <a:spcPct val="0"/>
              </a:spcBef>
            </a:pPr>
            <a:r>
              <a:rPr lang="en-US" sz="2500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    int b;</a:t>
            </a:r>
          </a:p>
          <a:p>
            <a:pPr algn="just">
              <a:lnSpc>
                <a:spcPts val="3501"/>
              </a:lnSpc>
              <a:spcBef>
                <a:spcPct val="0"/>
              </a:spcBef>
            </a:pPr>
            <a:r>
              <a:rPr lang="en-US" sz="2500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    char c;</a:t>
            </a:r>
          </a:p>
          <a:p>
            <a:pPr algn="just">
              <a:lnSpc>
                <a:spcPts val="3501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};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21555" y="4585645"/>
            <a:ext cx="2228763" cy="256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5"/>
              </a:lnSpc>
              <a:spcBef>
                <a:spcPct val="0"/>
              </a:spcBef>
            </a:pPr>
            <a:r>
              <a:rPr lang="en-US" sz="244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class</a:t>
            </a:r>
            <a:r>
              <a:rPr lang="en-US" sz="244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B{</a:t>
            </a:r>
          </a:p>
          <a:p>
            <a:pPr algn="just">
              <a:lnSpc>
                <a:spcPts val="3425"/>
              </a:lnSpc>
              <a:spcBef>
                <a:spcPct val="0"/>
              </a:spcBef>
            </a:pPr>
            <a:r>
              <a:rPr lang="en-US" sz="244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public:</a:t>
            </a:r>
          </a:p>
          <a:p>
            <a:pPr algn="just">
              <a:lnSpc>
                <a:spcPts val="3425"/>
              </a:lnSpc>
              <a:spcBef>
                <a:spcPct val="0"/>
              </a:spcBef>
            </a:pPr>
            <a:r>
              <a:rPr lang="en-US" sz="244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</a:t>
            </a:r>
            <a:r>
              <a:rPr lang="en-US" sz="2447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int b;</a:t>
            </a:r>
          </a:p>
          <a:p>
            <a:pPr algn="just">
              <a:lnSpc>
                <a:spcPts val="3425"/>
              </a:lnSpc>
              <a:spcBef>
                <a:spcPct val="0"/>
              </a:spcBef>
            </a:pPr>
            <a:r>
              <a:rPr lang="en-US" sz="244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</a:t>
            </a:r>
            <a:r>
              <a:rPr lang="en-US" sz="2447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char a;</a:t>
            </a:r>
          </a:p>
          <a:p>
            <a:pPr algn="just">
              <a:lnSpc>
                <a:spcPts val="3425"/>
              </a:lnSpc>
              <a:spcBef>
                <a:spcPct val="0"/>
              </a:spcBef>
            </a:pPr>
            <a:r>
              <a:rPr lang="en-US" sz="2447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    char c;</a:t>
            </a:r>
          </a:p>
          <a:p>
            <a:pPr algn="just">
              <a:lnSpc>
                <a:spcPts val="3425"/>
              </a:lnSpc>
              <a:spcBef>
                <a:spcPct val="0"/>
              </a:spcBef>
            </a:pPr>
            <a:r>
              <a:rPr lang="en-US" sz="244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};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34977" y="7851997"/>
            <a:ext cx="8858945" cy="150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3331" indent="-231665" lvl="1">
              <a:lnSpc>
                <a:spcPts val="3004"/>
              </a:lnSpc>
              <a:buFont typeface="Arial"/>
              <a:buChar char="•"/>
            </a:pPr>
            <a:r>
              <a:rPr lang="en-US" b="true" sz="214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 requires 4-byte alignment</a:t>
            </a:r>
          </a:p>
          <a:p>
            <a:pPr algn="l" marL="463331" indent="-231665" lvl="1">
              <a:lnSpc>
                <a:spcPts val="3004"/>
              </a:lnSpc>
              <a:buFont typeface="Arial"/>
              <a:buChar char="•"/>
            </a:pPr>
            <a:r>
              <a:rPr lang="en-US" b="true" sz="214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After char a, compiler inserts 3 bytes padding</a:t>
            </a:r>
          </a:p>
          <a:p>
            <a:pPr algn="l" marL="463331" indent="-231665" lvl="1">
              <a:lnSpc>
                <a:spcPts val="3004"/>
              </a:lnSpc>
              <a:buFont typeface="Arial"/>
              <a:buChar char="•"/>
            </a:pPr>
            <a:r>
              <a:rPr lang="en-US" b="true" sz="214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 the end, tail padding added to make class size multiple of 4</a:t>
            </a:r>
          </a:p>
          <a:p>
            <a:pPr algn="l">
              <a:lnSpc>
                <a:spcPts val="300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061451" y="5105400"/>
            <a:ext cx="5214442" cy="37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1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|a | - | - | - | b | b | b | b | c |  -   |  - |  - |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94200" y="4938475"/>
            <a:ext cx="4793800" cy="42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| b  |b |b | b | a  |c | - | -  |- | - |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56561" y="5511256"/>
            <a:ext cx="5512098" cy="37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1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0    1   2  3  4   5   6   7   8   9     10  11 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94200" y="5443060"/>
            <a:ext cx="4616153" cy="37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1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0    1   2   3    4   5   6   7   8   9 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50940" y="7655156"/>
            <a:ext cx="8437060" cy="86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sz="2500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Arrange members from largest → smallest to reduce padding.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15590" y="1975485"/>
            <a:ext cx="6302708" cy="5096994"/>
            <a:chOff x="0" y="0"/>
            <a:chExt cx="8447342" cy="68313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57670" y="1995627"/>
              <a:ext cx="8143051" cy="3152350"/>
            </a:xfrm>
            <a:custGeom>
              <a:avLst/>
              <a:gdLst/>
              <a:ahLst/>
              <a:cxnLst/>
              <a:rect r="r" b="b" t="t" l="l"/>
              <a:pathLst>
                <a:path h="3152350" w="8143051">
                  <a:moveTo>
                    <a:pt x="8139812" y="2970100"/>
                  </a:moveTo>
                  <a:cubicBezTo>
                    <a:pt x="8128382" y="3113610"/>
                    <a:pt x="7164452" y="3045030"/>
                    <a:pt x="6994272" y="3071700"/>
                  </a:cubicBezTo>
                  <a:cubicBezTo>
                    <a:pt x="5402962" y="3111070"/>
                    <a:pt x="1711770" y="3173300"/>
                    <a:pt x="120460" y="3145360"/>
                  </a:cubicBezTo>
                  <a:cubicBezTo>
                    <a:pt x="-61150" y="3139010"/>
                    <a:pt x="20130" y="2808810"/>
                    <a:pt x="7430" y="2681810"/>
                  </a:cubicBezTo>
                  <a:cubicBezTo>
                    <a:pt x="21400" y="1993470"/>
                    <a:pt x="-40830" y="816153"/>
                    <a:pt x="64580" y="132893"/>
                  </a:cubicBezTo>
                  <a:cubicBezTo>
                    <a:pt x="79820" y="-15697"/>
                    <a:pt x="197930" y="-2997"/>
                    <a:pt x="312230" y="3353"/>
                  </a:cubicBezTo>
                  <a:cubicBezTo>
                    <a:pt x="2190560" y="102413"/>
                    <a:pt x="6186552" y="-118567"/>
                    <a:pt x="8050912" y="151943"/>
                  </a:cubicBezTo>
                  <a:cubicBezTo>
                    <a:pt x="8174102" y="181153"/>
                    <a:pt x="8116952" y="356413"/>
                    <a:pt x="8137272" y="452933"/>
                  </a:cubicBezTo>
                  <a:cubicBezTo>
                    <a:pt x="8141082" y="902513"/>
                    <a:pt x="8147432" y="1834720"/>
                    <a:pt x="8138542" y="2284300"/>
                  </a:cubicBezTo>
                  <a:cubicBezTo>
                    <a:pt x="8122032" y="2495120"/>
                    <a:pt x="8165212" y="2736420"/>
                    <a:pt x="8095362" y="2930730"/>
                  </a:cubicBezTo>
                  <a:cubicBezTo>
                    <a:pt x="8034402" y="2410030"/>
                    <a:pt x="8068692" y="1858850"/>
                    <a:pt x="8080122" y="850443"/>
                  </a:cubicBezTo>
                  <a:cubicBezTo>
                    <a:pt x="8063612" y="209093"/>
                    <a:pt x="8279512" y="188773"/>
                    <a:pt x="7752462" y="160833"/>
                  </a:cubicBezTo>
                  <a:cubicBezTo>
                    <a:pt x="5951602" y="4623"/>
                    <a:pt x="2030540" y="261163"/>
                    <a:pt x="233490" y="66853"/>
                  </a:cubicBezTo>
                  <a:cubicBezTo>
                    <a:pt x="-5270" y="-33477"/>
                    <a:pt x="109030" y="2171270"/>
                    <a:pt x="72200" y="2388440"/>
                  </a:cubicBezTo>
                  <a:cubicBezTo>
                    <a:pt x="86170" y="2493850"/>
                    <a:pt x="9970" y="3093290"/>
                    <a:pt x="111570" y="3083130"/>
                  </a:cubicBezTo>
                  <a:cubicBezTo>
                    <a:pt x="2086420" y="3109800"/>
                    <a:pt x="6164962" y="3018360"/>
                    <a:pt x="8139812" y="2970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Constructors &amp; Destructors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8750" y="2960070"/>
            <a:ext cx="11295977" cy="367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A constructor is a special function automatically called when an object is created.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Characteristics</a:t>
            </a:r>
          </a:p>
          <a:p>
            <a:pPr algn="l" marL="561241" indent="-280620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Constructor n</a:t>
            </a:r>
            <a:r>
              <a:rPr lang="en-US" sz="2599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ame is same as class name</a:t>
            </a:r>
          </a:p>
          <a:p>
            <a:pPr algn="l" marL="561241" indent="-280620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It has n</a:t>
            </a:r>
            <a:r>
              <a:rPr lang="en-US" sz="2599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o return type (not even void)</a:t>
            </a:r>
          </a:p>
          <a:p>
            <a:pPr algn="l" marL="561241" indent="-280620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Called a</a:t>
            </a:r>
            <a:r>
              <a:rPr lang="en-US" sz="2599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utomatically</a:t>
            </a:r>
            <a:r>
              <a:rPr lang="en-US" sz="2599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 when object is created</a:t>
            </a:r>
          </a:p>
          <a:p>
            <a:pPr algn="l" marL="561241" indent="-280620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Used for object initialization</a:t>
            </a:r>
          </a:p>
          <a:p>
            <a:pPr algn="l" marL="561241" indent="-280620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Can be overloaded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89184" y="3575059"/>
            <a:ext cx="5444399" cy="2016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1"/>
              </a:lnSpc>
              <a:spcBef>
                <a:spcPct val="0"/>
              </a:spcBef>
            </a:pPr>
            <a:r>
              <a:rPr lang="en-US" sz="28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Types </a:t>
            </a:r>
            <a:r>
              <a:rPr lang="en-US" sz="28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of Constructors</a:t>
            </a:r>
          </a:p>
          <a:p>
            <a:pPr algn="ctr" marL="623238" indent="-311619" lvl="1">
              <a:lnSpc>
                <a:spcPts val="4041"/>
              </a:lnSpc>
              <a:spcBef>
                <a:spcPct val="0"/>
              </a:spcBef>
              <a:buFont typeface="Arial"/>
              <a:buChar char="•"/>
            </a:pPr>
            <a:r>
              <a:rPr lang="en-US" sz="2886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Default constructor</a:t>
            </a:r>
          </a:p>
          <a:p>
            <a:pPr algn="ctr" marL="623238" indent="-311619" lvl="1">
              <a:lnSpc>
                <a:spcPts val="4041"/>
              </a:lnSpc>
              <a:spcBef>
                <a:spcPct val="0"/>
              </a:spcBef>
              <a:buFont typeface="Arial"/>
              <a:buChar char="•"/>
            </a:pPr>
            <a:r>
              <a:rPr lang="en-US" sz="2886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Parameterized constructor</a:t>
            </a:r>
          </a:p>
          <a:p>
            <a:pPr algn="ctr" marL="623238" indent="-311619" lvl="1">
              <a:lnSpc>
                <a:spcPts val="4041"/>
              </a:lnSpc>
              <a:spcBef>
                <a:spcPct val="0"/>
              </a:spcBef>
              <a:buFont typeface="Arial"/>
              <a:buChar char="•"/>
            </a:pPr>
            <a:r>
              <a:rPr lang="en-US" sz="2886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Copy constructor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52279" y="7539601"/>
            <a:ext cx="13003381" cy="42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onstructors ensure that objects are initialized properly at the time of creation.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510" y="8454222"/>
            <a:ext cx="9639102" cy="118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5"/>
              </a:lnSpc>
              <a:spcBef>
                <a:spcPct val="0"/>
              </a:spcBef>
            </a:pPr>
            <a:r>
              <a:rPr lang="en-US" sz="22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✔ C</a:t>
            </a:r>
            <a:r>
              <a:rPr lang="en-US" sz="22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onstructor is called only once when object is created</a:t>
            </a:r>
          </a:p>
          <a:p>
            <a:pPr algn="just">
              <a:lnSpc>
                <a:spcPts val="3175"/>
              </a:lnSpc>
              <a:spcBef>
                <a:spcPct val="0"/>
              </a:spcBef>
            </a:pPr>
            <a:r>
              <a:rPr lang="en-US" sz="22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✔ Constructor can be overloaded</a:t>
            </a:r>
          </a:p>
          <a:p>
            <a:pPr algn="just">
              <a:lnSpc>
                <a:spcPts val="3175"/>
              </a:lnSpc>
              <a:spcBef>
                <a:spcPct val="0"/>
              </a:spcBef>
            </a:pPr>
            <a:r>
              <a:rPr lang="en-US" sz="22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✔ If no constructor is defined, compiler creates a default constructor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9910" y="1227331"/>
            <a:ext cx="11579266" cy="273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  <a:spcBef>
                <a:spcPct val="0"/>
              </a:spcBef>
            </a:pPr>
            <a:r>
              <a:rPr lang="en-US" sz="26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destruct</a:t>
            </a:r>
            <a:r>
              <a:rPr lang="en-US" sz="26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 is a special function that runs when an object is destroyed.</a:t>
            </a:r>
          </a:p>
          <a:p>
            <a:pPr algn="l">
              <a:lnSpc>
                <a:spcPts val="3686"/>
              </a:lnSpc>
              <a:spcBef>
                <a:spcPct val="0"/>
              </a:spcBef>
            </a:pPr>
            <a:r>
              <a:rPr lang="en-US" sz="26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Purpose</a:t>
            </a:r>
          </a:p>
          <a:p>
            <a:pPr algn="l" marL="568561" indent="-284281" lvl="1">
              <a:lnSpc>
                <a:spcPts val="3686"/>
              </a:lnSpc>
              <a:spcBef>
                <a:spcPct val="0"/>
              </a:spcBef>
              <a:buFont typeface="Arial"/>
              <a:buChar char="•"/>
            </a:pPr>
            <a:r>
              <a:rPr lang="en-US" sz="26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Release memory</a:t>
            </a:r>
          </a:p>
          <a:p>
            <a:pPr algn="l" marL="568561" indent="-284281" lvl="1">
              <a:lnSpc>
                <a:spcPts val="3686"/>
              </a:lnSpc>
              <a:spcBef>
                <a:spcPct val="0"/>
              </a:spcBef>
              <a:buFont typeface="Arial"/>
              <a:buChar char="•"/>
            </a:pPr>
            <a:r>
              <a:rPr lang="en-US" sz="26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Close files</a:t>
            </a:r>
          </a:p>
          <a:p>
            <a:pPr algn="l" marL="568561" indent="-284281" lvl="1">
              <a:lnSpc>
                <a:spcPts val="3686"/>
              </a:lnSpc>
              <a:spcBef>
                <a:spcPct val="0"/>
              </a:spcBef>
              <a:buFont typeface="Arial"/>
              <a:buChar char="•"/>
            </a:pPr>
            <a:r>
              <a:rPr lang="en-US" sz="26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Free resources</a:t>
            </a:r>
          </a:p>
          <a:p>
            <a:pPr algn="l">
              <a:lnSpc>
                <a:spcPts val="3686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-1074102" y="276932"/>
            <a:ext cx="6164816" cy="58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Destructor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3326334"/>
            <a:ext cx="6499130" cy="299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6"/>
              </a:lnSpc>
            </a:pPr>
            <a:r>
              <a:rPr lang="en-US" sz="2962" b="true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Car{</a:t>
            </a:r>
          </a:p>
          <a:p>
            <a:pPr algn="just">
              <a:lnSpc>
                <a:spcPts val="4146"/>
              </a:lnSpc>
            </a:pPr>
            <a:r>
              <a:rPr lang="en-US" sz="2962" b="true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public:</a:t>
            </a:r>
          </a:p>
          <a:p>
            <a:pPr algn="just">
              <a:lnSpc>
                <a:spcPts val="4146"/>
              </a:lnSpc>
            </a:pPr>
            <a:r>
              <a:rPr lang="en-US" sz="2962" b="true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~Car(){</a:t>
            </a:r>
          </a:p>
          <a:p>
            <a:pPr algn="just">
              <a:lnSpc>
                <a:spcPts val="4146"/>
              </a:lnSpc>
            </a:pPr>
            <a:r>
              <a:rPr lang="en-US" sz="2962" b="true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cout &lt;&lt; "Destructor called";</a:t>
            </a:r>
          </a:p>
          <a:p>
            <a:pPr algn="just">
              <a:lnSpc>
                <a:spcPts val="4146"/>
              </a:lnSpc>
            </a:pPr>
            <a:r>
              <a:rPr lang="en-US" sz="2962" b="true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}</a:t>
            </a:r>
          </a:p>
          <a:p>
            <a:pPr algn="just">
              <a:lnSpc>
                <a:spcPts val="3458"/>
              </a:lnSpc>
              <a:spcBef>
                <a:spcPct val="0"/>
              </a:spcBef>
            </a:pPr>
            <a:r>
              <a:rPr lang="en-US" b="true" sz="2470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3086" y="4711719"/>
            <a:ext cx="7334515" cy="237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5046" indent="-367523" lvl="1">
              <a:lnSpc>
                <a:spcPts val="4766"/>
              </a:lnSpc>
              <a:buFont typeface="Arial"/>
              <a:buChar char="•"/>
            </a:pPr>
            <a:r>
              <a:rPr lang="en-US" sz="3404">
                <a:solidFill>
                  <a:srgbClr val="1800AD"/>
                </a:solidFill>
                <a:latin typeface="Open Sauce"/>
                <a:ea typeface="Open Sauce"/>
                <a:cs typeface="Open Sauce"/>
                <a:sym typeface="Open Sauce"/>
              </a:rPr>
              <a:t>Same name as class with ~</a:t>
            </a:r>
          </a:p>
          <a:p>
            <a:pPr algn="just" marL="735046" indent="-367523" lvl="1">
              <a:lnSpc>
                <a:spcPts val="4766"/>
              </a:lnSpc>
              <a:spcBef>
                <a:spcPct val="0"/>
              </a:spcBef>
              <a:buFont typeface="Arial"/>
              <a:buChar char="•"/>
            </a:pPr>
            <a:r>
              <a:rPr lang="en-US" sz="3404">
                <a:solidFill>
                  <a:srgbClr val="1800A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3404">
                <a:solidFill>
                  <a:srgbClr val="1800AD"/>
                </a:solidFill>
                <a:latin typeface="Open Sauce"/>
                <a:ea typeface="Open Sauce"/>
                <a:cs typeface="Open Sauce"/>
                <a:sym typeface="Open Sauce"/>
              </a:rPr>
              <a:t>o parameters</a:t>
            </a:r>
          </a:p>
          <a:p>
            <a:pPr algn="just" marL="735046" indent="-367523" lvl="1">
              <a:lnSpc>
                <a:spcPts val="4766"/>
              </a:lnSpc>
              <a:spcBef>
                <a:spcPct val="0"/>
              </a:spcBef>
              <a:buFont typeface="Arial"/>
              <a:buChar char="•"/>
            </a:pPr>
            <a:r>
              <a:rPr lang="en-US" sz="3404">
                <a:solidFill>
                  <a:srgbClr val="1800AD"/>
                </a:solidFill>
                <a:latin typeface="Open Sauce"/>
                <a:ea typeface="Open Sauce"/>
                <a:cs typeface="Open Sauce"/>
                <a:sym typeface="Open Sauce"/>
              </a:rPr>
              <a:t>Only one destructor per class</a:t>
            </a:r>
          </a:p>
          <a:p>
            <a:pPr algn="just">
              <a:lnSpc>
                <a:spcPts val="476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753635" y="2218444"/>
          <a:ext cx="7543800" cy="2514600"/>
        </p:xfrm>
        <a:graphic>
          <a:graphicData uri="http://schemas.openxmlformats.org/presentationml/2006/ole">
            <p:oleObj imgW="9042400" imgH="4013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0" y="374495"/>
            <a:ext cx="4178580" cy="613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Access Modifer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1809" y="1307546"/>
            <a:ext cx="9143107" cy="48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1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Access</a:t>
            </a:r>
            <a:r>
              <a:rPr lang="en-US" sz="2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specifiers control visibility of class members.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3378" y="5467350"/>
            <a:ext cx="4636648" cy="475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272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Example{</a:t>
            </a:r>
          </a:p>
          <a:p>
            <a:pPr algn="l">
              <a:lnSpc>
                <a:spcPts val="3808"/>
              </a:lnSpc>
              <a:spcBef>
                <a:spcPct val="0"/>
              </a:spcBef>
            </a:pPr>
            <a:r>
              <a:rPr lang="en-US" b="true" sz="27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b="true" sz="27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ublic:</a:t>
            </a:r>
          </a:p>
          <a:p>
            <a:pPr algn="l">
              <a:lnSpc>
                <a:spcPts val="3808"/>
              </a:lnSpc>
              <a:spcBef>
                <a:spcPct val="0"/>
              </a:spcBef>
            </a:pPr>
            <a:r>
              <a:rPr lang="en-US" b="true" sz="27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int a;</a:t>
            </a:r>
          </a:p>
          <a:p>
            <a:pPr algn="l">
              <a:lnSpc>
                <a:spcPts val="3808"/>
              </a:lnSpc>
              <a:spcBef>
                <a:spcPct val="0"/>
              </a:spcBef>
            </a:pPr>
          </a:p>
          <a:p>
            <a:pPr algn="l">
              <a:lnSpc>
                <a:spcPts val="3808"/>
              </a:lnSpc>
              <a:spcBef>
                <a:spcPct val="0"/>
              </a:spcBef>
            </a:pPr>
            <a:r>
              <a:rPr lang="en-US" b="true" sz="27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private:</a:t>
            </a:r>
          </a:p>
          <a:p>
            <a:pPr algn="l">
              <a:lnSpc>
                <a:spcPts val="3808"/>
              </a:lnSpc>
              <a:spcBef>
                <a:spcPct val="0"/>
              </a:spcBef>
            </a:pPr>
            <a:r>
              <a:rPr lang="en-US" b="true" sz="27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int b;</a:t>
            </a:r>
          </a:p>
          <a:p>
            <a:pPr algn="l">
              <a:lnSpc>
                <a:spcPts val="3808"/>
              </a:lnSpc>
              <a:spcBef>
                <a:spcPct val="0"/>
              </a:spcBef>
            </a:pPr>
          </a:p>
          <a:p>
            <a:pPr algn="l">
              <a:lnSpc>
                <a:spcPts val="3808"/>
              </a:lnSpc>
              <a:spcBef>
                <a:spcPct val="0"/>
              </a:spcBef>
            </a:pPr>
            <a:r>
              <a:rPr lang="en-US" b="true" sz="27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protected:</a:t>
            </a:r>
          </a:p>
          <a:p>
            <a:pPr algn="l">
              <a:lnSpc>
                <a:spcPts val="3808"/>
              </a:lnSpc>
              <a:spcBef>
                <a:spcPct val="0"/>
              </a:spcBef>
            </a:pPr>
            <a:r>
              <a:rPr lang="en-US" b="true" sz="27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int c;</a:t>
            </a:r>
          </a:p>
          <a:p>
            <a:pPr algn="l">
              <a:lnSpc>
                <a:spcPts val="3808"/>
              </a:lnSpc>
              <a:spcBef>
                <a:spcPct val="0"/>
              </a:spcBef>
            </a:pPr>
            <a:r>
              <a:rPr lang="en-US" b="true" sz="27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339265">
            <a:off x="3774756" y="1781520"/>
            <a:ext cx="4940842" cy="10347284"/>
            <a:chOff x="0" y="0"/>
            <a:chExt cx="5980201" cy="125239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9627" y="206541"/>
              <a:ext cx="4572394" cy="11950374"/>
            </a:xfrm>
            <a:custGeom>
              <a:avLst/>
              <a:gdLst/>
              <a:ahLst/>
              <a:cxnLst/>
              <a:rect r="r" b="b" t="t" l="l"/>
              <a:pathLst>
                <a:path h="11950374" w="4572394">
                  <a:moveTo>
                    <a:pt x="4572394" y="11547784"/>
                  </a:moveTo>
                  <a:cubicBezTo>
                    <a:pt x="4555884" y="11606205"/>
                    <a:pt x="4513974" y="11643034"/>
                    <a:pt x="4461904" y="11589694"/>
                  </a:cubicBezTo>
                  <a:cubicBezTo>
                    <a:pt x="4369194" y="11493174"/>
                    <a:pt x="4271404" y="11397924"/>
                    <a:pt x="4152024" y="11335694"/>
                  </a:cubicBezTo>
                  <a:cubicBezTo>
                    <a:pt x="3859924" y="11193455"/>
                    <a:pt x="3486544" y="11203614"/>
                    <a:pt x="3166504" y="11220124"/>
                  </a:cubicBezTo>
                  <a:cubicBezTo>
                    <a:pt x="3147454" y="11222664"/>
                    <a:pt x="3122054" y="11237905"/>
                    <a:pt x="3111894" y="11255684"/>
                  </a:cubicBezTo>
                  <a:cubicBezTo>
                    <a:pt x="2988704" y="11427134"/>
                    <a:pt x="2829954" y="11573184"/>
                    <a:pt x="2657234" y="11692564"/>
                  </a:cubicBezTo>
                  <a:cubicBezTo>
                    <a:pt x="2202574" y="11966884"/>
                    <a:pt x="1515504" y="11926244"/>
                    <a:pt x="1363333" y="11950374"/>
                  </a:cubicBezTo>
                  <a:cubicBezTo>
                    <a:pt x="983603" y="11932594"/>
                    <a:pt x="504813" y="11947834"/>
                    <a:pt x="240653" y="11627794"/>
                  </a:cubicBezTo>
                  <a:cubicBezTo>
                    <a:pt x="113653" y="11444914"/>
                    <a:pt x="99683" y="11215044"/>
                    <a:pt x="70473" y="11001684"/>
                  </a:cubicBezTo>
                  <a:cubicBezTo>
                    <a:pt x="-12077" y="10169834"/>
                    <a:pt x="-4457" y="9332905"/>
                    <a:pt x="6973" y="3762023"/>
                  </a:cubicBezTo>
                  <a:cubicBezTo>
                    <a:pt x="24753" y="1725129"/>
                    <a:pt x="-18427" y="1116799"/>
                    <a:pt x="79363" y="523709"/>
                  </a:cubicBezTo>
                  <a:cubicBezTo>
                    <a:pt x="226683" y="-78271"/>
                    <a:pt x="1423465" y="8089"/>
                    <a:pt x="1697114" y="469"/>
                  </a:cubicBezTo>
                  <a:cubicBezTo>
                    <a:pt x="2074304" y="19519"/>
                    <a:pt x="2464194" y="9359"/>
                    <a:pt x="2826144" y="130009"/>
                  </a:cubicBezTo>
                  <a:cubicBezTo>
                    <a:pt x="3139834" y="243039"/>
                    <a:pt x="3186824" y="620229"/>
                    <a:pt x="3219844" y="909789"/>
                  </a:cubicBezTo>
                  <a:cubicBezTo>
                    <a:pt x="3279534" y="1567649"/>
                    <a:pt x="3199524" y="2588682"/>
                    <a:pt x="3181744" y="9057314"/>
                  </a:cubicBezTo>
                  <a:cubicBezTo>
                    <a:pt x="3176664" y="9332905"/>
                    <a:pt x="3185554" y="9608495"/>
                    <a:pt x="3210954" y="9882814"/>
                  </a:cubicBezTo>
                  <a:cubicBezTo>
                    <a:pt x="3237624" y="10116494"/>
                    <a:pt x="3256674" y="10439074"/>
                    <a:pt x="3541154" y="10488605"/>
                  </a:cubicBezTo>
                  <a:cubicBezTo>
                    <a:pt x="4107574" y="10609255"/>
                    <a:pt x="4414914" y="11010574"/>
                    <a:pt x="4567314" y="11545244"/>
                  </a:cubicBezTo>
                  <a:cubicBezTo>
                    <a:pt x="4568584" y="11545245"/>
                    <a:pt x="4571124" y="11546514"/>
                    <a:pt x="4572394" y="11547784"/>
                  </a:cubicBezTo>
                  <a:close/>
                  <a:moveTo>
                    <a:pt x="4480954" y="11465234"/>
                  </a:moveTo>
                  <a:cubicBezTo>
                    <a:pt x="4482224" y="11465234"/>
                    <a:pt x="4484764" y="11463964"/>
                    <a:pt x="4486034" y="11463964"/>
                  </a:cubicBezTo>
                  <a:cubicBezTo>
                    <a:pt x="4331094" y="11162974"/>
                    <a:pt x="4149484" y="10831505"/>
                    <a:pt x="3826904" y="10686724"/>
                  </a:cubicBezTo>
                  <a:cubicBezTo>
                    <a:pt x="3682124" y="10618144"/>
                    <a:pt x="3522104" y="10583855"/>
                    <a:pt x="3379864" y="10507655"/>
                  </a:cubicBezTo>
                  <a:cubicBezTo>
                    <a:pt x="2880754" y="10230794"/>
                    <a:pt x="3207144" y="1825459"/>
                    <a:pt x="3141104" y="1220939"/>
                  </a:cubicBezTo>
                  <a:cubicBezTo>
                    <a:pt x="3106814" y="936459"/>
                    <a:pt x="3119514" y="441159"/>
                    <a:pt x="2859164" y="269709"/>
                  </a:cubicBezTo>
                  <a:cubicBezTo>
                    <a:pt x="2440064" y="80479"/>
                    <a:pt x="1956194" y="124929"/>
                    <a:pt x="1506614" y="98259"/>
                  </a:cubicBezTo>
                  <a:cubicBezTo>
                    <a:pt x="1401319" y="108419"/>
                    <a:pt x="187313" y="49999"/>
                    <a:pt x="154293" y="630389"/>
                  </a:cubicBezTo>
                  <a:cubicBezTo>
                    <a:pt x="85713" y="1289519"/>
                    <a:pt x="112383" y="1956269"/>
                    <a:pt x="94603" y="7312527"/>
                  </a:cubicBezTo>
                  <a:cubicBezTo>
                    <a:pt x="88253" y="9564045"/>
                    <a:pt x="81903" y="10338745"/>
                    <a:pt x="173343" y="11105824"/>
                  </a:cubicBezTo>
                  <a:cubicBezTo>
                    <a:pt x="234303" y="11745905"/>
                    <a:pt x="553073" y="11806864"/>
                    <a:pt x="1124573" y="11851314"/>
                  </a:cubicBezTo>
                  <a:cubicBezTo>
                    <a:pt x="1432598" y="11872905"/>
                    <a:pt x="1752994" y="11852585"/>
                    <a:pt x="2243214" y="11772574"/>
                  </a:cubicBezTo>
                  <a:cubicBezTo>
                    <a:pt x="2464194" y="11726855"/>
                    <a:pt x="2666124" y="11608745"/>
                    <a:pt x="2829954" y="11455074"/>
                  </a:cubicBezTo>
                  <a:cubicBezTo>
                    <a:pt x="2908694" y="11380145"/>
                    <a:pt x="2988704" y="11305214"/>
                    <a:pt x="3048394" y="11211235"/>
                  </a:cubicBezTo>
                  <a:cubicBezTo>
                    <a:pt x="3069984" y="11185835"/>
                    <a:pt x="3100464" y="11152814"/>
                    <a:pt x="3134754" y="11145195"/>
                  </a:cubicBezTo>
                  <a:cubicBezTo>
                    <a:pt x="3600844" y="11112174"/>
                    <a:pt x="4134244" y="11103284"/>
                    <a:pt x="4480954" y="11465234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646512"/>
            <a:ext cx="18288000" cy="116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34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Encaps</a:t>
            </a:r>
            <a:r>
              <a:rPr lang="en-US" sz="334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ulation is the concept of binding data (variables) and methods (functions) together inside a class and restricting direct access to the data from outside the class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939" y="-85725"/>
            <a:ext cx="3362325" cy="62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3"/>
              </a:lnSpc>
            </a:pPr>
            <a:r>
              <a:rPr lang="en-US" b="true" sz="3600" i="true" spc="82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Enc</a:t>
            </a:r>
            <a:r>
              <a:rPr lang="en-US" b="true" sz="3600" i="true" spc="82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apsulation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939" y="2272853"/>
            <a:ext cx="9948046" cy="352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7"/>
              </a:lnSpc>
              <a:spcBef>
                <a:spcPct val="0"/>
              </a:spcBef>
            </a:pPr>
            <a:r>
              <a:rPr lang="en-US" sz="286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It is achieved </a:t>
            </a:r>
            <a:r>
              <a:rPr lang="en-US" sz="286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using access specifiers like:</a:t>
            </a:r>
          </a:p>
          <a:p>
            <a:pPr algn="just" marL="618077" indent="-309039" lvl="1">
              <a:lnSpc>
                <a:spcPts val="4007"/>
              </a:lnSpc>
              <a:spcBef>
                <a:spcPct val="0"/>
              </a:spcBef>
              <a:buFont typeface="Arial"/>
              <a:buChar char="•"/>
            </a:pPr>
            <a:r>
              <a:rPr lang="en-US" sz="286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private</a:t>
            </a:r>
          </a:p>
          <a:p>
            <a:pPr algn="just" marL="618077" indent="-309039" lvl="1">
              <a:lnSpc>
                <a:spcPts val="4007"/>
              </a:lnSpc>
              <a:spcBef>
                <a:spcPct val="0"/>
              </a:spcBef>
              <a:buFont typeface="Arial"/>
              <a:buChar char="•"/>
            </a:pPr>
            <a:r>
              <a:rPr lang="en-US" sz="286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protected</a:t>
            </a:r>
          </a:p>
          <a:p>
            <a:pPr algn="just" marL="618077" indent="-309039" lvl="1">
              <a:lnSpc>
                <a:spcPts val="4007"/>
              </a:lnSpc>
              <a:spcBef>
                <a:spcPct val="0"/>
              </a:spcBef>
              <a:buFont typeface="Arial"/>
              <a:buChar char="•"/>
            </a:pPr>
            <a:r>
              <a:rPr lang="en-US" sz="286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public</a:t>
            </a:r>
          </a:p>
          <a:p>
            <a:pPr algn="just">
              <a:lnSpc>
                <a:spcPts val="4007"/>
              </a:lnSpc>
              <a:spcBef>
                <a:spcPct val="0"/>
              </a:spcBef>
            </a:pPr>
            <a:r>
              <a:rPr lang="en-US" sz="286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Encapsulation helps in data hiding and controlled access to class members.</a:t>
            </a:r>
          </a:p>
          <a:p>
            <a:pPr algn="just">
              <a:lnSpc>
                <a:spcPts val="4007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156476" y="2291903"/>
            <a:ext cx="4579243" cy="61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8"/>
              </a:lnSpc>
              <a:spcBef>
                <a:spcPct val="0"/>
              </a:spcBef>
            </a:pPr>
            <a:r>
              <a:rPr lang="en-US" b="true" sz="269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BankAccount{</a:t>
            </a:r>
          </a:p>
          <a:p>
            <a:pPr algn="just">
              <a:lnSpc>
                <a:spcPts val="3778"/>
              </a:lnSpc>
              <a:spcBef>
                <a:spcPct val="0"/>
              </a:spcBef>
            </a:pPr>
            <a:r>
              <a:rPr lang="en-US" b="true" sz="269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private:</a:t>
            </a:r>
          </a:p>
          <a:p>
            <a:pPr algn="just">
              <a:lnSpc>
                <a:spcPts val="3778"/>
              </a:lnSpc>
              <a:spcBef>
                <a:spcPct val="0"/>
              </a:spcBef>
            </a:pPr>
            <a:r>
              <a:rPr lang="en-US" b="true" sz="269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int balance;</a:t>
            </a:r>
          </a:p>
          <a:p>
            <a:pPr algn="just">
              <a:lnSpc>
                <a:spcPts val="3778"/>
              </a:lnSpc>
              <a:spcBef>
                <a:spcPct val="0"/>
              </a:spcBef>
            </a:pPr>
          </a:p>
          <a:p>
            <a:pPr algn="just">
              <a:lnSpc>
                <a:spcPts val="3778"/>
              </a:lnSpc>
              <a:spcBef>
                <a:spcPct val="0"/>
              </a:spcBef>
            </a:pPr>
            <a:r>
              <a:rPr lang="en-US" b="true" sz="269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public:</a:t>
            </a:r>
          </a:p>
          <a:p>
            <a:pPr algn="just">
              <a:lnSpc>
                <a:spcPts val="3778"/>
              </a:lnSpc>
              <a:spcBef>
                <a:spcPct val="0"/>
              </a:spcBef>
            </a:pPr>
            <a:r>
              <a:rPr lang="en-US" b="true" sz="269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void deposit(int amount){</a:t>
            </a:r>
          </a:p>
          <a:p>
            <a:pPr algn="just">
              <a:lnSpc>
                <a:spcPts val="3778"/>
              </a:lnSpc>
              <a:spcBef>
                <a:spcPct val="0"/>
              </a:spcBef>
            </a:pPr>
            <a:r>
              <a:rPr lang="en-US" b="true" sz="269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balance += amount;</a:t>
            </a:r>
          </a:p>
          <a:p>
            <a:pPr algn="just">
              <a:lnSpc>
                <a:spcPts val="3778"/>
              </a:lnSpc>
              <a:spcBef>
                <a:spcPct val="0"/>
              </a:spcBef>
            </a:pPr>
            <a:r>
              <a:rPr lang="en-US" b="true" sz="269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}</a:t>
            </a:r>
          </a:p>
          <a:p>
            <a:pPr algn="just">
              <a:lnSpc>
                <a:spcPts val="3778"/>
              </a:lnSpc>
              <a:spcBef>
                <a:spcPct val="0"/>
              </a:spcBef>
            </a:pPr>
          </a:p>
          <a:p>
            <a:pPr algn="just">
              <a:lnSpc>
                <a:spcPts val="3778"/>
              </a:lnSpc>
              <a:spcBef>
                <a:spcPct val="0"/>
              </a:spcBef>
            </a:pPr>
            <a:r>
              <a:rPr lang="en-US" b="true" sz="269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int getBalance(){</a:t>
            </a:r>
          </a:p>
          <a:p>
            <a:pPr algn="just">
              <a:lnSpc>
                <a:spcPts val="3778"/>
              </a:lnSpc>
              <a:spcBef>
                <a:spcPct val="0"/>
              </a:spcBef>
            </a:pPr>
            <a:r>
              <a:rPr lang="en-US" b="true" sz="269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return balance;</a:t>
            </a:r>
          </a:p>
          <a:p>
            <a:pPr algn="just">
              <a:lnSpc>
                <a:spcPts val="3778"/>
              </a:lnSpc>
              <a:spcBef>
                <a:spcPct val="0"/>
              </a:spcBef>
            </a:pPr>
            <a:r>
              <a:rPr lang="en-US" b="true" sz="269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}</a:t>
            </a:r>
          </a:p>
          <a:p>
            <a:pPr algn="just">
              <a:lnSpc>
                <a:spcPts val="3778"/>
              </a:lnSpc>
              <a:spcBef>
                <a:spcPct val="0"/>
              </a:spcBef>
            </a:pPr>
            <a:r>
              <a:rPr lang="en-US" b="true" sz="269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4809" y="6725514"/>
            <a:ext cx="9227429" cy="173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908" indent="-269954" lvl="1">
              <a:lnSpc>
                <a:spcPts val="350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0" i="true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balance is</a:t>
            </a:r>
            <a:r>
              <a:rPr lang="en-US" b="true" sz="2500" i="true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private, so it cannot be accessed directly.</a:t>
            </a:r>
          </a:p>
          <a:p>
            <a:pPr algn="l" marL="539908" indent="-269954" lvl="1">
              <a:lnSpc>
                <a:spcPts val="350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0" i="true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Access is provided through public functions like deposit() and getBalance()</a:t>
            </a:r>
          </a:p>
          <a:p>
            <a:pPr algn="ctr">
              <a:lnSpc>
                <a:spcPts val="350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48755"/>
            <a:ext cx="13978214" cy="3372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3"/>
              </a:lnSpc>
              <a:spcBef>
                <a:spcPct val="0"/>
              </a:spcBef>
            </a:pPr>
            <a:r>
              <a:rPr lang="en-US" b="true" sz="35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Inheritance </a:t>
            </a:r>
          </a:p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b="true" sz="31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Inheritance is a mechanism in which one class acquires the properties and behavior of another class.</a:t>
            </a:r>
          </a:p>
          <a:p>
            <a:pPr algn="l">
              <a:lnSpc>
                <a:spcPts val="4423"/>
              </a:lnSpc>
              <a:spcBef>
                <a:spcPct val="0"/>
              </a:spcBef>
            </a:pPr>
          </a:p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b="true" sz="315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child class can reuse the features of the parent class.</a:t>
            </a:r>
          </a:p>
          <a:p>
            <a:pPr algn="l">
              <a:lnSpc>
                <a:spcPts val="4423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65899" y="3563841"/>
            <a:ext cx="6623208" cy="341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9"/>
              </a:lnSpc>
              <a:spcBef>
                <a:spcPct val="0"/>
              </a:spcBef>
            </a:pPr>
            <a:r>
              <a:rPr lang="en-US" b="true" sz="2771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</a:t>
            </a:r>
            <a:r>
              <a:rPr lang="en-US" b="true" sz="2771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Parent {</a:t>
            </a:r>
          </a:p>
          <a:p>
            <a:pPr algn="l">
              <a:lnSpc>
                <a:spcPts val="3879"/>
              </a:lnSpc>
              <a:spcBef>
                <a:spcPct val="0"/>
              </a:spcBef>
            </a:pPr>
            <a:r>
              <a:rPr lang="en-US" b="true" sz="2771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// members</a:t>
            </a:r>
          </a:p>
          <a:p>
            <a:pPr algn="l">
              <a:lnSpc>
                <a:spcPts val="3879"/>
              </a:lnSpc>
              <a:spcBef>
                <a:spcPct val="0"/>
              </a:spcBef>
            </a:pPr>
            <a:r>
              <a:rPr lang="en-US" b="true" sz="2771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  <a:p>
            <a:pPr algn="l">
              <a:lnSpc>
                <a:spcPts val="3879"/>
              </a:lnSpc>
              <a:spcBef>
                <a:spcPct val="0"/>
              </a:spcBef>
            </a:pPr>
          </a:p>
          <a:p>
            <a:pPr algn="l">
              <a:lnSpc>
                <a:spcPts val="3879"/>
              </a:lnSpc>
              <a:spcBef>
                <a:spcPct val="0"/>
              </a:spcBef>
            </a:pPr>
            <a:r>
              <a:rPr lang="en-US" b="true" sz="2771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Child : access_specifier Parent {</a:t>
            </a:r>
          </a:p>
          <a:p>
            <a:pPr algn="l">
              <a:lnSpc>
                <a:spcPts val="3879"/>
              </a:lnSpc>
              <a:spcBef>
                <a:spcPct val="0"/>
              </a:spcBef>
            </a:pPr>
            <a:r>
              <a:rPr lang="en-US" b="true" sz="2771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// members</a:t>
            </a:r>
          </a:p>
          <a:p>
            <a:pPr algn="l">
              <a:lnSpc>
                <a:spcPts val="3879"/>
              </a:lnSpc>
              <a:spcBef>
                <a:spcPct val="0"/>
              </a:spcBef>
            </a:pPr>
            <a:r>
              <a:rPr lang="en-US" b="true" sz="2771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06636" y="639782"/>
            <a:ext cx="5719464" cy="8989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#include &lt;i</a:t>
            </a: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ostream&gt;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using namespace std;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Animal{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public: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void eat(){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cout&lt;&lt;"Animal eats"&lt;&lt;endl;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}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Dog : public Animal{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public: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void bark(){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cout&lt;&lt;"Dog barks"&lt;&lt;endl;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}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 main(){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Dog d;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d.eat();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d.bark();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703705" y="235177"/>
            <a:ext cx="5091651" cy="9384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5"/>
              </a:lnSpc>
              <a:spcBef>
                <a:spcPct val="0"/>
              </a:spcBef>
            </a:pPr>
          </a:p>
          <a:p>
            <a:pPr algn="l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BF6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Animal{</a:t>
            </a:r>
          </a:p>
          <a:p>
            <a:pPr algn="l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BF6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public:</a:t>
            </a:r>
          </a:p>
          <a:p>
            <a:pPr algn="l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BF6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void eat(){</a:t>
            </a:r>
          </a:p>
          <a:p>
            <a:pPr algn="l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BF6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cout&lt;&lt;"Animal eats"&lt;&lt;endl;</a:t>
            </a:r>
          </a:p>
          <a:p>
            <a:pPr algn="l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BF6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}</a:t>
            </a:r>
          </a:p>
          <a:p>
            <a:pPr algn="l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BF6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  <a:p>
            <a:pPr algn="l">
              <a:lnSpc>
                <a:spcPts val="3535"/>
              </a:lnSpc>
              <a:spcBef>
                <a:spcPct val="0"/>
              </a:spcBef>
            </a:pPr>
          </a:p>
          <a:p>
            <a:pPr algn="l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FF575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Dog : public Animal{</a:t>
            </a:r>
          </a:p>
          <a:p>
            <a:pPr algn="l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FF575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public:</a:t>
            </a:r>
          </a:p>
          <a:p>
            <a:pPr algn="l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FF575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void bark(){</a:t>
            </a:r>
          </a:p>
          <a:p>
            <a:pPr algn="l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FF575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cout&lt;&lt;"Dog barks"&lt;&lt;endl;</a:t>
            </a:r>
          </a:p>
          <a:p>
            <a:pPr algn="l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FF575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}</a:t>
            </a:r>
          </a:p>
          <a:p>
            <a:pPr algn="l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FF575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  <a:p>
            <a:pPr algn="l">
              <a:lnSpc>
                <a:spcPts val="3535"/>
              </a:lnSpc>
              <a:spcBef>
                <a:spcPct val="0"/>
              </a:spcBef>
            </a:pPr>
          </a:p>
          <a:p>
            <a:pPr algn="l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1800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 main(){</a:t>
            </a:r>
          </a:p>
          <a:p>
            <a:pPr algn="l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1800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Dog d;</a:t>
            </a:r>
          </a:p>
          <a:p>
            <a:pPr algn="l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1800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d.eat();</a:t>
            </a:r>
          </a:p>
          <a:p>
            <a:pPr algn="l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1800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d.bark();</a:t>
            </a:r>
          </a:p>
          <a:p>
            <a:pPr algn="l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1800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</a:t>
            </a:r>
          </a:p>
          <a:p>
            <a:pPr algn="l">
              <a:lnSpc>
                <a:spcPts val="3535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32660" y="475583"/>
            <a:ext cx="9525" cy="331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39170"/>
            <a:ext cx="8840979" cy="1036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5"/>
              </a:lnSpc>
              <a:spcBef>
                <a:spcPct val="0"/>
              </a:spcBef>
            </a:pPr>
            <a:r>
              <a:rPr lang="en-US" b="true" sz="294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Single inheritance means </a:t>
            </a:r>
            <a:r>
              <a:rPr lang="en-US" b="true" sz="294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one derived class inherits from one base class.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95942" y="740812"/>
            <a:ext cx="4368701" cy="64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5"/>
              </a:lnSpc>
              <a:spcBef>
                <a:spcPct val="0"/>
              </a:spcBef>
            </a:pPr>
            <a:r>
              <a:rPr lang="en-US" b="true" sz="38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Single</a:t>
            </a:r>
            <a:r>
              <a:rPr lang="en-US" b="true" sz="38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inheritance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9053" y="770262"/>
            <a:ext cx="4941491" cy="612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5"/>
              </a:lnSpc>
              <a:spcBef>
                <a:spcPct val="0"/>
              </a:spcBef>
            </a:pPr>
            <a:r>
              <a:rPr lang="en-US" b="true" sz="36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36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ultilevel Inheritance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179135" y="260400"/>
            <a:ext cx="6520713" cy="9835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6"/>
              </a:lnSpc>
              <a:spcBef>
                <a:spcPct val="0"/>
              </a:spcBef>
            </a:pP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Animal{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public: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void eat(){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cout&lt;&lt;"Animal eats"&lt;&lt;endl;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}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Dog : public Animal{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public: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void bark(){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cout&lt;&lt;"Dog barks"&lt;&lt;endl;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}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Puppy : public Dog{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public: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void weep(){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cout&lt;&lt;"Puppy weeps"&lt;&lt;endl;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}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 main(){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Puppy p;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p.eat();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p.bark();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p.weep();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b="true" sz="20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31127" y="2354891"/>
            <a:ext cx="5718453" cy="329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3"/>
              </a:lnSpc>
              <a:spcBef>
                <a:spcPct val="0"/>
              </a:spcBef>
            </a:pPr>
            <a:r>
              <a:rPr lang="en-US" b="true" sz="3123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→</a:t>
            </a:r>
            <a:r>
              <a:rPr lang="en-US" b="true" sz="3123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B → C</a:t>
            </a:r>
          </a:p>
          <a:p>
            <a:pPr algn="ctr">
              <a:lnSpc>
                <a:spcPts val="4373"/>
              </a:lnSpc>
              <a:spcBef>
                <a:spcPct val="0"/>
              </a:spcBef>
            </a:pPr>
          </a:p>
          <a:p>
            <a:pPr algn="ctr">
              <a:lnSpc>
                <a:spcPts val="4373"/>
              </a:lnSpc>
              <a:spcBef>
                <a:spcPct val="0"/>
              </a:spcBef>
            </a:pPr>
            <a:r>
              <a:rPr lang="en-US" b="true" sz="3123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→ Base class</a:t>
            </a:r>
          </a:p>
          <a:p>
            <a:pPr algn="ctr">
              <a:lnSpc>
                <a:spcPts val="4373"/>
              </a:lnSpc>
              <a:spcBef>
                <a:spcPct val="0"/>
              </a:spcBef>
            </a:pPr>
            <a:r>
              <a:rPr lang="en-US" b="true" sz="3123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 → Derived from A</a:t>
            </a:r>
          </a:p>
          <a:p>
            <a:pPr algn="ctr">
              <a:lnSpc>
                <a:spcPts val="4373"/>
              </a:lnSpc>
              <a:spcBef>
                <a:spcPct val="0"/>
              </a:spcBef>
            </a:pPr>
            <a:r>
              <a:rPr lang="en-US" b="true" sz="3123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 → Derived from B</a:t>
            </a:r>
          </a:p>
          <a:p>
            <a:pPr algn="ctr">
              <a:lnSpc>
                <a:spcPts val="4373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83305" y="6023341"/>
            <a:ext cx="8814098" cy="51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5"/>
              </a:lnSpc>
              <a:spcBef>
                <a:spcPct val="0"/>
              </a:spcBef>
            </a:pPr>
            <a:r>
              <a:rPr lang="en-US" b="true" sz="30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</a:t>
            </a:r>
            <a:r>
              <a:rPr lang="en-US" b="true" sz="30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erties are passed through multiple levels.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199203" y="324554"/>
            <a:ext cx="6548215" cy="999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3"/>
              </a:lnSpc>
              <a:spcBef>
                <a:spcPct val="0"/>
              </a:spcBef>
            </a:pP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Animal{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public: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void eat(){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cout&lt;&lt;"Animal eats"&lt;&lt;endl;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}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Dog : public Animal{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public: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void bark(){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cout&lt;&lt;"Dog barks"&lt;&lt;endl;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}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Cat : public Animal{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public: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void meow(){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cout&lt;&lt;"Cat meows"&lt;&lt;endl;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}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 main(){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Dog d;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Cat c;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d.eat();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d.bark();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c.eat();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c.meow();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b="true" sz="17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4397" y="472006"/>
            <a:ext cx="4921010" cy="55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25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Hie</a:t>
            </a:r>
            <a:r>
              <a:rPr lang="en-US" b="true" sz="325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rarchical Inheritance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6524" y="1610940"/>
            <a:ext cx="8537476" cy="51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5"/>
              </a:lnSpc>
              <a:spcBef>
                <a:spcPct val="0"/>
              </a:spcBef>
            </a:pPr>
            <a:r>
              <a:rPr lang="en-US" b="true" sz="3025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3025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ultiple classes inherit from one base class.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66149" y="2475275"/>
            <a:ext cx="3531587" cy="2862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5"/>
              </a:lnSpc>
              <a:spcBef>
                <a:spcPct val="0"/>
              </a:spcBef>
            </a:pPr>
            <a:r>
              <a:rPr lang="en-US" b="true" sz="544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Animal</a:t>
            </a:r>
          </a:p>
          <a:p>
            <a:pPr algn="ctr">
              <a:lnSpc>
                <a:spcPts val="7625"/>
              </a:lnSpc>
              <a:spcBef>
                <a:spcPct val="0"/>
              </a:spcBef>
            </a:pPr>
            <a:r>
              <a:rPr lang="en-US" b="true" sz="544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/     \</a:t>
            </a:r>
          </a:p>
          <a:p>
            <a:pPr algn="ctr">
              <a:lnSpc>
                <a:spcPts val="7625"/>
              </a:lnSpc>
              <a:spcBef>
                <a:spcPct val="0"/>
              </a:spcBef>
            </a:pPr>
            <a:r>
              <a:rPr lang="en-US" b="true" sz="544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Dog     Cat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6228569"/>
            <a:ext cx="10078450" cy="1045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5"/>
              </a:lnSpc>
              <a:spcBef>
                <a:spcPct val="0"/>
              </a:spcBef>
            </a:pPr>
            <a:r>
              <a:rPr lang="en-US" b="true" sz="300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Your Multiple derived classes share the same base class features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8713" y="255620"/>
            <a:ext cx="4085531" cy="59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8"/>
              </a:lnSpc>
              <a:spcBef>
                <a:spcPct val="0"/>
              </a:spcBef>
            </a:pPr>
            <a:r>
              <a:rPr lang="en-US" b="true" sz="35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Hyb</a:t>
            </a:r>
            <a:r>
              <a:rPr lang="en-US" b="true" sz="35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rid Inheritance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991" y="981075"/>
            <a:ext cx="4529501" cy="396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</a:pPr>
          </a:p>
          <a:p>
            <a:pPr algn="ctr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Combination of two</a:t>
            </a:r>
            <a:r>
              <a:rPr lang="en-US" b="true" sz="2525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or more </a:t>
            </a:r>
            <a:r>
              <a:rPr lang="en-US" b="true" sz="2525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inheritance types.</a:t>
            </a:r>
          </a:p>
          <a:p>
            <a:pPr algn="ctr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</a:t>
            </a:r>
          </a:p>
          <a:p>
            <a:pPr algn="ctr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/ \</a:t>
            </a:r>
          </a:p>
          <a:p>
            <a:pPr algn="ctr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B C</a:t>
            </a:r>
          </a:p>
          <a:p>
            <a:pPr algn="ctr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\ /</a:t>
            </a:r>
          </a:p>
          <a:p>
            <a:pPr algn="ctr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</a:t>
            </a:r>
          </a:p>
          <a:p>
            <a:pPr algn="ctr">
              <a:lnSpc>
                <a:spcPts val="3535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866102" y="291723"/>
            <a:ext cx="5625307" cy="141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  <a:spcBef>
                <a:spcPct val="0"/>
              </a:spcBef>
            </a:pPr>
            <a:r>
              <a:rPr lang="en-US" b="true" sz="27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7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ultiple + Multilevel</a:t>
            </a:r>
          </a:p>
          <a:p>
            <a:pPr algn="ctr">
              <a:lnSpc>
                <a:spcPts val="3808"/>
              </a:lnSpc>
              <a:spcBef>
                <a:spcPct val="0"/>
              </a:spcBef>
            </a:pPr>
            <a:r>
              <a:rPr lang="en-US" b="true" sz="27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Often causes Diamond Problem.</a:t>
            </a:r>
          </a:p>
          <a:p>
            <a:pPr algn="ctr">
              <a:lnSpc>
                <a:spcPts val="3808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866102" y="2532177"/>
            <a:ext cx="8616325" cy="3489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  <a:spcBef>
                <a:spcPct val="0"/>
              </a:spcBef>
            </a:pPr>
            <a:r>
              <a:rPr lang="en-US" b="true" sz="2479">
                <a:solidFill>
                  <a:srgbClr val="5E17E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Diam</a:t>
            </a:r>
            <a:r>
              <a:rPr lang="en-US" b="true" sz="2479">
                <a:solidFill>
                  <a:srgbClr val="5E17E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ond Problem</a:t>
            </a:r>
          </a:p>
          <a:p>
            <a:pPr algn="l">
              <a:lnSpc>
                <a:spcPts val="3471"/>
              </a:lnSpc>
              <a:spcBef>
                <a:spcPct val="0"/>
              </a:spcBef>
            </a:pPr>
          </a:p>
          <a:p>
            <a:pPr algn="l">
              <a:lnSpc>
                <a:spcPts val="3471"/>
              </a:lnSpc>
              <a:spcBef>
                <a:spcPct val="0"/>
              </a:spcBef>
            </a:pPr>
            <a:r>
              <a:rPr lang="en-US" b="true" sz="2479">
                <a:solidFill>
                  <a:srgbClr val="5E17E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Two classes inherit from the same base, and another class inherits from both of them.</a:t>
            </a:r>
          </a:p>
          <a:p>
            <a:pPr algn="l">
              <a:lnSpc>
                <a:spcPts val="3471"/>
              </a:lnSpc>
              <a:spcBef>
                <a:spcPct val="0"/>
              </a:spcBef>
            </a:pPr>
          </a:p>
          <a:p>
            <a:pPr algn="l">
              <a:lnSpc>
                <a:spcPts val="3471"/>
              </a:lnSpc>
              <a:spcBef>
                <a:spcPct val="0"/>
              </a:spcBef>
            </a:pPr>
            <a:r>
              <a:rPr lang="en-US" b="true" sz="2479">
                <a:solidFill>
                  <a:srgbClr val="5E17E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This causes duplicate A subobjects in D.</a:t>
            </a:r>
          </a:p>
          <a:p>
            <a:pPr algn="l">
              <a:lnSpc>
                <a:spcPts val="3471"/>
              </a:lnSpc>
              <a:spcBef>
                <a:spcPct val="0"/>
              </a:spcBef>
            </a:pPr>
          </a:p>
          <a:p>
            <a:pPr algn="l">
              <a:lnSpc>
                <a:spcPts val="3471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033" y="6223358"/>
            <a:ext cx="7019629" cy="3356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385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A {};</a:t>
            </a:r>
          </a:p>
          <a:p>
            <a:pPr algn="ctr">
              <a:lnSpc>
                <a:spcPts val="5403"/>
              </a:lnSpc>
              <a:spcBef>
                <a:spcPct val="0"/>
              </a:spcBef>
            </a:pPr>
            <a:r>
              <a:rPr lang="en-US" b="true" sz="38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B : vi</a:t>
            </a:r>
            <a:r>
              <a:rPr lang="en-US" b="true" sz="38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rtual public A {};</a:t>
            </a:r>
          </a:p>
          <a:p>
            <a:pPr algn="ctr">
              <a:lnSpc>
                <a:spcPts val="5403"/>
              </a:lnSpc>
              <a:spcBef>
                <a:spcPct val="0"/>
              </a:spcBef>
            </a:pPr>
            <a:r>
              <a:rPr lang="en-US" b="true" sz="38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C : virtual public A {};</a:t>
            </a:r>
          </a:p>
          <a:p>
            <a:pPr algn="ctr">
              <a:lnSpc>
                <a:spcPts val="5403"/>
              </a:lnSpc>
              <a:spcBef>
                <a:spcPct val="0"/>
              </a:spcBef>
            </a:pPr>
            <a:r>
              <a:rPr lang="en-US" b="true" sz="38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D : public B, public C {};</a:t>
            </a:r>
          </a:p>
          <a:p>
            <a:pPr algn="ctr">
              <a:lnSpc>
                <a:spcPts val="540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999625" y="7653350"/>
            <a:ext cx="7358261" cy="141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7320" indent="-293660" lvl="1">
              <a:lnSpc>
                <a:spcPts val="380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Ens</a:t>
            </a:r>
            <a:r>
              <a:rPr lang="en-US" b="true" sz="27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ures only one copy of A is inherited.</a:t>
            </a:r>
          </a:p>
          <a:p>
            <a:pPr algn="just" marL="587320" indent="-293660" lvl="1">
              <a:lnSpc>
                <a:spcPts val="380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Solves ambiguity</a:t>
            </a:r>
          </a:p>
          <a:p>
            <a:pPr algn="just">
              <a:lnSpc>
                <a:spcPts val="38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76200"/>
            <a:ext cx="6256513" cy="4461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08"/>
              </a:lnSpc>
            </a:pPr>
            <a:r>
              <a:rPr lang="en-US" sz="372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Abstraction </a:t>
            </a:r>
          </a:p>
          <a:p>
            <a:pPr algn="just">
              <a:lnSpc>
                <a:spcPts val="3808"/>
              </a:lnSpc>
            </a:pPr>
            <a:r>
              <a:rPr lang="en-US" sz="272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Abstraction means hiding internal implementation details and showing only the essential features of an object.</a:t>
            </a:r>
          </a:p>
          <a:p>
            <a:pPr algn="just">
              <a:lnSpc>
                <a:spcPts val="3808"/>
              </a:lnSpc>
            </a:pPr>
          </a:p>
          <a:p>
            <a:pPr algn="just">
              <a:lnSpc>
                <a:spcPts val="3808"/>
              </a:lnSpc>
            </a:pPr>
            <a:r>
              <a:rPr lang="en-US" sz="2720" b="true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Show what an object does, hide how it does it.</a:t>
            </a:r>
          </a:p>
          <a:p>
            <a:pPr algn="just">
              <a:lnSpc>
                <a:spcPts val="3808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857770" y="441138"/>
            <a:ext cx="7127364" cy="9808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331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Animal{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p</a:t>
            </a: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ublic: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virtual void eat()=0;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5E17E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Cat: public Animal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5E17E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 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5E17E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public: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5E17E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void eat()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5E17E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{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5E17E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cout&lt;&lt;"i eat non-veg "&lt;&lt;endl;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5E17E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}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5E17E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Cow: public Animal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 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public: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void eat()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{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cout&lt;&lt;"i eat veg "&lt;&lt;endl;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}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</a:p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  <a:p>
            <a:pPr algn="l">
              <a:lnSpc>
                <a:spcPts val="326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76820" y="6301617"/>
            <a:ext cx="10068821" cy="238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273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Animal is an Abstract Class.</a:t>
            </a:r>
          </a:p>
          <a:p>
            <a:pPr algn="l">
              <a:lnSpc>
                <a:spcPts val="3183"/>
              </a:lnSpc>
              <a:spcBef>
                <a:spcPct val="0"/>
              </a:spcBef>
            </a:pPr>
            <a:r>
              <a:rPr lang="en-US" b="true" sz="227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• eat() is a P</a:t>
            </a:r>
            <a:r>
              <a:rPr lang="en-US" b="true" sz="227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ure Virtual Function (=0).</a:t>
            </a:r>
          </a:p>
          <a:p>
            <a:pPr algn="l">
              <a:lnSpc>
                <a:spcPts val="3183"/>
              </a:lnSpc>
              <a:spcBef>
                <a:spcPct val="0"/>
              </a:spcBef>
            </a:pPr>
            <a:r>
              <a:rPr lang="en-US" b="true" sz="227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• Abstract class cannot be instantiated (we cannot create Animal obj).</a:t>
            </a:r>
          </a:p>
          <a:p>
            <a:pPr algn="l">
              <a:lnSpc>
                <a:spcPts val="3183"/>
              </a:lnSpc>
              <a:spcBef>
                <a:spcPct val="0"/>
              </a:spcBef>
            </a:pPr>
            <a:r>
              <a:rPr lang="en-US" b="true" sz="227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• Derived classes must implement the pure virtual function.</a:t>
            </a:r>
          </a:p>
          <a:p>
            <a:pPr algn="l">
              <a:lnSpc>
                <a:spcPts val="3183"/>
              </a:lnSpc>
              <a:spcBef>
                <a:spcPct val="0"/>
              </a:spcBef>
            </a:pPr>
            <a:r>
              <a:rPr lang="en-US" b="true" sz="227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• Cat and Cow provide their own implementation of eat().</a:t>
            </a:r>
          </a:p>
          <a:p>
            <a:pPr algn="l">
              <a:lnSpc>
                <a:spcPts val="3183"/>
              </a:lnSpc>
              <a:spcBef>
                <a:spcPct val="0"/>
              </a:spcBef>
            </a:pPr>
            <a:r>
              <a:rPr lang="en-US" b="true" sz="227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• This hides the general behavior and shows specific implementation.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0952" y="4406523"/>
            <a:ext cx="7421235" cy="141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  <a:spcBef>
                <a:spcPct val="0"/>
              </a:spcBef>
            </a:pPr>
            <a:r>
              <a:rPr lang="en-US" b="true" sz="2720">
                <a:solidFill>
                  <a:srgbClr val="5E17E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"Animal</a:t>
            </a:r>
            <a:r>
              <a:rPr lang="en-US" b="true" sz="2720">
                <a:solidFill>
                  <a:srgbClr val="5E17E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class defines the abstraction, while Cat and Cow provide the concrete implementation."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358" y="-76200"/>
            <a:ext cx="10632870" cy="251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4"/>
              </a:lnSpc>
              <a:spcBef>
                <a:spcPct val="0"/>
              </a:spcBef>
            </a:pPr>
            <a:r>
              <a:rPr lang="en-US" b="true" sz="395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b="true" sz="395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olymorphism</a:t>
            </a:r>
          </a:p>
          <a:p>
            <a:pPr algn="l">
              <a:lnSpc>
                <a:spcPts val="5534"/>
              </a:lnSpc>
              <a:spcBef>
                <a:spcPct val="0"/>
              </a:spcBef>
            </a:pPr>
          </a:p>
          <a:p>
            <a:pPr algn="l">
              <a:lnSpc>
                <a:spcPts val="4509"/>
              </a:lnSpc>
              <a:spcBef>
                <a:spcPct val="0"/>
              </a:spcBef>
            </a:pPr>
            <a:r>
              <a:rPr lang="en-US" b="true" sz="32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       </a:t>
            </a:r>
            <a:r>
              <a:rPr lang="en-US" b="true" sz="32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Polymorphism means "many forms".</a:t>
            </a:r>
          </a:p>
          <a:p>
            <a:pPr algn="l">
              <a:lnSpc>
                <a:spcPts val="4509"/>
              </a:lnSpc>
              <a:spcBef>
                <a:spcPct val="0"/>
              </a:spcBef>
            </a:pPr>
            <a:r>
              <a:rPr lang="en-US" b="true" sz="32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       Same function name, but different behavior..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3457" y="3866122"/>
            <a:ext cx="16875843" cy="50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  <a:spcBef>
                <a:spcPct val="0"/>
              </a:spcBef>
            </a:pPr>
            <a:r>
              <a:rPr lang="en-US" b="true" sz="2971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pers</a:t>
            </a:r>
            <a:r>
              <a:rPr lang="en-US" b="true" sz="2971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 can be a student, employee, and customer — same person, different roles.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55171" y="5834241"/>
            <a:ext cx="7577659" cy="2226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b="true" sz="31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There are tw</a:t>
            </a:r>
            <a:r>
              <a:rPr lang="en-US" b="true" sz="31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 types of polymorphism:</a:t>
            </a:r>
          </a:p>
          <a:p>
            <a:pPr algn="l" marL="682202" indent="-341101" lvl="1">
              <a:lnSpc>
                <a:spcPts val="4423"/>
              </a:lnSpc>
              <a:buFont typeface="Arial"/>
              <a:buChar char="•"/>
            </a:pPr>
            <a:r>
              <a:rPr lang="en-US" b="true" sz="31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Compile Time Polymorphism </a:t>
            </a:r>
          </a:p>
          <a:p>
            <a:pPr algn="l" marL="682202" indent="-341101" lvl="1">
              <a:lnSpc>
                <a:spcPts val="4423"/>
              </a:lnSpc>
              <a:buFont typeface="Arial"/>
              <a:buChar char="•"/>
            </a:pPr>
            <a:r>
              <a:rPr lang="en-US" b="true" sz="31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Run Time Polymorphism </a:t>
            </a:r>
          </a:p>
          <a:p>
            <a:pPr algn="l">
              <a:lnSpc>
                <a:spcPts val="442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06198" y="568672"/>
            <a:ext cx="4792563" cy="848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#include &lt;i</a:t>
            </a: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ostream&gt;</a:t>
            </a:r>
          </a:p>
          <a:p>
            <a:pPr algn="just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using namespace std;</a:t>
            </a:r>
          </a:p>
          <a:p>
            <a:pPr algn="just">
              <a:lnSpc>
                <a:spcPts val="3535"/>
              </a:lnSpc>
              <a:spcBef>
                <a:spcPct val="0"/>
              </a:spcBef>
            </a:pPr>
          </a:p>
          <a:p>
            <a:pPr algn="just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Math{</a:t>
            </a:r>
          </a:p>
          <a:p>
            <a:pPr algn="just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public:</a:t>
            </a:r>
          </a:p>
          <a:p>
            <a:pPr algn="just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int add(int a, int b){</a:t>
            </a:r>
          </a:p>
          <a:p>
            <a:pPr algn="just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return a + b;</a:t>
            </a:r>
          </a:p>
          <a:p>
            <a:pPr algn="just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}</a:t>
            </a:r>
          </a:p>
          <a:p>
            <a:pPr algn="just">
              <a:lnSpc>
                <a:spcPts val="3535"/>
              </a:lnSpc>
              <a:spcBef>
                <a:spcPct val="0"/>
              </a:spcBef>
            </a:pPr>
          </a:p>
          <a:p>
            <a:pPr algn="just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int add(int a, int b, int c){</a:t>
            </a:r>
          </a:p>
          <a:p>
            <a:pPr algn="just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return a + b + c;</a:t>
            </a:r>
          </a:p>
          <a:p>
            <a:pPr algn="just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}</a:t>
            </a:r>
          </a:p>
          <a:p>
            <a:pPr algn="just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  <a:p>
            <a:pPr algn="just">
              <a:lnSpc>
                <a:spcPts val="3535"/>
              </a:lnSpc>
              <a:spcBef>
                <a:spcPct val="0"/>
              </a:spcBef>
            </a:pPr>
          </a:p>
          <a:p>
            <a:pPr algn="just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 main(){</a:t>
            </a:r>
          </a:p>
          <a:p>
            <a:pPr algn="just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Math obj;</a:t>
            </a:r>
          </a:p>
          <a:p>
            <a:pPr algn="just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cout &lt;&lt; obj.add(2,3) &lt;&lt; endl;</a:t>
            </a:r>
          </a:p>
          <a:p>
            <a:pPr algn="just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cout &lt;&lt; obj.add(2,3,4);</a:t>
            </a:r>
          </a:p>
          <a:p>
            <a:pPr algn="just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76974" y="-47625"/>
            <a:ext cx="8250039" cy="43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Compile Time Polymorphism (Functi</a:t>
            </a:r>
            <a:r>
              <a:rPr lang="en-US" b="true" sz="2525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 Overloading)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5817" y="1959854"/>
            <a:ext cx="8250039" cy="43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Same functi</a:t>
            </a:r>
            <a:r>
              <a:rPr lang="en-US" b="true" sz="25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 name add(), but different parameters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981075"/>
            <a:ext cx="10656673" cy="439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  <a:spcBef>
                <a:spcPct val="0"/>
              </a:spcBef>
            </a:pPr>
            <a:r>
              <a:rPr lang="en-US" b="true" sz="258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f</a:t>
            </a:r>
            <a:r>
              <a:rPr lang="en-US" b="true" sz="258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unction call is resolved during compilation (Static Binding).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18560" y="2333854"/>
            <a:ext cx="10370267" cy="140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  <a:spcBef>
                <a:spcPct val="0"/>
              </a:spcBef>
            </a:pPr>
          </a:p>
          <a:p>
            <a:pPr algn="l">
              <a:lnSpc>
                <a:spcPts val="3583"/>
              </a:lnSpc>
              <a:spcBef>
                <a:spcPct val="0"/>
              </a:spcBef>
            </a:pPr>
            <a:r>
              <a:rPr lang="en-US" b="true" sz="25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</a:t>
            </a:r>
            <a:r>
              <a:rPr lang="en-US" b="true" sz="25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compiler decides which function to call at compile time.</a:t>
            </a:r>
          </a:p>
          <a:p>
            <a:pPr algn="l">
              <a:lnSpc>
                <a:spcPts val="386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92726" y="729607"/>
            <a:ext cx="4864940" cy="919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8"/>
              </a:lnSpc>
            </a:pPr>
          </a:p>
          <a:p>
            <a:pPr algn="l">
              <a:lnSpc>
                <a:spcPts val="3208"/>
              </a:lnSpc>
            </a:pPr>
            <a:r>
              <a:rPr lang="en-US" sz="2291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Base{</a:t>
            </a:r>
          </a:p>
          <a:p>
            <a:pPr algn="l">
              <a:lnSpc>
                <a:spcPts val="3208"/>
              </a:lnSpc>
            </a:pPr>
            <a:r>
              <a:rPr lang="en-US" sz="2291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public:</a:t>
            </a:r>
          </a:p>
          <a:p>
            <a:pPr algn="l">
              <a:lnSpc>
                <a:spcPts val="3208"/>
              </a:lnSpc>
            </a:pPr>
            <a:r>
              <a:rPr lang="en-US" sz="2291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virtual void show()</a:t>
            </a:r>
          </a:p>
          <a:p>
            <a:pPr algn="l">
              <a:lnSpc>
                <a:spcPts val="3208"/>
              </a:lnSpc>
            </a:pPr>
            <a:r>
              <a:rPr lang="en-US" sz="2291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{</a:t>
            </a:r>
          </a:p>
          <a:p>
            <a:pPr algn="l">
              <a:lnSpc>
                <a:spcPts val="3208"/>
              </a:lnSpc>
              <a:spcBef>
                <a:spcPct val="0"/>
              </a:spcBef>
            </a:pPr>
            <a:r>
              <a:rPr lang="en-US" b="true" sz="229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c</a:t>
            </a:r>
            <a:r>
              <a:rPr lang="en-US" b="true" sz="229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out&lt;&lt;" base"&lt;&lt;endl;</a:t>
            </a:r>
          </a:p>
          <a:p>
            <a:pPr algn="l">
              <a:lnSpc>
                <a:spcPts val="3208"/>
              </a:lnSpc>
              <a:spcBef>
                <a:spcPct val="0"/>
              </a:spcBef>
            </a:pPr>
            <a:r>
              <a:rPr lang="en-US" b="true" sz="229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}</a:t>
            </a:r>
          </a:p>
          <a:p>
            <a:pPr algn="l">
              <a:lnSpc>
                <a:spcPts val="3208"/>
              </a:lnSpc>
              <a:spcBef>
                <a:spcPct val="0"/>
              </a:spcBef>
            </a:pPr>
            <a:r>
              <a:rPr lang="en-US" b="true" sz="229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  <a:p>
            <a:pPr algn="l">
              <a:lnSpc>
                <a:spcPts val="3208"/>
              </a:lnSpc>
              <a:spcBef>
                <a:spcPct val="0"/>
              </a:spcBef>
            </a:pPr>
          </a:p>
          <a:p>
            <a:pPr algn="l">
              <a:lnSpc>
                <a:spcPts val="3208"/>
              </a:lnSpc>
              <a:spcBef>
                <a:spcPct val="0"/>
              </a:spcBef>
            </a:pPr>
            <a:r>
              <a:rPr lang="en-US" b="true" sz="229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Drived: public Base</a:t>
            </a:r>
          </a:p>
          <a:p>
            <a:pPr algn="l">
              <a:lnSpc>
                <a:spcPts val="3208"/>
              </a:lnSpc>
              <a:spcBef>
                <a:spcPct val="0"/>
              </a:spcBef>
            </a:pPr>
            <a:r>
              <a:rPr lang="en-US" b="true" sz="229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 </a:t>
            </a:r>
          </a:p>
          <a:p>
            <a:pPr algn="l">
              <a:lnSpc>
                <a:spcPts val="3208"/>
              </a:lnSpc>
              <a:spcBef>
                <a:spcPct val="0"/>
              </a:spcBef>
            </a:pPr>
            <a:r>
              <a:rPr lang="en-US" b="true" sz="229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public:</a:t>
            </a:r>
          </a:p>
          <a:p>
            <a:pPr algn="l">
              <a:lnSpc>
                <a:spcPts val="3208"/>
              </a:lnSpc>
              <a:spcBef>
                <a:spcPct val="0"/>
              </a:spcBef>
            </a:pPr>
            <a:r>
              <a:rPr lang="en-US" b="true" sz="229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void show() override</a:t>
            </a:r>
          </a:p>
          <a:p>
            <a:pPr algn="l">
              <a:lnSpc>
                <a:spcPts val="3208"/>
              </a:lnSpc>
              <a:spcBef>
                <a:spcPct val="0"/>
              </a:spcBef>
            </a:pPr>
            <a:r>
              <a:rPr lang="en-US" b="true" sz="229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{</a:t>
            </a:r>
          </a:p>
          <a:p>
            <a:pPr algn="l">
              <a:lnSpc>
                <a:spcPts val="3208"/>
              </a:lnSpc>
              <a:spcBef>
                <a:spcPct val="0"/>
              </a:spcBef>
            </a:pPr>
            <a:r>
              <a:rPr lang="en-US" b="true" sz="229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cout&lt;&lt;"Drived"&lt;&lt;endl;</a:t>
            </a:r>
          </a:p>
          <a:p>
            <a:pPr algn="l">
              <a:lnSpc>
                <a:spcPts val="3208"/>
              </a:lnSpc>
              <a:spcBef>
                <a:spcPct val="0"/>
              </a:spcBef>
            </a:pPr>
            <a:r>
              <a:rPr lang="en-US" b="true" sz="229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}</a:t>
            </a:r>
          </a:p>
          <a:p>
            <a:pPr algn="l">
              <a:lnSpc>
                <a:spcPts val="3208"/>
              </a:lnSpc>
              <a:spcBef>
                <a:spcPct val="0"/>
              </a:spcBef>
            </a:pPr>
            <a:r>
              <a:rPr lang="en-US" b="true" sz="229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};</a:t>
            </a:r>
          </a:p>
          <a:p>
            <a:pPr algn="l">
              <a:lnSpc>
                <a:spcPts val="3208"/>
              </a:lnSpc>
              <a:spcBef>
                <a:spcPct val="0"/>
              </a:spcBef>
            </a:pPr>
          </a:p>
          <a:p>
            <a:pPr algn="l">
              <a:lnSpc>
                <a:spcPts val="3208"/>
              </a:lnSpc>
              <a:spcBef>
                <a:spcPct val="0"/>
              </a:spcBef>
            </a:pPr>
            <a:r>
              <a:rPr lang="en-US" b="true" sz="2291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 main() {</a:t>
            </a:r>
          </a:p>
          <a:p>
            <a:pPr algn="l">
              <a:lnSpc>
                <a:spcPts val="3208"/>
              </a:lnSpc>
              <a:spcBef>
                <a:spcPct val="0"/>
              </a:spcBef>
            </a:pPr>
            <a:r>
              <a:rPr lang="en-US" b="true" sz="2291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Base *obj= new Drived();</a:t>
            </a:r>
          </a:p>
          <a:p>
            <a:pPr algn="l">
              <a:lnSpc>
                <a:spcPts val="3208"/>
              </a:lnSpc>
              <a:spcBef>
                <a:spcPct val="0"/>
              </a:spcBef>
            </a:pPr>
            <a:r>
              <a:rPr lang="en-US" b="true" sz="2291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obj-&gt;show();</a:t>
            </a:r>
          </a:p>
          <a:p>
            <a:pPr algn="l">
              <a:lnSpc>
                <a:spcPts val="3208"/>
              </a:lnSpc>
              <a:spcBef>
                <a:spcPct val="0"/>
              </a:spcBef>
            </a:pPr>
            <a:r>
              <a:rPr lang="en-US" b="true" sz="2291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</a:t>
            </a:r>
          </a:p>
          <a:p>
            <a:pPr algn="l">
              <a:lnSpc>
                <a:spcPts val="3208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9632588" y="275990"/>
            <a:ext cx="10294762" cy="50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9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untime Polymorphism(Overriding)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483986"/>
            <a:ext cx="11341316" cy="1499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9"/>
              </a:lnSpc>
              <a:spcBef>
                <a:spcPct val="0"/>
              </a:spcBef>
            </a:pPr>
            <a:r>
              <a:rPr lang="en-US" b="true" sz="284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Virtual F</a:t>
            </a:r>
            <a:r>
              <a:rPr lang="en-US" b="true" sz="284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unction</a:t>
            </a:r>
          </a:p>
          <a:p>
            <a:pPr algn="l" marL="615294" indent="-307647" lvl="1">
              <a:lnSpc>
                <a:spcPts val="398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4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show() in Base class is declared as virtual.</a:t>
            </a:r>
          </a:p>
          <a:p>
            <a:pPr algn="l" marL="615294" indent="-307647" lvl="1">
              <a:lnSpc>
                <a:spcPts val="398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4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 allows the function to be overridden in the derived class.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695678"/>
            <a:ext cx="10999331" cy="193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  <a:spcBef>
                <a:spcPct val="0"/>
              </a:spcBef>
            </a:pPr>
            <a:r>
              <a:rPr lang="en-US" b="true" sz="27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Functi</a:t>
            </a:r>
            <a:r>
              <a:rPr lang="en-US" b="true" sz="27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 Overriding</a:t>
            </a:r>
          </a:p>
          <a:p>
            <a:pPr algn="l" marL="595844" indent="-297922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Drived class redefines the show() function.</a:t>
            </a:r>
          </a:p>
          <a:p>
            <a:pPr algn="l" marL="595844" indent="-297922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This is called Function Overriding.</a:t>
            </a:r>
          </a:p>
          <a:p>
            <a:pPr algn="l">
              <a:lnSpc>
                <a:spcPts val="3863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19130" y="8592755"/>
            <a:ext cx="10361071" cy="109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3"/>
              </a:lnSpc>
              <a:spcBef>
                <a:spcPct val="0"/>
              </a:spcBef>
            </a:pPr>
            <a:r>
              <a:rPr lang="en-US" b="true" sz="315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315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untime polymorphism is achieved using virtual functions and base class pointers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6925" y="4395353"/>
            <a:ext cx="9310787" cy="243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314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314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untime Polymorphism</a:t>
            </a:r>
          </a:p>
          <a:p>
            <a:pPr algn="l" marL="499671" indent="-249836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14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When we call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314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                        </a:t>
            </a:r>
            <a:r>
              <a:rPr lang="en-US" b="true" sz="2314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obj-&gt;show();</a:t>
            </a:r>
          </a:p>
          <a:p>
            <a:pPr algn="l" marL="499671" indent="-249836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14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program checks which object the pointer refers to.</a:t>
            </a:r>
          </a:p>
          <a:p>
            <a:pPr algn="l" marL="499671" indent="-249836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14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Since it points to a Drived object, Drived::show() is executed.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60637" y="7165493"/>
            <a:ext cx="7383363" cy="109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3"/>
              </a:lnSpc>
              <a:spcBef>
                <a:spcPct val="0"/>
              </a:spcBef>
            </a:pPr>
            <a:r>
              <a:rPr lang="en-US" b="true" sz="31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functi</a:t>
            </a:r>
            <a:r>
              <a:rPr lang="en-US" b="true" sz="31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 call is decided at runtime, not compile time.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DAHCxABzYmA</dc:identifier>
  <dcterms:modified xsi:type="dcterms:W3CDTF">2011-08-01T06:04:30Z</dcterms:modified>
  <cp:revision>1</cp:revision>
  <dc:title>C++ KT</dc:title>
</cp:coreProperties>
</file>