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EC7C3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EC7C3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EC7C3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EC7C3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927" y="193039"/>
            <a:ext cx="1182814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EC7C3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85048"/>
            <a:ext cx="10328275" cy="4071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visteon.com/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visteon.com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0" y="0"/>
              <a:ext cx="94488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731" y="9524"/>
              <a:ext cx="8175625" cy="6848475"/>
            </a:xfrm>
            <a:custGeom>
              <a:avLst/>
              <a:gdLst/>
              <a:ahLst/>
              <a:cxnLst/>
              <a:rect l="l" t="t" r="r" b="b"/>
              <a:pathLst>
                <a:path w="8175625" h="6848475">
                  <a:moveTo>
                    <a:pt x="8175244" y="0"/>
                  </a:moveTo>
                  <a:lnTo>
                    <a:pt x="8175244" y="0"/>
                  </a:lnTo>
                  <a:lnTo>
                    <a:pt x="107569" y="0"/>
                  </a:lnTo>
                  <a:lnTo>
                    <a:pt x="107569" y="6561252"/>
                  </a:lnTo>
                  <a:lnTo>
                    <a:pt x="12268" y="6831114"/>
                  </a:lnTo>
                  <a:lnTo>
                    <a:pt x="0" y="6848475"/>
                  </a:lnTo>
                  <a:lnTo>
                    <a:pt x="6146" y="6848475"/>
                  </a:lnTo>
                  <a:lnTo>
                    <a:pt x="107569" y="6848475"/>
                  </a:lnTo>
                  <a:lnTo>
                    <a:pt x="2517394" y="6848475"/>
                  </a:lnTo>
                  <a:lnTo>
                    <a:pt x="2518333" y="6848475"/>
                  </a:lnTo>
                  <a:lnTo>
                    <a:pt x="3332099" y="6848475"/>
                  </a:lnTo>
                  <a:lnTo>
                    <a:pt x="81752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" y="638175"/>
              <a:ext cx="2743200" cy="5334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14300" cy="6858000"/>
            </a:xfrm>
            <a:custGeom>
              <a:avLst/>
              <a:gdLst/>
              <a:ahLst/>
              <a:cxnLst/>
              <a:rect l="l" t="t" r="r" b="b"/>
              <a:pathLst>
                <a:path w="114300" h="6858000">
                  <a:moveTo>
                    <a:pt x="114300" y="2533650"/>
                  </a:moveTo>
                  <a:lnTo>
                    <a:pt x="0" y="2533650"/>
                  </a:lnTo>
                  <a:lnTo>
                    <a:pt x="0" y="6858000"/>
                  </a:lnTo>
                  <a:lnTo>
                    <a:pt x="114300" y="6858000"/>
                  </a:lnTo>
                  <a:lnTo>
                    <a:pt x="114300" y="2533650"/>
                  </a:lnTo>
                  <a:close/>
                </a:path>
                <a:path w="114300" h="6858000">
                  <a:moveTo>
                    <a:pt x="114300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114300" y="1619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C48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16192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1143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" y="9144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48F1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68642" y="1506474"/>
            <a:ext cx="459803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0000"/>
                </a:solidFill>
              </a:rPr>
              <a:t>Internship</a:t>
            </a:r>
            <a:r>
              <a:rPr dirty="0" spc="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at</a:t>
            </a:r>
            <a:r>
              <a:rPr dirty="0" spc="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Visteon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06425" y="6015705"/>
            <a:ext cx="1272540" cy="294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0"/>
              </a:lnSpc>
            </a:pPr>
            <a:r>
              <a:rPr dirty="0" sz="1800" spc="-10">
                <a:solidFill>
                  <a:srgbClr val="0C4873"/>
                </a:solidFill>
                <a:latin typeface="Roboto"/>
                <a:cs typeface="Roboto"/>
                <a:hlinkClick r:id="rId4"/>
              </a:rPr>
              <a:t>visteon.com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2940" y="4788471"/>
            <a:ext cx="27882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Manager: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Irshad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228409" y="2327020"/>
          <a:ext cx="5692775" cy="1837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7514"/>
                <a:gridCol w="1308100"/>
                <a:gridCol w="2593340"/>
              </a:tblGrid>
              <a:tr h="378460">
                <a:tc>
                  <a:txBody>
                    <a:bodyPr/>
                    <a:lstStyle/>
                    <a:p>
                      <a:pPr marL="6172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L w="6350">
                      <a:solidFill>
                        <a:srgbClr val="EC7C30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4679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CDS</a:t>
                      </a:r>
                      <a:r>
                        <a:rPr dirty="0" sz="180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115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Mentor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3020">
                    <a:lnR w="6350">
                      <a:solidFill>
                        <a:srgbClr val="EC7C30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Eepshita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Pahari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6350">
                      <a:solidFill>
                        <a:srgbClr val="EC7C30"/>
                      </a:solidFill>
                      <a:prstDash val="solid"/>
                    </a:lnL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epahari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Soumya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V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R w="6350">
                      <a:solidFill>
                        <a:srgbClr val="EC7C30"/>
                      </a:solidFill>
                      <a:prstDash val="solid"/>
                    </a:lnR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Poojapriya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L w="6350">
                      <a:solidFill>
                        <a:srgbClr val="EC7C30"/>
                      </a:solidFill>
                      <a:prstDash val="solid"/>
                    </a:lnL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psenth10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Naveen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Madala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640">
                    <a:lnR w="6350">
                      <a:solidFill>
                        <a:srgbClr val="EC7C30"/>
                      </a:solidFill>
                      <a:prstDash val="solid"/>
                    </a:lnR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Pushkar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Paul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L w="6350">
                      <a:solidFill>
                        <a:srgbClr val="EC7C30"/>
                      </a:solidFill>
                      <a:prstDash val="solid"/>
                    </a:lnL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ppaul3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Harshvardhan</a:t>
                      </a:r>
                      <a:r>
                        <a:rPr dirty="0" sz="18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Patil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>
                    <a:lnR w="6350">
                      <a:solidFill>
                        <a:srgbClr val="EC7C30"/>
                      </a:solidFill>
                      <a:prstDash val="solid"/>
                    </a:lnR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Hegde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L w="6350">
                      <a:solidFill>
                        <a:srgbClr val="EC7C30"/>
                      </a:solidFill>
                      <a:prstDash val="solid"/>
                    </a:lnL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rhegde2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Sanket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Chaudhari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910">
                    <a:lnR w="6350">
                      <a:solidFill>
                        <a:srgbClr val="EC7C30"/>
                      </a:solidFill>
                      <a:prstDash val="solid"/>
                    </a:lnR>
                    <a:lnT w="6350">
                      <a:solidFill>
                        <a:srgbClr val="EC7C30"/>
                      </a:solidFill>
                      <a:prstDash val="solid"/>
                    </a:lnT>
                    <a:lnB w="6350">
                      <a:solidFill>
                        <a:srgbClr val="EC7C3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00" y="0"/>
              <a:ext cx="9448800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9524"/>
              <a:ext cx="8181975" cy="6848475"/>
            </a:xfrm>
            <a:custGeom>
              <a:avLst/>
              <a:gdLst/>
              <a:ahLst/>
              <a:cxnLst/>
              <a:rect l="l" t="t" r="r" b="b"/>
              <a:pathLst>
                <a:path w="8181975" h="6848475">
                  <a:moveTo>
                    <a:pt x="8181975" y="0"/>
                  </a:moveTo>
                  <a:lnTo>
                    <a:pt x="8181975" y="0"/>
                  </a:lnTo>
                  <a:lnTo>
                    <a:pt x="0" y="0"/>
                  </a:lnTo>
                  <a:lnTo>
                    <a:pt x="0" y="6848475"/>
                  </a:lnTo>
                  <a:lnTo>
                    <a:pt x="3338830" y="6848475"/>
                  </a:lnTo>
                  <a:lnTo>
                    <a:pt x="8181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" y="638175"/>
              <a:ext cx="2743200" cy="5334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14300" cy="6858000"/>
            </a:xfrm>
            <a:custGeom>
              <a:avLst/>
              <a:gdLst/>
              <a:ahLst/>
              <a:cxnLst/>
              <a:rect l="l" t="t" r="r" b="b"/>
              <a:pathLst>
                <a:path w="114300" h="6858000">
                  <a:moveTo>
                    <a:pt x="114300" y="2533650"/>
                  </a:moveTo>
                  <a:lnTo>
                    <a:pt x="0" y="2533650"/>
                  </a:lnTo>
                  <a:lnTo>
                    <a:pt x="0" y="6858000"/>
                  </a:lnTo>
                  <a:lnTo>
                    <a:pt x="114300" y="6858000"/>
                  </a:lnTo>
                  <a:lnTo>
                    <a:pt x="114300" y="2533650"/>
                  </a:lnTo>
                  <a:close/>
                </a:path>
                <a:path w="114300" h="6858000">
                  <a:moveTo>
                    <a:pt x="114300" y="0"/>
                  </a:moveTo>
                  <a:lnTo>
                    <a:pt x="0" y="0"/>
                  </a:lnTo>
                  <a:lnTo>
                    <a:pt x="0" y="1619250"/>
                  </a:lnTo>
                  <a:lnTo>
                    <a:pt x="114300" y="1619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C48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0" y="1619250"/>
              <a:ext cx="114300" cy="914400"/>
            </a:xfrm>
            <a:custGeom>
              <a:avLst/>
              <a:gdLst/>
              <a:ahLst/>
              <a:cxnLst/>
              <a:rect l="l" t="t" r="r" b="b"/>
              <a:pathLst>
                <a:path w="114300" h="914400">
                  <a:moveTo>
                    <a:pt x="1143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14300" y="9144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48F1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04277" y="2616263"/>
            <a:ext cx="2009775" cy="849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400" spc="-20">
                <a:solidFill>
                  <a:srgbClr val="000000"/>
                </a:solidFill>
              </a:rPr>
              <a:t>VHAL</a:t>
            </a:r>
            <a:endParaRPr sz="5400"/>
          </a:p>
        </p:txBody>
      </p:sp>
      <p:sp>
        <p:nvSpPr>
          <p:cNvPr id="9" name="object 9" descr=""/>
          <p:cNvSpPr txBox="1"/>
          <p:nvPr/>
        </p:nvSpPr>
        <p:spPr>
          <a:xfrm>
            <a:off x="606425" y="6015705"/>
            <a:ext cx="1272540" cy="2940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30"/>
              </a:lnSpc>
            </a:pPr>
            <a:r>
              <a:rPr dirty="0" sz="1800" spc="-10">
                <a:solidFill>
                  <a:srgbClr val="0C4873"/>
                </a:solidFill>
                <a:latin typeface="Roboto"/>
                <a:cs typeface="Roboto"/>
                <a:hlinkClick r:id="rId4"/>
              </a:rPr>
              <a:t>visteon.com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0329" y="800735"/>
            <a:ext cx="282194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CONTENTS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69640" y="1782508"/>
            <a:ext cx="5892165" cy="322072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25"/>
              </a:spcBef>
              <a:buAutoNum type="arabicPeriod"/>
              <a:tabLst>
                <a:tab pos="469900" algn="l"/>
              </a:tabLst>
            </a:pPr>
            <a:r>
              <a:rPr dirty="0" sz="2400" spc="-10">
                <a:latin typeface="Times New Roman"/>
                <a:cs typeface="Times New Roman"/>
              </a:rPr>
              <a:t>Introduction.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Daily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Tasks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Responsibilities.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900" algn="l"/>
              </a:tabLst>
            </a:pPr>
            <a:r>
              <a:rPr dirty="0" sz="2400" spc="-20">
                <a:latin typeface="Times New Roman"/>
                <a:cs typeface="Times New Roman"/>
              </a:rPr>
              <a:t>Tools/Technologies/Methodologies</a:t>
            </a:r>
            <a:r>
              <a:rPr dirty="0" sz="2400" spc="1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Used.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469900" algn="l"/>
              </a:tabLst>
            </a:pPr>
            <a:r>
              <a:rPr dirty="0" sz="2400" spc="-10">
                <a:latin typeface="Times New Roman"/>
                <a:cs typeface="Times New Roman"/>
              </a:rPr>
              <a:t>Skills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Knowledge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Gained.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Individual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Learnings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10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Technical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Exposure.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900" algn="l"/>
              </a:tabLst>
            </a:pPr>
            <a:r>
              <a:rPr dirty="0" sz="2400">
                <a:latin typeface="Times New Roman"/>
                <a:cs typeface="Times New Roman"/>
              </a:rPr>
              <a:t>Reflections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&amp;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Learnings.</a:t>
            </a:r>
            <a:endParaRPr sz="24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469900" algn="l"/>
              </a:tabLst>
            </a:pPr>
            <a:r>
              <a:rPr dirty="0" sz="2400" spc="-10">
                <a:latin typeface="Times New Roman"/>
                <a:cs typeface="Times New Roman"/>
              </a:rPr>
              <a:t>Conclusion.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87901" y="6443979"/>
            <a:ext cx="363410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77495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2625" y="1317053"/>
            <a:ext cx="10655935" cy="38925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>
                <a:latin typeface="Times New Roman"/>
                <a:cs typeface="Times New Roman"/>
              </a:rPr>
              <a:t>We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Vehicle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Hardware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Abstraction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Layer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(VHAL)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team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Android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Open-</a:t>
            </a:r>
            <a:r>
              <a:rPr dirty="0" sz="2000" spc="-10">
                <a:latin typeface="Times New Roman"/>
                <a:cs typeface="Times New Roman"/>
              </a:rPr>
              <a:t>Source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(AOSP) </a:t>
            </a:r>
            <a:r>
              <a:rPr dirty="0" sz="2000" spc="-10">
                <a:latin typeface="Times New Roman"/>
                <a:cs typeface="Times New Roman"/>
              </a:rPr>
              <a:t>domain.</a:t>
            </a:r>
            <a:endParaRPr sz="2000">
              <a:latin typeface="Times New Roman"/>
              <a:cs typeface="Times New Roman"/>
            </a:endParaRPr>
          </a:p>
          <a:p>
            <a:pPr marL="355600" marR="523240" indent="-343535">
              <a:lnSpc>
                <a:spcPct val="100000"/>
              </a:lnSpc>
              <a:spcBef>
                <a:spcPts val="9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team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focuses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standardized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interface </a:t>
            </a:r>
            <a:r>
              <a:rPr dirty="0" sz="2000" spc="-10">
                <a:latin typeface="Times New Roman"/>
                <a:cs typeface="Times New Roman"/>
              </a:rPr>
              <a:t>for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Android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Automotive OS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(AAOS)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to </a:t>
            </a:r>
            <a:r>
              <a:rPr dirty="0" sz="2000">
                <a:latin typeface="Times New Roman"/>
                <a:cs typeface="Times New Roman"/>
              </a:rPr>
              <a:t>communicate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vehicle's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underlying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hardware components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ECUs.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9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VHAL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team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responsible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maintaining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VHAL</a:t>
            </a:r>
            <a:r>
              <a:rPr dirty="0" sz="2000" spc="-1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service,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involves </a:t>
            </a:r>
            <a:r>
              <a:rPr dirty="0" sz="2000">
                <a:latin typeface="Times New Roman"/>
                <a:cs typeface="Times New Roman"/>
              </a:rPr>
              <a:t>defining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properties, handling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property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requests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(read/write),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property subscriptions.</a:t>
            </a:r>
            <a:endParaRPr sz="2000">
              <a:latin typeface="Times New Roman"/>
              <a:cs typeface="Times New Roman"/>
            </a:endParaRPr>
          </a:p>
          <a:p>
            <a:pPr marL="355600" marR="247650" indent="-34353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They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robust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flow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Android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framework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vehicle's hardware.</a:t>
            </a:r>
            <a:endParaRPr sz="2000">
              <a:latin typeface="Times New Roman"/>
              <a:cs typeface="Times New Roman"/>
            </a:endParaRPr>
          </a:p>
          <a:p>
            <a:pPr marL="355600" marR="229235" indent="-343535">
              <a:lnSpc>
                <a:spcPct val="100000"/>
              </a:lnSpc>
              <a:spcBef>
                <a:spcPts val="9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20">
                <a:latin typeface="Times New Roman"/>
                <a:cs typeface="Times New Roman"/>
              </a:rPr>
              <a:t>We</a:t>
            </a:r>
            <a:r>
              <a:rPr dirty="0" sz="2000">
                <a:latin typeface="Times New Roman"/>
                <a:cs typeface="Times New Roman"/>
              </a:rPr>
              <a:t> got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exposure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topics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under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AOSP</a:t>
            </a:r>
            <a:r>
              <a:rPr dirty="0" sz="2000" spc="-1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source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code,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folder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different </a:t>
            </a:r>
            <a:r>
              <a:rPr dirty="0" sz="2000">
                <a:latin typeface="Times New Roman"/>
                <a:cs typeface="Times New Roman"/>
              </a:rPr>
              <a:t>components,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more.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56376" y="6593522"/>
            <a:ext cx="895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7E7E7E"/>
                </a:solidFill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30"/>
              </a:spcBef>
            </a:pPr>
            <a:r>
              <a:rPr dirty="0"/>
              <a:t>Daily</a:t>
            </a:r>
            <a:r>
              <a:rPr dirty="0" spc="20"/>
              <a:t> </a:t>
            </a:r>
            <a:r>
              <a:rPr dirty="0"/>
              <a:t>tasks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 spc="-10"/>
              <a:t>responsibilities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79450" y="1015618"/>
            <a:ext cx="10524490" cy="5291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20675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latin typeface="Times New Roman"/>
                <a:cs typeface="Times New Roman"/>
              </a:rPr>
              <a:t>January</a:t>
            </a:r>
            <a:r>
              <a:rPr dirty="0" sz="2750" spc="120" b="1">
                <a:latin typeface="Times New Roman"/>
                <a:cs typeface="Times New Roman"/>
              </a:rPr>
              <a:t> </a:t>
            </a:r>
            <a:r>
              <a:rPr dirty="0" sz="2750" b="1">
                <a:latin typeface="Times New Roman"/>
                <a:cs typeface="Times New Roman"/>
              </a:rPr>
              <a:t>and</a:t>
            </a:r>
            <a:r>
              <a:rPr dirty="0" sz="2750" spc="125" b="1">
                <a:latin typeface="Times New Roman"/>
                <a:cs typeface="Times New Roman"/>
              </a:rPr>
              <a:t> </a:t>
            </a:r>
            <a:r>
              <a:rPr dirty="0" sz="2750" spc="-10" b="1">
                <a:latin typeface="Times New Roman"/>
                <a:cs typeface="Times New Roman"/>
              </a:rPr>
              <a:t>February</a:t>
            </a:r>
            <a:endParaRPr sz="2750">
              <a:latin typeface="Times New Roman"/>
              <a:cs typeface="Times New Roman"/>
            </a:endParaRPr>
          </a:p>
          <a:p>
            <a:pPr marL="355600" indent="-342900">
              <a:lnSpc>
                <a:spcPts val="2160"/>
              </a:lnSpc>
              <a:spcBef>
                <a:spcPts val="29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We</a:t>
            </a:r>
            <a:r>
              <a:rPr dirty="0" sz="1850" spc="5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completed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online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courses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assigned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cornerstone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covering: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105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Company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Product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Overview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160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Behavioral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Curriculum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85"/>
              </a:spcBef>
              <a:buFont typeface="Courier New"/>
              <a:buChar char="o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ts val="216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Participated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in-person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training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sessions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on:</a:t>
            </a:r>
            <a:endParaRPr sz="1850">
              <a:latin typeface="Times New Roman"/>
              <a:cs typeface="Times New Roman"/>
            </a:endParaRPr>
          </a:p>
          <a:p>
            <a:pPr lvl="1" marL="813435" indent="-342900">
              <a:lnSpc>
                <a:spcPts val="2105"/>
              </a:lnSpc>
              <a:buFont typeface="Courier New"/>
              <a:buChar char="o"/>
              <a:tabLst>
                <a:tab pos="813435" algn="l"/>
              </a:tabLst>
            </a:pPr>
            <a:r>
              <a:rPr dirty="0" sz="1850">
                <a:latin typeface="Times New Roman"/>
                <a:cs typeface="Times New Roman"/>
              </a:rPr>
              <a:t>Automotive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Product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Overview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105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UML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Patterns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105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Automotive</a:t>
            </a:r>
            <a:r>
              <a:rPr dirty="0" sz="1850" spc="17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Networks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065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Embedded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for</a:t>
            </a:r>
            <a:r>
              <a:rPr dirty="0" sz="1850" spc="-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Automotive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Industry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065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Automotive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Coding</a:t>
            </a:r>
            <a:r>
              <a:rPr dirty="0" sz="1850" spc="18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Standards</a:t>
            </a:r>
            <a:endParaRPr sz="1850">
              <a:latin typeface="Times New Roman"/>
              <a:cs typeface="Times New Roman"/>
            </a:endParaRPr>
          </a:p>
          <a:p>
            <a:pPr lvl="1" marL="812800" indent="-342265">
              <a:lnSpc>
                <a:spcPts val="2160"/>
              </a:lnSpc>
              <a:buFont typeface="Courier New"/>
              <a:buChar char="o"/>
              <a:tabLst>
                <a:tab pos="812800" algn="l"/>
              </a:tabLst>
            </a:pPr>
            <a:r>
              <a:rPr dirty="0" sz="1850">
                <a:latin typeface="Times New Roman"/>
                <a:cs typeface="Times New Roman"/>
              </a:rPr>
              <a:t>System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Validation</a:t>
            </a:r>
            <a:r>
              <a:rPr dirty="0" sz="1850" spc="-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Training</a:t>
            </a:r>
            <a:endParaRPr sz="18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85"/>
              </a:spcBef>
              <a:buFont typeface="Courier New"/>
              <a:buChar char="o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Completed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series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of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Embedded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assignments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on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Raspberry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Pi.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71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We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honed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our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skills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various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C++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advanced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C++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topics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like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Pointers,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OOPs,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Multi-threading,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files, </a:t>
            </a:r>
            <a:r>
              <a:rPr dirty="0" sz="1850">
                <a:latin typeface="Times New Roman"/>
                <a:cs typeface="Times New Roman"/>
              </a:rPr>
              <a:t>exception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handling,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etc.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30"/>
              </a:spcBef>
            </a:pPr>
            <a:r>
              <a:rPr dirty="0"/>
              <a:t>Daily</a:t>
            </a:r>
            <a:r>
              <a:rPr dirty="0" spc="20"/>
              <a:t> </a:t>
            </a:r>
            <a:r>
              <a:rPr dirty="0"/>
              <a:t>tasks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 spc="-10"/>
              <a:t>responsibilities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615" y="1045137"/>
            <a:ext cx="10769600" cy="470027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960"/>
              </a:spcBef>
            </a:pPr>
            <a:r>
              <a:rPr dirty="0" sz="2600" b="1">
                <a:latin typeface="Times New Roman"/>
                <a:cs typeface="Times New Roman"/>
              </a:rPr>
              <a:t>March</a:t>
            </a:r>
            <a:r>
              <a:rPr dirty="0" sz="2600" spc="-8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and</a:t>
            </a:r>
            <a:r>
              <a:rPr dirty="0" sz="2600" spc="-165" b="1">
                <a:latin typeface="Times New Roman"/>
                <a:cs typeface="Times New Roman"/>
              </a:rPr>
              <a:t> </a:t>
            </a:r>
            <a:r>
              <a:rPr dirty="0" sz="2600" spc="-20" b="1">
                <a:latin typeface="Times New Roman"/>
                <a:cs typeface="Times New Roman"/>
              </a:rPr>
              <a:t>April</a:t>
            </a:r>
            <a:endParaRPr sz="2600">
              <a:latin typeface="Times New Roman"/>
              <a:cs typeface="Times New Roman"/>
            </a:endParaRPr>
          </a:p>
          <a:p>
            <a:pPr marL="355600" marR="485140" indent="-343535">
              <a:lnSpc>
                <a:spcPts val="1800"/>
              </a:lnSpc>
              <a:spcBef>
                <a:spcPts val="10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Actively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took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part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Language</a:t>
            </a:r>
            <a:r>
              <a:rPr dirty="0" sz="1850" spc="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Training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followed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by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GEAR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UP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–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Hackathon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applied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core </a:t>
            </a:r>
            <a:r>
              <a:rPr dirty="0" sz="1850">
                <a:latin typeface="Times New Roman"/>
                <a:cs typeface="Times New Roman"/>
              </a:rPr>
              <a:t>programming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concepts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solve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real-world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problems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enhance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coding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proficiency.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85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18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Went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through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VHAL</a:t>
            </a:r>
            <a:r>
              <a:rPr dirty="0" sz="1850" spc="1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documentation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to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get</a:t>
            </a:r>
            <a:r>
              <a:rPr dirty="0" sz="1850" spc="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better</a:t>
            </a:r>
            <a:r>
              <a:rPr dirty="0" sz="1850" spc="1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understanding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of</a:t>
            </a:r>
            <a:r>
              <a:rPr dirty="0" sz="1850" spc="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how</a:t>
            </a:r>
            <a:r>
              <a:rPr dirty="0" sz="1850" spc="-4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Android </a:t>
            </a:r>
            <a:r>
              <a:rPr dirty="0" sz="1850" spc="-10">
                <a:latin typeface="Times New Roman"/>
                <a:cs typeface="Times New Roman"/>
              </a:rPr>
              <a:t>Automotive </a:t>
            </a:r>
            <a:r>
              <a:rPr dirty="0" sz="1850">
                <a:latin typeface="Times New Roman"/>
                <a:cs typeface="Times New Roman"/>
              </a:rPr>
              <a:t>communicates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with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vehicle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hardware,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including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how</a:t>
            </a:r>
            <a:r>
              <a:rPr dirty="0" sz="1850" spc="6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different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vehicle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properties</a:t>
            </a:r>
            <a:r>
              <a:rPr dirty="0" sz="1850" spc="9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are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managed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accessed.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9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241300" marR="121285" indent="-229235">
              <a:lnSpc>
                <a:spcPts val="1880"/>
              </a:lnSpc>
              <a:buChar char="•"/>
              <a:tabLst>
                <a:tab pos="241300" algn="l"/>
                <a:tab pos="301625" algn="l"/>
              </a:tabLst>
            </a:pP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>
                <a:latin typeface="Times New Roman"/>
                <a:cs typeface="Times New Roman"/>
              </a:rPr>
              <a:t>Completed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ASPICE</a:t>
            </a:r>
            <a:r>
              <a:rPr dirty="0" sz="1850" spc="1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Overview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Training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VBOS/VPDS/Vistway</a:t>
            </a:r>
            <a:r>
              <a:rPr dirty="0" sz="1850" spc="13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Overview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sessions,</a:t>
            </a:r>
            <a:r>
              <a:rPr dirty="0" sz="1850" spc="16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gaining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expertise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in </a:t>
            </a:r>
            <a:r>
              <a:rPr dirty="0" sz="1850">
                <a:latin typeface="Times New Roman"/>
                <a:cs typeface="Times New Roman"/>
              </a:rPr>
              <a:t>automotive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software</a:t>
            </a:r>
            <a:r>
              <a:rPr dirty="0" sz="1850" spc="1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development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standards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vehicle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platform</a:t>
            </a:r>
            <a:r>
              <a:rPr dirty="0" sz="1850" spc="14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architectures.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Implemented</a:t>
            </a:r>
            <a:r>
              <a:rPr dirty="0" sz="1850" spc="7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the</a:t>
            </a:r>
            <a:r>
              <a:rPr dirty="0" sz="1850" spc="12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JSON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File</a:t>
            </a:r>
            <a:r>
              <a:rPr dirty="0" sz="1850" spc="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Excel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Sheet</a:t>
            </a:r>
            <a:r>
              <a:rPr dirty="0" sz="1850" spc="13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Comparison</a:t>
            </a:r>
            <a:r>
              <a:rPr dirty="0" sz="1850" spc="85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task.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Font typeface="Arial MT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355600" marR="146685" indent="-343535">
              <a:lnSpc>
                <a:spcPts val="188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>
                <a:latin typeface="Times New Roman"/>
                <a:cs typeface="Times New Roman"/>
              </a:rPr>
              <a:t>Successfully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synced</a:t>
            </a:r>
            <a:r>
              <a:rPr dirty="0" sz="1850" spc="-7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Android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14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source</a:t>
            </a:r>
            <a:r>
              <a:rPr dirty="0" sz="1850" spc="5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code</a:t>
            </a:r>
            <a:r>
              <a:rPr dirty="0" sz="1850" spc="5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and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explored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variety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of</a:t>
            </a:r>
            <a:r>
              <a:rPr dirty="0" sz="1850" spc="12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adb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commands</a:t>
            </a:r>
            <a:r>
              <a:rPr dirty="0" sz="1850" spc="8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when</a:t>
            </a:r>
            <a:r>
              <a:rPr dirty="0" sz="1850" spc="11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interacting</a:t>
            </a:r>
            <a:r>
              <a:rPr dirty="0" sz="1850" spc="105">
                <a:latin typeface="Times New Roman"/>
                <a:cs typeface="Times New Roman"/>
              </a:rPr>
              <a:t> </a:t>
            </a:r>
            <a:r>
              <a:rPr dirty="0" sz="1850" spc="-20">
                <a:latin typeface="Times New Roman"/>
                <a:cs typeface="Times New Roman"/>
              </a:rPr>
              <a:t>with </a:t>
            </a:r>
            <a:r>
              <a:rPr dirty="0" sz="1850">
                <a:latin typeface="Times New Roman"/>
                <a:cs typeface="Times New Roman"/>
              </a:rPr>
              <a:t>android</a:t>
            </a:r>
            <a:r>
              <a:rPr dirty="0" sz="1850" spc="14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devices.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445">
              <a:lnSpc>
                <a:spcPct val="100000"/>
              </a:lnSpc>
              <a:spcBef>
                <a:spcPts val="130"/>
              </a:spcBef>
            </a:pPr>
            <a:r>
              <a:rPr dirty="0"/>
              <a:t>Daily</a:t>
            </a:r>
            <a:r>
              <a:rPr dirty="0" spc="20"/>
              <a:t> </a:t>
            </a:r>
            <a:r>
              <a:rPr dirty="0"/>
              <a:t>tasks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30"/>
              <a:t> </a:t>
            </a:r>
            <a:r>
              <a:rPr dirty="0" spc="-10"/>
              <a:t>responsibilities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75615" y="1132141"/>
            <a:ext cx="10448925" cy="372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May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 </a:t>
            </a:r>
            <a:r>
              <a:rPr dirty="0" sz="2400" spc="-20" b="1">
                <a:latin typeface="Times New Roman"/>
                <a:cs typeface="Times New Roman"/>
              </a:rPr>
              <a:t>June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4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7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Times New Roman"/>
                <a:cs typeface="Times New Roman"/>
              </a:rPr>
              <a:t>Completed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C++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training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participated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the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FLEETXPRESS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–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C++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Hackathon,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applying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OOPS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concepts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through hands-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tasks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collaborative</a:t>
            </a:r>
            <a:r>
              <a:rPr dirty="0" sz="1700" spc="-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coding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challenges.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  <a:buFont typeface="Arial MT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Times New Roman"/>
                <a:cs typeface="Times New Roman"/>
              </a:rPr>
              <a:t>Attended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problem-</a:t>
            </a:r>
            <a:r>
              <a:rPr dirty="0" sz="1700">
                <a:latin typeface="Times New Roman"/>
                <a:cs typeface="Times New Roman"/>
              </a:rPr>
              <a:t>solving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sessions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strengthen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logical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thinking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improve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approach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coding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challenges.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Font typeface="Arial MT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241300" indent="-228600">
              <a:lnSpc>
                <a:spcPts val="1995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700">
                <a:latin typeface="Times New Roman"/>
                <a:cs typeface="Times New Roman"/>
              </a:rPr>
              <a:t>Learned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prepared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weekly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presentations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on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topics:</a:t>
            </a:r>
            <a:endParaRPr sz="1700">
              <a:latin typeface="Times New Roman"/>
              <a:cs typeface="Times New Roman"/>
            </a:endParaRPr>
          </a:p>
          <a:p>
            <a:pPr lvl="1" marL="699135" indent="-229235">
              <a:lnSpc>
                <a:spcPts val="1955"/>
              </a:lnSpc>
              <a:buFont typeface="Courier New"/>
              <a:buChar char="o"/>
              <a:tabLst>
                <a:tab pos="699135" algn="l"/>
              </a:tabLst>
            </a:pPr>
            <a:r>
              <a:rPr dirty="0" sz="1700">
                <a:latin typeface="Times New Roman"/>
                <a:cs typeface="Times New Roman"/>
              </a:rPr>
              <a:t>Android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Boot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Sequence</a:t>
            </a:r>
            <a:endParaRPr sz="1700">
              <a:latin typeface="Times New Roman"/>
              <a:cs typeface="Times New Roman"/>
            </a:endParaRPr>
          </a:p>
          <a:p>
            <a:pPr lvl="1" marL="699135" indent="-229235">
              <a:lnSpc>
                <a:spcPts val="1955"/>
              </a:lnSpc>
              <a:buFont typeface="Courier New"/>
              <a:buChar char="o"/>
              <a:tabLst>
                <a:tab pos="699135" algn="l"/>
              </a:tabLst>
            </a:pPr>
            <a:r>
              <a:rPr dirty="0" sz="1700" spc="-25">
                <a:latin typeface="Times New Roman"/>
                <a:cs typeface="Times New Roman"/>
              </a:rPr>
              <a:t>HAL</a:t>
            </a:r>
            <a:endParaRPr sz="1700">
              <a:latin typeface="Times New Roman"/>
              <a:cs typeface="Times New Roman"/>
            </a:endParaRPr>
          </a:p>
          <a:p>
            <a:pPr lvl="1" marL="699135" indent="-229235">
              <a:lnSpc>
                <a:spcPts val="1914"/>
              </a:lnSpc>
              <a:buFont typeface="Courier New"/>
              <a:buChar char="o"/>
              <a:tabLst>
                <a:tab pos="699135" algn="l"/>
              </a:tabLst>
            </a:pPr>
            <a:r>
              <a:rPr dirty="0" sz="1700" spc="-20">
                <a:latin typeface="Times New Roman"/>
                <a:cs typeface="Times New Roman"/>
              </a:rPr>
              <a:t>AIDL</a:t>
            </a:r>
            <a:endParaRPr sz="1700">
              <a:latin typeface="Times New Roman"/>
              <a:cs typeface="Times New Roman"/>
            </a:endParaRPr>
          </a:p>
          <a:p>
            <a:pPr lvl="1" marL="699135" indent="-229235">
              <a:lnSpc>
                <a:spcPts val="1960"/>
              </a:lnSpc>
              <a:buFont typeface="Courier New"/>
              <a:buChar char="o"/>
              <a:tabLst>
                <a:tab pos="699135" algn="l"/>
              </a:tabLst>
            </a:pPr>
            <a:r>
              <a:rPr dirty="0" sz="1700">
                <a:latin typeface="Times New Roman"/>
                <a:cs typeface="Times New Roman"/>
              </a:rPr>
              <a:t>Power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Management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build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</a:t>
            </a:r>
            <a:r>
              <a:rPr dirty="0" sz="1700" spc="-8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better</a:t>
            </a:r>
            <a:r>
              <a:rPr dirty="0" sz="1700" spc="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understanding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of</a:t>
            </a:r>
            <a:r>
              <a:rPr dirty="0" sz="1700" spc="-10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Android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system</a:t>
            </a:r>
            <a:r>
              <a:rPr dirty="0" sz="1700" spc="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components.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Tools/Technologies/Methodologies</a:t>
            </a:r>
            <a:r>
              <a:rPr dirty="0" spc="-190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1355" y="1156853"/>
            <a:ext cx="7877809" cy="426148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Tools:</a:t>
            </a:r>
            <a:endParaRPr sz="200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75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Ubuntu/Linux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Terminal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compilation,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flashing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script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execution.</a:t>
            </a:r>
            <a:endParaRPr sz="155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20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WSL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[Windows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Subsystem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Linux]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-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Occasionally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used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compiling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C/C++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Code.</a:t>
            </a:r>
            <a:endParaRPr sz="155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95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Git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Syncing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code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repositories.</a:t>
            </a:r>
            <a:endParaRPr sz="155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90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Studio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development.</a:t>
            </a:r>
            <a:endParaRPr sz="15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15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Courier New"/>
              <a:buChar char="o"/>
            </a:pPr>
            <a:endParaRPr sz="15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Technology:</a:t>
            </a:r>
            <a:endParaRPr sz="200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80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Build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lunch,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make,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Soong/Ninja.</a:t>
            </a:r>
            <a:endParaRPr sz="155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15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Device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Flashing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Times New Roman"/>
                <a:cs typeface="Times New Roman"/>
              </a:rPr>
              <a:t>adb.</a:t>
            </a:r>
            <a:endParaRPr sz="15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Courier New"/>
              <a:buChar char="o"/>
            </a:pPr>
            <a:endParaRPr sz="15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Font typeface="Courier New"/>
              <a:buChar char="o"/>
            </a:pPr>
            <a:endParaRPr sz="15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Methodology:</a:t>
            </a:r>
            <a:endParaRPr sz="200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80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Agile</a:t>
            </a:r>
            <a:r>
              <a:rPr dirty="0" sz="1550" spc="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Development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Task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tracking.</a:t>
            </a:r>
            <a:endParaRPr sz="1550">
              <a:latin typeface="Times New Roman"/>
              <a:cs typeface="Times New Roman"/>
            </a:endParaRPr>
          </a:p>
          <a:p>
            <a:pPr lvl="1" marL="755015" indent="-285115">
              <a:lnSpc>
                <a:spcPct val="100000"/>
              </a:lnSpc>
              <a:spcBef>
                <a:spcPts val="390"/>
              </a:spcBef>
              <a:buFont typeface="Courier New"/>
              <a:buChar char="o"/>
              <a:tabLst>
                <a:tab pos="755015" algn="l"/>
              </a:tabLst>
            </a:pPr>
            <a:r>
              <a:rPr dirty="0" sz="1550">
                <a:latin typeface="Times New Roman"/>
                <a:cs typeface="Times New Roman"/>
              </a:rPr>
              <a:t>Debugging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logcat,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adb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shell.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567" y="110743"/>
            <a:ext cx="641921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Skills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75"/>
              <a:t> </a:t>
            </a:r>
            <a:r>
              <a:rPr dirty="0"/>
              <a:t>Knowledge</a:t>
            </a:r>
            <a:r>
              <a:rPr dirty="0" spc="75"/>
              <a:t> </a:t>
            </a:r>
            <a:r>
              <a:rPr dirty="0" spc="-10"/>
              <a:t>Gained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575" y="1059180"/>
            <a:ext cx="7285990" cy="25666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solidFill>
                  <a:srgbClr val="A4A4A4"/>
                </a:solidFill>
                <a:latin typeface="Times New Roman"/>
                <a:cs typeface="Times New Roman"/>
              </a:rPr>
              <a:t>Technical</a:t>
            </a:r>
            <a:r>
              <a:rPr dirty="0" sz="2750" spc="-155" b="1">
                <a:solidFill>
                  <a:srgbClr val="A4A4A4"/>
                </a:solidFill>
                <a:latin typeface="Times New Roman"/>
                <a:cs typeface="Times New Roman"/>
              </a:rPr>
              <a:t> </a:t>
            </a:r>
            <a:r>
              <a:rPr dirty="0" sz="2750" spc="-10" b="1">
                <a:solidFill>
                  <a:srgbClr val="A4A4A4"/>
                </a:solidFill>
                <a:latin typeface="Times New Roman"/>
                <a:cs typeface="Times New Roman"/>
              </a:rPr>
              <a:t>Skills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Developing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testing</a:t>
            </a:r>
            <a:r>
              <a:rPr dirty="0" sz="2000" spc="-1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Android</a:t>
            </a:r>
            <a:r>
              <a:rPr dirty="0" sz="2000" spc="-1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Line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Debugging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Development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Managing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Source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Code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Git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Automating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target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862" y="310768"/>
            <a:ext cx="642048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Skills</a:t>
            </a:r>
            <a:r>
              <a:rPr dirty="0" spc="55"/>
              <a:t> </a:t>
            </a:r>
            <a:r>
              <a:rPr dirty="0"/>
              <a:t>and</a:t>
            </a:r>
            <a:r>
              <a:rPr dirty="0" spc="80"/>
              <a:t> </a:t>
            </a:r>
            <a:r>
              <a:rPr dirty="0"/>
              <a:t>Knowledge</a:t>
            </a:r>
            <a:r>
              <a:rPr dirty="0" spc="75"/>
              <a:t> </a:t>
            </a:r>
            <a:r>
              <a:rPr dirty="0" spc="-10"/>
              <a:t>Gained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575" y="1334135"/>
            <a:ext cx="10141585" cy="29673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 b="1">
                <a:solidFill>
                  <a:srgbClr val="A4A4A4"/>
                </a:solidFill>
                <a:latin typeface="Times New Roman"/>
                <a:cs typeface="Times New Roman"/>
              </a:rPr>
              <a:t>Soft</a:t>
            </a:r>
            <a:r>
              <a:rPr dirty="0" sz="2750" spc="110" b="1">
                <a:solidFill>
                  <a:srgbClr val="A4A4A4"/>
                </a:solidFill>
                <a:latin typeface="Times New Roman"/>
                <a:cs typeface="Times New Roman"/>
              </a:rPr>
              <a:t> </a:t>
            </a:r>
            <a:r>
              <a:rPr dirty="0" sz="2750" spc="-10" b="1">
                <a:solidFill>
                  <a:srgbClr val="A4A4A4"/>
                </a:solidFill>
                <a:latin typeface="Times New Roman"/>
                <a:cs typeface="Times New Roman"/>
              </a:rPr>
              <a:t>Skills</a:t>
            </a:r>
            <a:endParaRPr sz="2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27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000" spc="-25">
                <a:latin typeface="Times New Roman"/>
                <a:cs typeface="Times New Roman"/>
              </a:rPr>
              <a:t>Team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Collaboration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Working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members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mentors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around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country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Effective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Reporting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progress,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asking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clarifying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questions,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presenting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ideas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Problem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Solving –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Debugging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issues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tracing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errors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Adaptibility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–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concepts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quickly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dynamic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environment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Professional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Etiquette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65861"/>
            <a:ext cx="972566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Individual</a:t>
            </a:r>
            <a:r>
              <a:rPr dirty="0" spc="-10"/>
              <a:t> </a:t>
            </a:r>
            <a:r>
              <a:rPr dirty="0"/>
              <a:t>Learning</a:t>
            </a:r>
            <a:r>
              <a:rPr dirty="0" spc="2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20"/>
              <a:t>Technical</a:t>
            </a:r>
            <a:r>
              <a:rPr dirty="0" spc="5"/>
              <a:t> </a:t>
            </a:r>
            <a:r>
              <a:rPr dirty="0" spc="-10"/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575" y="1651952"/>
            <a:ext cx="10181590" cy="41668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Times New Roman"/>
                <a:cs typeface="Times New Roman"/>
              </a:rPr>
              <a:t>Eepshita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Pahari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[EPAHARI]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000">
              <a:latin typeface="Times New Roman"/>
              <a:cs typeface="Times New Roman"/>
            </a:endParaRPr>
          </a:p>
          <a:p>
            <a:pPr marL="241300" marR="545465" indent="-229235">
              <a:lnSpc>
                <a:spcPts val="15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Embedded</a:t>
            </a:r>
            <a:r>
              <a:rPr dirty="0" sz="1550" spc="10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Systems</a:t>
            </a:r>
            <a:r>
              <a:rPr dirty="0" sz="1550" spc="15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Experience:</a:t>
            </a:r>
            <a:r>
              <a:rPr dirty="0" sz="1550" spc="3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Acquired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hands-on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knowledge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device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flashing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device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tree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configurations. </a:t>
            </a:r>
            <a:r>
              <a:rPr dirty="0" sz="1550">
                <a:latin typeface="Times New Roman"/>
                <a:cs typeface="Times New Roman"/>
              </a:rPr>
              <a:t>Successfully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flashed</a:t>
            </a:r>
            <a:r>
              <a:rPr dirty="0" sz="1550" spc="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Tata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Skylark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device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using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SP</a:t>
            </a:r>
            <a:r>
              <a:rPr dirty="0" sz="1550" spc="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Tool,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demonstrating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practical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embedded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systems</a:t>
            </a:r>
            <a:r>
              <a:rPr dirty="0" sz="1550" spc="6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capabilities.</a:t>
            </a:r>
            <a:endParaRPr sz="1550">
              <a:latin typeface="Times New Roman"/>
              <a:cs typeface="Times New Roman"/>
            </a:endParaRPr>
          </a:p>
          <a:p>
            <a:pPr marL="241300" marR="33655" indent="-229235">
              <a:lnSpc>
                <a:spcPts val="158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C++</a:t>
            </a:r>
            <a:r>
              <a:rPr dirty="0" sz="1550" spc="6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Fundamentals</a:t>
            </a:r>
            <a:r>
              <a:rPr dirty="0" sz="1550" spc="14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and</a:t>
            </a:r>
            <a:r>
              <a:rPr dirty="0" sz="1550" spc="17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OOP</a:t>
            </a:r>
            <a:r>
              <a:rPr dirty="0" sz="1550" spc="-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Concept:</a:t>
            </a:r>
            <a:r>
              <a:rPr dirty="0" sz="1550" spc="14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Built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simple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running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codes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implement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topics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studied,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apart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from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C++ </a:t>
            </a:r>
            <a:r>
              <a:rPr dirty="0" sz="1550">
                <a:latin typeface="Times New Roman"/>
                <a:cs typeface="Times New Roman"/>
              </a:rPr>
              <a:t>tools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built.</a:t>
            </a: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AOSP</a:t>
            </a:r>
            <a:r>
              <a:rPr dirty="0" sz="1550" spc="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Team</a:t>
            </a:r>
            <a:r>
              <a:rPr dirty="0" sz="1550" spc="14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Collaboration:</a:t>
            </a:r>
            <a:r>
              <a:rPr dirty="0" sz="1550" spc="20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Participated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daily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technical</a:t>
            </a:r>
            <a:r>
              <a:rPr dirty="0" sz="1550" spc="2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sessions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Kolkata</a:t>
            </a:r>
            <a:r>
              <a:rPr dirty="0" sz="1550" spc="-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AOSP</a:t>
            </a:r>
            <a:r>
              <a:rPr dirty="0" sz="1550" spc="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team,</a:t>
            </a:r>
            <a:r>
              <a:rPr dirty="0" sz="1550" spc="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developing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proficiency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in: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Java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programming</a:t>
            </a:r>
            <a:r>
              <a:rPr dirty="0" sz="1550" spc="21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fundamentals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CMake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build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configuration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Zero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MQ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messaging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implementation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Advanced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analysis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techniques</a:t>
            </a: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solidFill>
                  <a:srgbClr val="FFC000"/>
                </a:solidFill>
                <a:latin typeface="Times New Roman"/>
                <a:cs typeface="Times New Roman"/>
              </a:rPr>
              <a:t>Ongoing</a:t>
            </a:r>
            <a:r>
              <a:rPr dirty="0" sz="1550" spc="100" b="1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dirty="0" sz="1550" spc="-20" b="1">
                <a:solidFill>
                  <a:srgbClr val="FFC000"/>
                </a:solidFill>
                <a:latin typeface="Times New Roman"/>
                <a:cs typeface="Times New Roman"/>
              </a:rPr>
              <a:t>Task: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Implementing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modular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HAL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interfaces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using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HIDL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Soong</a:t>
            </a:r>
            <a:r>
              <a:rPr dirty="0" sz="1550" spc="2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.bp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files.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ts val="1714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Studying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remote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error</a:t>
            </a:r>
            <a:r>
              <a:rPr dirty="0" sz="1550" spc="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reporting,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 spc="-35">
                <a:latin typeface="Times New Roman"/>
                <a:cs typeface="Times New Roman"/>
              </a:rPr>
              <a:t>OTA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updates,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diagnostics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automotive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systems.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Focused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on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integrating</a:t>
            </a:r>
            <a:endParaRPr sz="1550">
              <a:latin typeface="Times New Roman"/>
              <a:cs typeface="Times New Roman"/>
            </a:endParaRPr>
          </a:p>
          <a:p>
            <a:pPr marL="699135">
              <a:lnSpc>
                <a:spcPts val="1714"/>
              </a:lnSpc>
            </a:pP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-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Automotive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services</a:t>
            </a:r>
            <a:r>
              <a:rPr dirty="0" sz="1550" spc="1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secure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cloud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communication.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65861"/>
            <a:ext cx="972566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Individual</a:t>
            </a:r>
            <a:r>
              <a:rPr dirty="0" spc="-10"/>
              <a:t> </a:t>
            </a:r>
            <a:r>
              <a:rPr dirty="0"/>
              <a:t>Learning</a:t>
            </a:r>
            <a:r>
              <a:rPr dirty="0" spc="20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20"/>
              <a:t>Technical</a:t>
            </a:r>
            <a:r>
              <a:rPr dirty="0" spc="5"/>
              <a:t> </a:t>
            </a:r>
            <a:r>
              <a:rPr dirty="0" spc="-10"/>
              <a:t>Exposure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="1">
                <a:latin typeface="Times New Roman"/>
                <a:cs typeface="Times New Roman"/>
              </a:rPr>
              <a:t>Eepshita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Pahari</a:t>
            </a:r>
            <a:r>
              <a:rPr dirty="0" spc="-2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[EPAHARI]</a:t>
            </a:r>
          </a:p>
          <a:p>
            <a:pPr>
              <a:lnSpc>
                <a:spcPct val="100000"/>
              </a:lnSpc>
              <a:spcBef>
                <a:spcPts val="130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 b="1">
                <a:solidFill>
                  <a:srgbClr val="4471C4"/>
                </a:solidFill>
                <a:latin typeface="Times New Roman"/>
                <a:cs typeface="Times New Roman"/>
              </a:rPr>
              <a:t>Android</a:t>
            </a:r>
            <a:r>
              <a:rPr dirty="0" sz="1550" spc="65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1550" b="1">
                <a:solidFill>
                  <a:srgbClr val="4471C4"/>
                </a:solidFill>
                <a:latin typeface="Times New Roman"/>
                <a:cs typeface="Times New Roman"/>
              </a:rPr>
              <a:t>Application</a:t>
            </a:r>
            <a:r>
              <a:rPr dirty="0" sz="1550" spc="17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1550" spc="-10" b="1">
                <a:solidFill>
                  <a:srgbClr val="4471C4"/>
                </a:solidFill>
                <a:latin typeface="Times New Roman"/>
                <a:cs typeface="Times New Roman"/>
              </a:rPr>
              <a:t>Building:</a:t>
            </a: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Core</a:t>
            </a:r>
            <a:r>
              <a:rPr dirty="0" sz="1550" spc="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Android</a:t>
            </a:r>
            <a:r>
              <a:rPr dirty="0" sz="1550" spc="7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Development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Built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understand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Activity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Life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Cycle</a:t>
            </a:r>
            <a:r>
              <a:rPr dirty="0" sz="1550" spc="2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-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Understood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fundamental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component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behavior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ts val="172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Calculator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implement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functionalities</a:t>
            </a:r>
            <a:r>
              <a:rPr dirty="0" sz="1550" spc="1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constraints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functions</a:t>
            </a:r>
            <a:r>
              <a:rPr dirty="0" sz="1550" spc="3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-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Developed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practical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experience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Times New Roman"/>
                <a:cs typeface="Times New Roman"/>
              </a:rPr>
              <a:t>with</a:t>
            </a:r>
            <a:endParaRPr sz="1550">
              <a:latin typeface="Times New Roman"/>
              <a:cs typeface="Times New Roman"/>
            </a:endParaRPr>
          </a:p>
          <a:p>
            <a:pPr marL="699135">
              <a:lnSpc>
                <a:spcPts val="1720"/>
              </a:lnSpc>
            </a:pPr>
            <a:r>
              <a:rPr dirty="0" sz="1550"/>
              <a:t>UI</a:t>
            </a:r>
            <a:r>
              <a:rPr dirty="0" sz="1550" spc="170"/>
              <a:t> </a:t>
            </a:r>
            <a:r>
              <a:rPr dirty="0" sz="1550"/>
              <a:t>layouts</a:t>
            </a:r>
            <a:r>
              <a:rPr dirty="0" sz="1550" spc="150"/>
              <a:t> </a:t>
            </a:r>
            <a:r>
              <a:rPr dirty="0" sz="1550"/>
              <a:t>and</a:t>
            </a:r>
            <a:r>
              <a:rPr dirty="0" sz="1550" spc="120"/>
              <a:t> </a:t>
            </a:r>
            <a:r>
              <a:rPr dirty="0" sz="1550"/>
              <a:t>mathematical</a:t>
            </a:r>
            <a:r>
              <a:rPr dirty="0" sz="1550" spc="90"/>
              <a:t> </a:t>
            </a:r>
            <a:r>
              <a:rPr dirty="0" sz="1550" spc="-10"/>
              <a:t>operations</a:t>
            </a:r>
            <a:endParaRPr sz="1550"/>
          </a:p>
          <a:p>
            <a:pPr lvl="1" marL="698500" indent="-228600">
              <a:lnSpc>
                <a:spcPts val="172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Tip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Calculator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try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hands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different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design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styles</a:t>
            </a:r>
            <a:r>
              <a:rPr dirty="0" sz="1550" spc="21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-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explored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diverse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visual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approaches</a:t>
            </a:r>
            <a:r>
              <a:rPr dirty="0" sz="1550" spc="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Times New Roman"/>
                <a:cs typeface="Times New Roman"/>
              </a:rPr>
              <a:t>user</a:t>
            </a:r>
            <a:endParaRPr sz="1550">
              <a:latin typeface="Times New Roman"/>
              <a:cs typeface="Times New Roman"/>
            </a:endParaRPr>
          </a:p>
          <a:p>
            <a:pPr marL="699135">
              <a:lnSpc>
                <a:spcPts val="1720"/>
              </a:lnSpc>
            </a:pPr>
            <a:r>
              <a:rPr dirty="0" sz="1550"/>
              <a:t>interface</a:t>
            </a:r>
            <a:r>
              <a:rPr dirty="0" sz="1550" spc="120"/>
              <a:t> </a:t>
            </a:r>
            <a:r>
              <a:rPr dirty="0" sz="1550"/>
              <a:t>design</a:t>
            </a:r>
            <a:r>
              <a:rPr dirty="0" sz="1550" spc="210"/>
              <a:t> </a:t>
            </a:r>
            <a:r>
              <a:rPr dirty="0" sz="1550" spc="-10"/>
              <a:t>patterns</a:t>
            </a:r>
            <a:endParaRPr sz="1550"/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Intra</a:t>
            </a:r>
            <a:r>
              <a:rPr dirty="0" sz="1550" spc="9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and</a:t>
            </a:r>
            <a:r>
              <a:rPr dirty="0" sz="1550" spc="17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Inter</a:t>
            </a:r>
            <a:r>
              <a:rPr dirty="0" sz="1550" spc="3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Application</a:t>
            </a:r>
            <a:r>
              <a:rPr dirty="0" sz="1550" spc="8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Communication</a:t>
            </a:r>
            <a:endParaRPr sz="1550">
              <a:latin typeface="Times New Roman"/>
              <a:cs typeface="Times New Roman"/>
            </a:endParaRPr>
          </a:p>
          <a:p>
            <a:pPr lvl="1" marL="699135" marR="791845" indent="-229235">
              <a:lnSpc>
                <a:spcPts val="1500"/>
              </a:lnSpc>
              <a:spcBef>
                <a:spcPts val="590"/>
              </a:spcBef>
              <a:buFont typeface="Arial MT"/>
              <a:buChar char="•"/>
              <a:tabLst>
                <a:tab pos="699135" algn="l"/>
              </a:tabLst>
            </a:pPr>
            <a:r>
              <a:rPr dirty="0" sz="1550">
                <a:latin typeface="Times New Roman"/>
                <a:cs typeface="Times New Roman"/>
              </a:rPr>
              <a:t>Message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sender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from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one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activity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another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activity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same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2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-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Implemented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internal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activity </a:t>
            </a:r>
            <a:r>
              <a:rPr dirty="0" sz="1550">
                <a:latin typeface="Times New Roman"/>
                <a:cs typeface="Times New Roman"/>
              </a:rPr>
              <a:t>communication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using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Intent</a:t>
            </a:r>
            <a:r>
              <a:rPr dirty="0" sz="1550" spc="2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mechanisms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>
                <a:latin typeface="Times New Roman"/>
                <a:cs typeface="Times New Roman"/>
              </a:rPr>
              <a:t>Message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Sender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Message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Receiver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Two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different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applications</a:t>
            </a:r>
            <a:r>
              <a:rPr dirty="0" sz="1550" spc="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receive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transmit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message</a:t>
            </a:r>
            <a:endParaRPr sz="1550">
              <a:latin typeface="Times New Roman"/>
              <a:cs typeface="Times New Roman"/>
            </a:endParaRPr>
          </a:p>
          <a:p>
            <a:pPr marL="241300" marR="65405" indent="-229235">
              <a:lnSpc>
                <a:spcPts val="150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Game</a:t>
            </a:r>
            <a:r>
              <a:rPr dirty="0" sz="1550" spc="16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Development</a:t>
            </a:r>
            <a:r>
              <a:rPr dirty="0" sz="1550" spc="15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-</a:t>
            </a:r>
            <a:r>
              <a:rPr dirty="0" sz="1550" spc="150" b="1">
                <a:latin typeface="Times New Roman"/>
                <a:cs typeface="Times New Roman"/>
              </a:rPr>
              <a:t> </a:t>
            </a:r>
            <a:r>
              <a:rPr dirty="0" sz="1550"/>
              <a:t>Bigger</a:t>
            </a:r>
            <a:r>
              <a:rPr dirty="0" sz="1550" spc="204"/>
              <a:t> </a:t>
            </a:r>
            <a:r>
              <a:rPr dirty="0" sz="1550"/>
              <a:t>number</a:t>
            </a:r>
            <a:r>
              <a:rPr dirty="0" sz="1550" spc="105"/>
              <a:t> </a:t>
            </a:r>
            <a:r>
              <a:rPr dirty="0" sz="1550"/>
              <a:t>game</a:t>
            </a:r>
            <a:r>
              <a:rPr dirty="0" sz="1550" spc="170"/>
              <a:t> </a:t>
            </a:r>
            <a:r>
              <a:rPr dirty="0" sz="1550"/>
              <a:t>to</a:t>
            </a:r>
            <a:r>
              <a:rPr dirty="0" sz="1550" spc="150"/>
              <a:t> </a:t>
            </a:r>
            <a:r>
              <a:rPr dirty="0" sz="1550"/>
              <a:t>combine</a:t>
            </a:r>
            <a:r>
              <a:rPr dirty="0" sz="1550" spc="170"/>
              <a:t> </a:t>
            </a:r>
            <a:r>
              <a:rPr dirty="0" sz="1550"/>
              <a:t>design</a:t>
            </a:r>
            <a:r>
              <a:rPr dirty="0" sz="1550" spc="150"/>
              <a:t> </a:t>
            </a:r>
            <a:r>
              <a:rPr dirty="0" sz="1550"/>
              <a:t>and</a:t>
            </a:r>
            <a:r>
              <a:rPr dirty="0" sz="1550" spc="150"/>
              <a:t> </a:t>
            </a:r>
            <a:r>
              <a:rPr dirty="0" sz="1550"/>
              <a:t>implementation</a:t>
            </a:r>
            <a:r>
              <a:rPr dirty="0" sz="1550" spc="65"/>
              <a:t> </a:t>
            </a:r>
            <a:r>
              <a:rPr dirty="0" sz="1550"/>
              <a:t>-</a:t>
            </a:r>
            <a:r>
              <a:rPr dirty="0" sz="1550" spc="150"/>
              <a:t> </a:t>
            </a:r>
            <a:r>
              <a:rPr dirty="0" sz="1550"/>
              <a:t>successfully</a:t>
            </a:r>
            <a:r>
              <a:rPr dirty="0" sz="1550" spc="145"/>
              <a:t> </a:t>
            </a:r>
            <a:r>
              <a:rPr dirty="0" sz="1550"/>
              <a:t>integrated</a:t>
            </a:r>
            <a:r>
              <a:rPr dirty="0" sz="1550" spc="145"/>
              <a:t> </a:t>
            </a:r>
            <a:r>
              <a:rPr dirty="0" sz="1550"/>
              <a:t>aesthetic</a:t>
            </a:r>
            <a:r>
              <a:rPr dirty="0" sz="1550" spc="65"/>
              <a:t> </a:t>
            </a:r>
            <a:r>
              <a:rPr dirty="0" sz="1550" spc="-20"/>
              <a:t>user </a:t>
            </a:r>
            <a:r>
              <a:rPr dirty="0" sz="1550"/>
              <a:t>interface</a:t>
            </a:r>
            <a:r>
              <a:rPr dirty="0" sz="1550" spc="85"/>
              <a:t> </a:t>
            </a:r>
            <a:r>
              <a:rPr dirty="0" sz="1550"/>
              <a:t>with</a:t>
            </a:r>
            <a:r>
              <a:rPr dirty="0" sz="1550" spc="170"/>
              <a:t> </a:t>
            </a:r>
            <a:r>
              <a:rPr dirty="0" sz="1550"/>
              <a:t>functional</a:t>
            </a:r>
            <a:r>
              <a:rPr dirty="0" sz="1550" spc="135"/>
              <a:t> </a:t>
            </a:r>
            <a:r>
              <a:rPr dirty="0" sz="1550"/>
              <a:t>game</a:t>
            </a:r>
            <a:r>
              <a:rPr dirty="0" sz="1550" spc="190"/>
              <a:t> </a:t>
            </a:r>
            <a:r>
              <a:rPr dirty="0" sz="1550" spc="-20"/>
              <a:t>logic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Individual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Learning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&amp;</a:t>
            </a:r>
            <a:r>
              <a:rPr dirty="0" spc="-1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Technical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3859" y="871918"/>
            <a:ext cx="10638790" cy="474726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algn="just" marL="203200">
              <a:lnSpc>
                <a:spcPct val="100000"/>
              </a:lnSpc>
              <a:spcBef>
                <a:spcPts val="850"/>
              </a:spcBef>
            </a:pPr>
            <a:r>
              <a:rPr dirty="0" sz="2000" b="1">
                <a:latin typeface="Times New Roman"/>
                <a:cs typeface="Times New Roman"/>
              </a:rPr>
              <a:t>Poojapriya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[PSENTH10]</a:t>
            </a:r>
            <a:endParaRPr sz="2000">
              <a:latin typeface="Times New Roman"/>
              <a:cs typeface="Times New Roman"/>
            </a:endParaRPr>
          </a:p>
          <a:p>
            <a:pPr marL="241300" marR="13335" indent="-228600">
              <a:lnSpc>
                <a:spcPct val="892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Mahindra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W616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-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involves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updating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firmware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vehicle's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electronic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control </a:t>
            </a:r>
            <a:r>
              <a:rPr dirty="0" sz="2000">
                <a:latin typeface="Times New Roman"/>
                <a:cs typeface="Times New Roman"/>
              </a:rPr>
              <a:t>units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(ECUs)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QFIL(Qualcomm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Loader)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embedded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automotive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systems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updated.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18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JLR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Testing</a:t>
            </a:r>
            <a:r>
              <a:rPr dirty="0" sz="2000">
                <a:latin typeface="Times New Roman"/>
                <a:cs typeface="Times New Roman"/>
              </a:rPr>
              <a:t> –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Gained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hands-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experience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 testing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services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like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EndofLine.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Supported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verify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services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were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functioning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intended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after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flashing,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of </a:t>
            </a:r>
            <a:r>
              <a:rPr dirty="0" sz="2000">
                <a:latin typeface="Times New Roman"/>
                <a:cs typeface="Times New Roman"/>
              </a:rPr>
              <a:t>software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automotive</a:t>
            </a:r>
            <a:r>
              <a:rPr dirty="0" sz="2000" spc="-10">
                <a:latin typeface="Times New Roman"/>
                <a:cs typeface="Times New Roman"/>
              </a:rPr>
              <a:t> systems.</a:t>
            </a:r>
            <a:endParaRPr sz="2000">
              <a:latin typeface="Times New Roman"/>
              <a:cs typeface="Times New Roman"/>
            </a:endParaRPr>
          </a:p>
          <a:p>
            <a:pPr algn="just" marL="238760" marR="168910" indent="-226060">
              <a:lnSpc>
                <a:spcPts val="2180"/>
              </a:lnSpc>
              <a:spcBef>
                <a:spcPts val="9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Analyzed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vstgloballogs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system,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event,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crash,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kernel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testing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different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types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contribute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troubleshooting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validating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software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behavior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automotive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  <a:p>
            <a:pPr algn="just" marL="238760" indent="-22606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>
                <a:latin typeface="Times New Roman"/>
                <a:cs typeface="Times New Roman"/>
              </a:rPr>
              <a:t>Learned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various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adb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commands,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dmesg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logcat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commands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testing.</a:t>
            </a:r>
            <a:endParaRPr sz="2000">
              <a:latin typeface="Times New Roman"/>
              <a:cs typeface="Times New Roman"/>
            </a:endParaRPr>
          </a:p>
          <a:p>
            <a:pPr algn="just" marL="238760" indent="-22606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>
                <a:latin typeface="Times New Roman"/>
                <a:cs typeface="Times New Roman"/>
              </a:rPr>
              <a:t>Also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collaborated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Pre-int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HMI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domain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changes.</a:t>
            </a:r>
            <a:endParaRPr sz="2000">
              <a:latin typeface="Times New Roman"/>
              <a:cs typeface="Times New Roman"/>
            </a:endParaRPr>
          </a:p>
          <a:p>
            <a:pPr algn="just" marL="239395" indent="-226695">
              <a:lnSpc>
                <a:spcPts val="225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imes New Roman"/>
                <a:cs typeface="Times New Roman"/>
              </a:rPr>
              <a:t>Researching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different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strategies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crash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both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polling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algn="just" marL="241300">
              <a:lnSpc>
                <a:spcPts val="2250"/>
              </a:lnSpc>
            </a:pPr>
            <a:r>
              <a:rPr dirty="0" sz="2000">
                <a:latin typeface="Times New Roman"/>
                <a:cs typeface="Times New Roman"/>
              </a:rPr>
              <a:t>heartbeat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(push)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mechanisms.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Individual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Learning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&amp;</a:t>
            </a:r>
            <a:r>
              <a:rPr dirty="0" spc="-1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Technical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12775" y="1210373"/>
            <a:ext cx="10577830" cy="2442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b="1">
                <a:latin typeface="Times New Roman"/>
                <a:cs typeface="Times New Roman"/>
              </a:rPr>
              <a:t>Poojapriya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</a:t>
            </a:r>
            <a:r>
              <a:rPr dirty="0" sz="2000" spc="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[PSENTH10]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2000">
                <a:latin typeface="Times New Roman"/>
                <a:cs typeface="Times New Roman"/>
              </a:rPr>
              <a:t>Polling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repeatedly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checks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regular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intervals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(e.g.,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crash)</a:t>
            </a:r>
            <a:endParaRPr sz="20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occurred.</a:t>
            </a:r>
            <a:endParaRPr sz="20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2000">
                <a:latin typeface="Times New Roman"/>
                <a:cs typeface="Times New Roman"/>
              </a:rPr>
              <a:t>Heartbeat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event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(like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crash)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automatically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notifies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another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component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without</a:t>
            </a:r>
            <a:endParaRPr sz="20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Times New Roman"/>
                <a:cs typeface="Times New Roman"/>
              </a:rPr>
              <a:t>needing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periodic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checks.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 sz="2000">
                <a:latin typeface="Times New Roman"/>
                <a:cs typeface="Times New Roman"/>
              </a:rPr>
              <a:t>Implemented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CPP</a:t>
            </a:r>
            <a:r>
              <a:rPr dirty="0" sz="2000" spc="-1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compiler-</a:t>
            </a:r>
            <a:r>
              <a:rPr dirty="0" sz="2000">
                <a:latin typeface="Times New Roman"/>
                <a:cs typeface="Times New Roman"/>
              </a:rPr>
              <a:t>level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dirty="0" sz="2000" spc="-5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visualized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pointers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memory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(allocation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deallocation)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Individual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Learning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&amp;</a:t>
            </a:r>
            <a:r>
              <a:rPr dirty="0" spc="-1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Technical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254" y="1114742"/>
            <a:ext cx="11175365" cy="518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Pushkar</a:t>
            </a:r>
            <a:r>
              <a:rPr dirty="0" sz="1800" spc="-8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Paul(PPAUL3)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550" b="1">
                <a:latin typeface="Times New Roman"/>
                <a:cs typeface="Times New Roman"/>
              </a:rPr>
              <a:t>Game</a:t>
            </a:r>
            <a:r>
              <a:rPr dirty="0" sz="1550" spc="12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Development:</a:t>
            </a:r>
            <a:r>
              <a:rPr dirty="0" sz="1550" spc="12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Developed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series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game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using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Ray-Lib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Library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development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of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Games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like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Tic-</a:t>
            </a:r>
            <a:r>
              <a:rPr dirty="0" sz="1550" spc="-10">
                <a:latin typeface="Times New Roman"/>
                <a:cs typeface="Times New Roman"/>
              </a:rPr>
              <a:t>Tac-</a:t>
            </a:r>
            <a:r>
              <a:rPr dirty="0" sz="1550">
                <a:latin typeface="Times New Roman"/>
                <a:cs typeface="Times New Roman"/>
              </a:rPr>
              <a:t>Toe,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Snake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Game,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latin typeface="Times New Roman"/>
                <a:cs typeface="Times New Roman"/>
              </a:rPr>
              <a:t>Tetris,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Ping-</a:t>
            </a:r>
            <a:r>
              <a:rPr dirty="0" sz="1550" spc="-20">
                <a:latin typeface="Times New Roman"/>
                <a:cs typeface="Times New Roman"/>
              </a:rPr>
              <a:t>Pong.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Times New Roman"/>
                <a:cs typeface="Times New Roman"/>
              </a:rPr>
              <a:t>Android</a:t>
            </a:r>
            <a:r>
              <a:rPr dirty="0" sz="1550" spc="6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14:</a:t>
            </a:r>
            <a:r>
              <a:rPr dirty="0" sz="1550" spc="12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Build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Source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code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used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it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compile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run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cpp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program</a:t>
            </a:r>
            <a:r>
              <a:rPr dirty="0" sz="1550" spc="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adb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shell.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355600">
              <a:lnSpc>
                <a:spcPct val="104900"/>
              </a:lnSpc>
              <a:spcBef>
                <a:spcPts val="5"/>
              </a:spcBef>
            </a:pPr>
            <a:r>
              <a:rPr dirty="0" sz="1550" b="1">
                <a:latin typeface="Times New Roman"/>
                <a:cs typeface="Times New Roman"/>
              </a:rPr>
              <a:t>AOSP</a:t>
            </a:r>
            <a:r>
              <a:rPr dirty="0" sz="1550" spc="2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team</a:t>
            </a:r>
            <a:r>
              <a:rPr dirty="0" sz="1550" spc="14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IN-Person</a:t>
            </a:r>
            <a:r>
              <a:rPr dirty="0" sz="1550" spc="13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Meeting:</a:t>
            </a:r>
            <a:r>
              <a:rPr dirty="0" sz="1550" spc="18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Participated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meeting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in-person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-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AOSP</a:t>
            </a:r>
            <a:r>
              <a:rPr dirty="0" sz="1550" spc="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team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2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developing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proficiency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different</a:t>
            </a:r>
            <a:r>
              <a:rPr dirty="0" sz="1550" spc="21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aspects like: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5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buFont typeface="Arial MT"/>
              <a:buChar char="•"/>
              <a:tabLst>
                <a:tab pos="755650" algn="l"/>
              </a:tabLst>
            </a:pPr>
            <a:r>
              <a:rPr dirty="0" sz="1550">
                <a:latin typeface="Times New Roman"/>
                <a:cs typeface="Times New Roman"/>
              </a:rPr>
              <a:t>Java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Programming</a:t>
            </a:r>
            <a:r>
              <a:rPr dirty="0" sz="1550" spc="21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Fundamentals.</a:t>
            </a:r>
            <a:endParaRPr sz="155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755650" algn="l"/>
              </a:tabLst>
            </a:pPr>
            <a:r>
              <a:rPr dirty="0" sz="1550">
                <a:latin typeface="Times New Roman"/>
                <a:cs typeface="Times New Roman"/>
              </a:rPr>
              <a:t>Fstab,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mount,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Folder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Structure.</a:t>
            </a:r>
            <a:endParaRPr sz="155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755650" algn="l"/>
              </a:tabLst>
            </a:pPr>
            <a:r>
              <a:rPr dirty="0" sz="1550">
                <a:latin typeface="Times New Roman"/>
                <a:cs typeface="Times New Roman"/>
              </a:rPr>
              <a:t>Zero-MQ</a:t>
            </a:r>
            <a:r>
              <a:rPr dirty="0" sz="1550" spc="1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messaging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Service.</a:t>
            </a:r>
            <a:endParaRPr sz="155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755650" algn="l"/>
              </a:tabLst>
            </a:pPr>
            <a:r>
              <a:rPr dirty="0" sz="1550">
                <a:latin typeface="Times New Roman"/>
                <a:cs typeface="Times New Roman"/>
              </a:rPr>
              <a:t>Advance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analysis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technique.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ct val="104900"/>
              </a:lnSpc>
            </a:pPr>
            <a:r>
              <a:rPr dirty="0" sz="1550" b="1">
                <a:latin typeface="Times New Roman"/>
                <a:cs typeface="Times New Roman"/>
              </a:rPr>
              <a:t>SOONG</a:t>
            </a:r>
            <a:r>
              <a:rPr dirty="0" sz="1550" spc="-4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AIDL</a:t>
            </a:r>
            <a:r>
              <a:rPr dirty="0" sz="1550" spc="8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Implementation:</a:t>
            </a:r>
            <a:r>
              <a:rPr dirty="0" sz="1550" spc="16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Implementing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AIDL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interfacing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which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uses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services</a:t>
            </a:r>
            <a:r>
              <a:rPr dirty="0" sz="1550" spc="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Calculator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along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Server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the </a:t>
            </a:r>
            <a:r>
              <a:rPr dirty="0" sz="1550" spc="-10">
                <a:latin typeface="Times New Roman"/>
                <a:cs typeface="Times New Roman"/>
              </a:rPr>
              <a:t>Client.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50" b="1">
                <a:latin typeface="Times New Roman"/>
                <a:cs typeface="Times New Roman"/>
              </a:rPr>
              <a:t>Android</a:t>
            </a:r>
            <a:r>
              <a:rPr dirty="0" sz="1550" spc="-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App</a:t>
            </a:r>
            <a:r>
              <a:rPr dirty="0" sz="1550" spc="8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Development:</a:t>
            </a:r>
            <a:endParaRPr sz="1550">
              <a:latin typeface="Times New Roman"/>
              <a:cs typeface="Times New Roman"/>
            </a:endParaRPr>
          </a:p>
          <a:p>
            <a:pPr marL="298450" marR="393065" indent="-28575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>
                <a:latin typeface="Times New Roman"/>
                <a:cs typeface="Times New Roman"/>
              </a:rPr>
              <a:t>Implemented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Interface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Definition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Language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(AIDL)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enable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inter-</a:t>
            </a:r>
            <a:r>
              <a:rPr dirty="0" sz="1550">
                <a:latin typeface="Times New Roman"/>
                <a:cs typeface="Times New Roman"/>
              </a:rPr>
              <a:t>process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communication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(IPC)</a:t>
            </a:r>
            <a:r>
              <a:rPr dirty="0" sz="1550" spc="21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between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server</a:t>
            </a:r>
            <a:r>
              <a:rPr dirty="0" sz="1550" spc="215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and </a:t>
            </a:r>
            <a:r>
              <a:rPr dirty="0" sz="1550">
                <a:latin typeface="Times New Roman"/>
                <a:cs typeface="Times New Roman"/>
              </a:rPr>
              <a:t>client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-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Studio,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facilitating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structured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secure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data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exchange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across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boundaries.</a:t>
            </a: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550">
                <a:latin typeface="Times New Roman"/>
                <a:cs typeface="Times New Roman"/>
              </a:rPr>
              <a:t>Created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FlashLight</a:t>
            </a:r>
            <a:r>
              <a:rPr dirty="0" sz="1550" spc="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voltage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SOS</a:t>
            </a:r>
            <a:r>
              <a:rPr dirty="0" sz="1550" spc="2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Message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Regulating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through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flashlight.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70738"/>
            <a:ext cx="872490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Individual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Learning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&amp;</a:t>
            </a:r>
            <a:r>
              <a:rPr dirty="0" spc="-1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Technical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9905" y="639036"/>
            <a:ext cx="10242550" cy="6005195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550" b="1">
                <a:latin typeface="Times New Roman"/>
                <a:cs typeface="Times New Roman"/>
              </a:rPr>
              <a:t>Pushkar</a:t>
            </a:r>
            <a:r>
              <a:rPr dirty="0" sz="1550" spc="11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Paul(PPAUL3)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550" b="1">
                <a:latin typeface="Times New Roman"/>
                <a:cs typeface="Times New Roman"/>
              </a:rPr>
              <a:t>Ongoing</a:t>
            </a:r>
            <a:r>
              <a:rPr dirty="0" sz="1550" spc="175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tasks:</a:t>
            </a: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919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550">
                <a:latin typeface="Times New Roman"/>
                <a:cs typeface="Times New Roman"/>
              </a:rPr>
              <a:t>Implementing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Deamon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on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calculator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that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service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starts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on-</a:t>
            </a:r>
            <a:r>
              <a:rPr dirty="0" sz="1550" spc="-10">
                <a:latin typeface="Times New Roman"/>
                <a:cs typeface="Times New Roman"/>
              </a:rPr>
              <a:t>boot.</a:t>
            </a: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550">
                <a:latin typeface="Times New Roman"/>
                <a:cs typeface="Times New Roman"/>
              </a:rPr>
              <a:t>Implementing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Some-ip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communicating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two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services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soong.</a:t>
            </a: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919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550">
                <a:latin typeface="Times New Roman"/>
                <a:cs typeface="Times New Roman"/>
              </a:rPr>
              <a:t>Implementing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Flashlight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through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soong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voltage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disco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led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with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pico.</a:t>
            </a:r>
            <a:endParaRPr sz="155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297815" algn="l"/>
              </a:tabLst>
            </a:pPr>
            <a:r>
              <a:rPr dirty="0" sz="1550">
                <a:latin typeface="Times New Roman"/>
                <a:cs typeface="Times New Roman"/>
              </a:rPr>
              <a:t>Device</a:t>
            </a:r>
            <a:r>
              <a:rPr dirty="0" sz="1550" spc="1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Management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R&amp;D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 spc="-50">
                <a:latin typeface="Times New Roman"/>
                <a:cs typeface="Times New Roman"/>
              </a:rPr>
              <a:t>: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logd</a:t>
            </a:r>
            <a:r>
              <a:rPr dirty="0" sz="1550" spc="15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/</a:t>
            </a:r>
            <a:r>
              <a:rPr dirty="0" sz="1550" spc="114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logcatd</a:t>
            </a:r>
            <a:r>
              <a:rPr dirty="0" sz="1550" spc="9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System-level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logging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daemons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collecting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logs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from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all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sources</a:t>
            </a:r>
            <a:r>
              <a:rPr dirty="0" sz="1550" spc="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including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native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crashes.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698500" algn="l"/>
                <a:tab pos="1508760" algn="l"/>
              </a:tabLst>
            </a:pPr>
            <a:r>
              <a:rPr dirty="0" sz="1550" b="1">
                <a:latin typeface="Times New Roman"/>
                <a:cs typeface="Times New Roman"/>
              </a:rPr>
              <a:t>liblog</a:t>
            </a:r>
            <a:r>
              <a:rPr dirty="0" sz="1550" spc="125" b="1">
                <a:latin typeface="Times New Roman"/>
                <a:cs typeface="Times New Roman"/>
              </a:rPr>
              <a:t> </a:t>
            </a:r>
            <a:r>
              <a:rPr dirty="0" sz="1550" spc="-50" b="1">
                <a:latin typeface="Times New Roman"/>
                <a:cs typeface="Times New Roman"/>
              </a:rPr>
              <a:t>(</a:t>
            </a:r>
            <a:r>
              <a:rPr dirty="0" u="sng" sz="15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550" b="1">
                <a:latin typeface="Times New Roman"/>
                <a:cs typeface="Times New Roman"/>
              </a:rPr>
              <a:t>android_log_print)</a:t>
            </a:r>
            <a:r>
              <a:rPr dirty="0" sz="1550" spc="14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Native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C/C++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logging</a:t>
            </a:r>
            <a:r>
              <a:rPr dirty="0" sz="1550" spc="-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API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used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custom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messages.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Systrace</a:t>
            </a:r>
            <a:r>
              <a:rPr dirty="0" sz="1550" spc="9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/</a:t>
            </a:r>
            <a:r>
              <a:rPr dirty="0" sz="1550" spc="10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atrace</a:t>
            </a:r>
            <a:r>
              <a:rPr dirty="0" sz="1550" spc="6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Legacy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tracing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tools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capturing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stalls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slow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operations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(useful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-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ANR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diagnosis).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SELinux</a:t>
            </a:r>
            <a:r>
              <a:rPr dirty="0" sz="1550" spc="-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Audit</a:t>
            </a:r>
            <a:r>
              <a:rPr dirty="0" sz="1550" spc="16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Logs</a:t>
            </a:r>
            <a:r>
              <a:rPr dirty="0" sz="1550" spc="13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Detect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permission-denied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events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that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lead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service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or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crashes.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dmesg</a:t>
            </a:r>
            <a:r>
              <a:rPr dirty="0" sz="1550" spc="6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/</a:t>
            </a:r>
            <a:r>
              <a:rPr dirty="0" sz="1550" spc="9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printk</a:t>
            </a:r>
            <a:r>
              <a:rPr dirty="0" sz="1550" spc="13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0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Kernel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ring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buffer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logs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that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reveal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low-level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crashes,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panics,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hardware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watchdog</a:t>
            </a:r>
            <a:r>
              <a:rPr dirty="0" sz="1550" spc="10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resets.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/proc</a:t>
            </a:r>
            <a:r>
              <a:rPr dirty="0" sz="1550" spc="5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and</a:t>
            </a:r>
            <a:r>
              <a:rPr dirty="0" sz="1550" spc="10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/sys</a:t>
            </a:r>
            <a:r>
              <a:rPr dirty="0" sz="1550" spc="15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Filesystems</a:t>
            </a:r>
            <a:r>
              <a:rPr dirty="0" sz="1550" spc="18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Monitor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per-process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signals,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memory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leaks,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thread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states.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Watchdog</a:t>
            </a:r>
            <a:r>
              <a:rPr dirty="0" sz="1550" spc="1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Daemons</a:t>
            </a:r>
            <a:r>
              <a:rPr dirty="0" sz="1550" spc="5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(Software/Hardware)</a:t>
            </a:r>
            <a:r>
              <a:rPr dirty="0" sz="1550" spc="18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Automatically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detect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reboot</a:t>
            </a:r>
            <a:r>
              <a:rPr dirty="0" sz="1550" spc="1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on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hangs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or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freezes.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KCrash</a:t>
            </a:r>
            <a:r>
              <a:rPr dirty="0" sz="1550" spc="8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(Linux/Qt)</a:t>
            </a:r>
            <a:r>
              <a:rPr dirty="0" sz="1550" spc="9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handler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embedded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or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Qt-based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applications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(useful</a:t>
            </a:r>
            <a:r>
              <a:rPr dirty="0" sz="1550" spc="1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IVI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systems).</a:t>
            </a:r>
            <a:endParaRPr sz="1550">
              <a:latin typeface="Times New Roman"/>
              <a:cs typeface="Times New Roman"/>
            </a:endParaRPr>
          </a:p>
          <a:p>
            <a:pPr lvl="1" marL="698500" marR="299085" indent="-228600">
              <a:lnSpc>
                <a:spcPts val="173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Android</a:t>
            </a:r>
            <a:r>
              <a:rPr dirty="0" sz="1550" spc="13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Health</a:t>
            </a:r>
            <a:r>
              <a:rPr dirty="0" sz="1550" spc="14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HAL</a:t>
            </a:r>
            <a:r>
              <a:rPr dirty="0" sz="1550" spc="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/</a:t>
            </a:r>
            <a:r>
              <a:rPr dirty="0" sz="1550" spc="12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VHAL</a:t>
            </a:r>
            <a:r>
              <a:rPr dirty="0" sz="1550" spc="1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(Automotive)</a:t>
            </a:r>
            <a:r>
              <a:rPr dirty="0" sz="1550" spc="19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Reports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hardware/software</a:t>
            </a:r>
            <a:r>
              <a:rPr dirty="0" sz="1550" spc="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health,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can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signal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crash-like</a:t>
            </a:r>
            <a:r>
              <a:rPr dirty="0" sz="1550" spc="18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faults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in </a:t>
            </a:r>
            <a:r>
              <a:rPr dirty="0" sz="1550" spc="-10">
                <a:latin typeface="Times New Roman"/>
                <a:cs typeface="Times New Roman"/>
              </a:rPr>
              <a:t>components.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ACRA</a:t>
            </a:r>
            <a:r>
              <a:rPr dirty="0" sz="1550" spc="-3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(App</a:t>
            </a:r>
            <a:r>
              <a:rPr dirty="0" sz="1550" spc="9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Crash</a:t>
            </a:r>
            <a:r>
              <a:rPr dirty="0" sz="1550" spc="10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Reporter</a:t>
            </a:r>
            <a:r>
              <a:rPr dirty="0" sz="1550" spc="13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Library)</a:t>
            </a:r>
            <a:r>
              <a:rPr dirty="0" sz="1550" spc="170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Java-layer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report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collector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that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uploads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logs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remote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servers.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tombstoned</a:t>
            </a:r>
            <a:r>
              <a:rPr dirty="0" sz="1550" spc="12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intercept</a:t>
            </a:r>
            <a:r>
              <a:rPr dirty="0" sz="1550" spc="160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tools</a:t>
            </a:r>
            <a:r>
              <a:rPr dirty="0" sz="1550" spc="175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Low-level</a:t>
            </a:r>
            <a:r>
              <a:rPr dirty="0" sz="1550" spc="8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mechanism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to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hook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into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native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dumps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7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advanced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tracking.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GDBServer</a:t>
            </a:r>
            <a:r>
              <a:rPr dirty="0" sz="1550" spc="114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Debug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remote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native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services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post-crash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via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Times New Roman"/>
                <a:cs typeface="Times New Roman"/>
              </a:rPr>
              <a:t>TCP,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useful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embedded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environments.</a:t>
            </a:r>
            <a:endParaRPr sz="155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3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50" b="1">
                <a:latin typeface="Times New Roman"/>
                <a:cs typeface="Times New Roman"/>
              </a:rPr>
              <a:t>LLDB</a:t>
            </a:r>
            <a:r>
              <a:rPr dirty="0" sz="1550" spc="7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(NDK</a:t>
            </a:r>
            <a:r>
              <a:rPr dirty="0" sz="1550" spc="135" b="1">
                <a:latin typeface="Times New Roman"/>
                <a:cs typeface="Times New Roman"/>
              </a:rPr>
              <a:t> </a:t>
            </a:r>
            <a:r>
              <a:rPr dirty="0" sz="1550" b="1">
                <a:latin typeface="Times New Roman"/>
                <a:cs typeface="Times New Roman"/>
              </a:rPr>
              <a:t>Debugger)</a:t>
            </a:r>
            <a:r>
              <a:rPr dirty="0" sz="1550" spc="114" b="1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–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Debug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native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crashes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</a:t>
            </a:r>
            <a:r>
              <a:rPr dirty="0" sz="1550" spc="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Android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Studio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using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breakpoints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memory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inspection.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Individual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Learning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&amp;</a:t>
            </a:r>
            <a:r>
              <a:rPr dirty="0" spc="-1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Technical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7357" y="877665"/>
            <a:ext cx="10375265" cy="430022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150" b="1">
                <a:latin typeface="Times New Roman"/>
                <a:cs typeface="Times New Roman"/>
              </a:rPr>
              <a:t>Rahul</a:t>
            </a:r>
            <a:r>
              <a:rPr dirty="0" sz="2150" spc="70" b="1">
                <a:latin typeface="Times New Roman"/>
                <a:cs typeface="Times New Roman"/>
              </a:rPr>
              <a:t> </a:t>
            </a:r>
            <a:r>
              <a:rPr dirty="0" sz="2150" b="1">
                <a:latin typeface="Times New Roman"/>
                <a:cs typeface="Times New Roman"/>
              </a:rPr>
              <a:t>Hegde</a:t>
            </a:r>
            <a:r>
              <a:rPr dirty="0" sz="2150" spc="90" b="1">
                <a:latin typeface="Times New Roman"/>
                <a:cs typeface="Times New Roman"/>
              </a:rPr>
              <a:t> </a:t>
            </a:r>
            <a:r>
              <a:rPr dirty="0" sz="2150" spc="-10" b="1">
                <a:latin typeface="Times New Roman"/>
                <a:cs typeface="Times New Roman"/>
              </a:rPr>
              <a:t>[rhegde2]</a:t>
            </a:r>
            <a:endParaRPr sz="215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2100"/>
              </a:lnSpc>
              <a:spcBef>
                <a:spcPts val="1120"/>
              </a:spcBef>
              <a:buChar char="•"/>
              <a:tabLst>
                <a:tab pos="241300" algn="l"/>
                <a:tab pos="304800" algn="l"/>
              </a:tabLst>
            </a:pP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Automotive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Standards: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Attended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session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Agile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Training: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Scrum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Practices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assigned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by </a:t>
            </a:r>
            <a:r>
              <a:rPr dirty="0" sz="2000">
                <a:latin typeface="Times New Roman"/>
                <a:cs typeface="Times New Roman"/>
              </a:rPr>
              <a:t>my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mentor.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55"/>
              </a:lnSpc>
              <a:spcBef>
                <a:spcPts val="8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Times New Roman"/>
                <a:cs typeface="Times New Roman"/>
              </a:rPr>
              <a:t>Hardware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Flashing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</a:t>
            </a:r>
            <a:r>
              <a:rPr dirty="0" sz="2000" spc="-10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Debugging:</a:t>
            </a:r>
            <a:r>
              <a:rPr dirty="0" sz="2000" spc="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Gained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hands-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experience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device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flashing,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specifically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55"/>
              </a:lnSpc>
            </a:pP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Tata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Skylark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device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Flash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Tool.</a:t>
            </a:r>
            <a:endParaRPr sz="2000">
              <a:latin typeface="Times New Roman"/>
              <a:cs typeface="Times New Roman"/>
            </a:endParaRPr>
          </a:p>
          <a:p>
            <a:pPr marL="241300" marR="42545" indent="-229235">
              <a:lnSpc>
                <a:spcPct val="908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Times New Roman"/>
                <a:cs typeface="Times New Roman"/>
              </a:rPr>
              <a:t>Android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30" b="1">
                <a:latin typeface="Times New Roman"/>
                <a:cs typeface="Times New Roman"/>
              </a:rPr>
              <a:t>Inter-</a:t>
            </a:r>
            <a:r>
              <a:rPr dirty="0" sz="2000" b="1">
                <a:latin typeface="Times New Roman"/>
                <a:cs typeface="Times New Roman"/>
              </a:rPr>
              <a:t>Process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Communication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(IPC)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Implementation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using</a:t>
            </a:r>
            <a:r>
              <a:rPr dirty="0" sz="2000" spc="-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AIDL: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 </a:t>
            </a:r>
            <a:r>
              <a:rPr dirty="0" sz="2000">
                <a:latin typeface="Times New Roman"/>
                <a:cs typeface="Times New Roman"/>
              </a:rPr>
              <a:t>Android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IPC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mechanism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in</a:t>
            </a:r>
            <a:r>
              <a:rPr dirty="0" sz="2000" spc="-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Android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Studio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using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AIDL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enable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between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>
                <a:latin typeface="Times New Roman"/>
                <a:cs typeface="Times New Roman"/>
              </a:rPr>
              <a:t>Client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bound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service.</a:t>
            </a:r>
            <a:endParaRPr sz="2000">
              <a:latin typeface="Times New Roman"/>
              <a:cs typeface="Times New Roman"/>
            </a:endParaRPr>
          </a:p>
          <a:p>
            <a:pPr lvl="1" marL="348615" indent="-107314">
              <a:lnSpc>
                <a:spcPts val="1645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Created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two</a:t>
            </a:r>
            <a:r>
              <a:rPr dirty="0" sz="1550" spc="12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apps: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Server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(AIDLService)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&amp;</a:t>
            </a:r>
            <a:r>
              <a:rPr dirty="0" sz="1550" spc="19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Client.</a:t>
            </a:r>
            <a:endParaRPr sz="1550">
              <a:latin typeface="Calibri"/>
              <a:cs typeface="Calibri"/>
            </a:endParaRPr>
          </a:p>
          <a:p>
            <a:pPr lvl="1" marL="348615" indent="-107314">
              <a:lnSpc>
                <a:spcPts val="1730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Defined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AIDL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interface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IVehicleService.aidl</a:t>
            </a:r>
            <a:r>
              <a:rPr dirty="0" sz="1550" spc="1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return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speed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vehicle</a:t>
            </a:r>
            <a:r>
              <a:rPr dirty="0" sz="1550" spc="165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type</a:t>
            </a:r>
            <a:endParaRPr sz="1550">
              <a:latin typeface="Calibri"/>
              <a:cs typeface="Calibri"/>
            </a:endParaRPr>
          </a:p>
          <a:p>
            <a:pPr lvl="1" marL="348615" indent="-107314">
              <a:lnSpc>
                <a:spcPts val="1730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Implemented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a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bound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service</a:t>
            </a:r>
            <a:r>
              <a:rPr dirty="0" sz="1550" spc="13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server</a:t>
            </a:r>
            <a:r>
              <a:rPr dirty="0" sz="1550" spc="14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IVehicleService.Stub</a:t>
            </a:r>
            <a:endParaRPr sz="1550">
              <a:latin typeface="Calibri"/>
              <a:cs typeface="Calibri"/>
            </a:endParaRPr>
          </a:p>
          <a:p>
            <a:pPr lvl="1" marL="348615" indent="-107314">
              <a:lnSpc>
                <a:spcPts val="1730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Added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custom</a:t>
            </a:r>
            <a:r>
              <a:rPr dirty="0" sz="1550" spc="13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permission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8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secure</a:t>
            </a:r>
            <a:r>
              <a:rPr dirty="0" sz="1550" spc="6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binding</a:t>
            </a:r>
            <a:endParaRPr sz="1550">
              <a:latin typeface="Calibri"/>
              <a:cs typeface="Calibri"/>
            </a:endParaRPr>
          </a:p>
          <a:p>
            <a:pPr lvl="1" marL="348615" indent="-107314">
              <a:lnSpc>
                <a:spcPts val="1725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Used</a:t>
            </a:r>
            <a:r>
              <a:rPr dirty="0" sz="1550" spc="8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Intent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with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setPackage()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for</a:t>
            </a:r>
            <a:r>
              <a:rPr dirty="0" sz="1550" spc="14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explicit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binding</a:t>
            </a:r>
            <a:endParaRPr sz="1550">
              <a:latin typeface="Calibri"/>
              <a:cs typeface="Calibri"/>
            </a:endParaRPr>
          </a:p>
          <a:p>
            <a:pPr lvl="1" marL="348615" indent="-107314">
              <a:lnSpc>
                <a:spcPts val="1725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Debugged</a:t>
            </a:r>
            <a:r>
              <a:rPr dirty="0" sz="1550" spc="10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using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Logcat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to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trace</a:t>
            </a:r>
            <a:r>
              <a:rPr dirty="0" sz="1550" spc="7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service</a:t>
            </a:r>
            <a:r>
              <a:rPr dirty="0" sz="1550" spc="1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binding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&amp;</a:t>
            </a:r>
            <a:r>
              <a:rPr dirty="0" sz="1550" spc="7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method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calls</a:t>
            </a:r>
            <a:endParaRPr sz="1550">
              <a:latin typeface="Calibri"/>
              <a:cs typeface="Calibri"/>
            </a:endParaRPr>
          </a:p>
          <a:p>
            <a:pPr lvl="1" marL="348615" indent="-107314">
              <a:lnSpc>
                <a:spcPts val="1795"/>
              </a:lnSpc>
              <a:buChar char="-"/>
              <a:tabLst>
                <a:tab pos="348615" algn="l"/>
              </a:tabLst>
            </a:pPr>
            <a:r>
              <a:rPr dirty="0" sz="1550">
                <a:latin typeface="Calibri"/>
                <a:cs typeface="Calibri"/>
              </a:rPr>
              <a:t>Verified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output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on</a:t>
            </a:r>
            <a:r>
              <a:rPr dirty="0" sz="1550" spc="9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physical</a:t>
            </a:r>
            <a:r>
              <a:rPr dirty="0" sz="1550" spc="114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device</a:t>
            </a:r>
            <a:r>
              <a:rPr dirty="0" sz="1550" spc="15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—</a:t>
            </a:r>
            <a:r>
              <a:rPr dirty="0" sz="1550" spc="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successfully</a:t>
            </a:r>
            <a:r>
              <a:rPr dirty="0" sz="1550" spc="55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retrieved</a:t>
            </a:r>
            <a:r>
              <a:rPr dirty="0" sz="1550" spc="9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speed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87901" y="6443979"/>
            <a:ext cx="363410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dirty="0"/>
              <a:t>Individual</a:t>
            </a:r>
            <a:r>
              <a:rPr dirty="0" spc="-30"/>
              <a:t> </a:t>
            </a:r>
            <a:r>
              <a:rPr dirty="0"/>
              <a:t>Learning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 spc="-10"/>
              <a:t>Technical</a:t>
            </a:r>
            <a:r>
              <a:rPr dirty="0" spc="-20"/>
              <a:t> </a:t>
            </a:r>
            <a:r>
              <a:rPr dirty="0" spc="-10"/>
              <a:t>Exposure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47357" y="861869"/>
            <a:ext cx="7474584" cy="593217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000">
                <a:latin typeface="Times New Roman"/>
                <a:cs typeface="Times New Roman"/>
              </a:rPr>
              <a:t>Ongoing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Diag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Debug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Summary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Crash</a:t>
            </a:r>
            <a:r>
              <a:rPr dirty="0" sz="1800" spc="-7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Types</a:t>
            </a:r>
            <a:r>
              <a:rPr dirty="0" sz="180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Monitored</a:t>
            </a:r>
            <a:endParaRPr sz="18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Java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app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crashes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(uncaught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exceptions)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Native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crashes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(signals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like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SIGSEGV)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Service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crashes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ANRs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(Application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Not</a:t>
            </a:r>
            <a:r>
              <a:rPr dirty="0" sz="14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Responding)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Kernel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crashes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&amp;</a:t>
            </a:r>
            <a:r>
              <a:rPr dirty="0" sz="1400" spc="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system</a:t>
            </a:r>
            <a:r>
              <a:rPr dirty="0" sz="1400" spc="-5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resets</a:t>
            </a:r>
            <a:endParaRPr sz="1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Key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Components</a:t>
            </a:r>
            <a:r>
              <a:rPr dirty="0" sz="180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Detecting</a:t>
            </a:r>
            <a:r>
              <a:rPr dirty="0" sz="18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Crashes</a:t>
            </a:r>
            <a:endParaRPr sz="18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1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ActivityManagerService</a:t>
            </a:r>
            <a:r>
              <a:rPr dirty="0" sz="1400" spc="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(AMS):</a:t>
            </a:r>
            <a:r>
              <a:rPr dirty="0" sz="1400" spc="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Detects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 app/service</a:t>
            </a:r>
            <a:r>
              <a:rPr dirty="0" sz="14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crashes</a:t>
            </a:r>
            <a:r>
              <a:rPr dirty="0" sz="14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&amp;</a:t>
            </a:r>
            <a:r>
              <a:rPr dirty="0" sz="1400" spc="-1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ANRs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debuggerd</a:t>
            </a:r>
            <a:r>
              <a:rPr dirty="0" sz="1400" spc="-7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daemon: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Captures</a:t>
            </a:r>
            <a:r>
              <a:rPr dirty="0" sz="1400" spc="-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native</a:t>
            </a:r>
            <a:r>
              <a:rPr dirty="0" sz="1400" spc="-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</a:t>
            </a:r>
            <a:r>
              <a:rPr dirty="0" sz="1400" spc="-4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dumps</a:t>
            </a:r>
            <a:r>
              <a:rPr dirty="0" sz="1400" spc="-4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(tombstones)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Linux</a:t>
            </a:r>
            <a:r>
              <a:rPr dirty="0" sz="1400" spc="-5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Kernel:</a:t>
            </a:r>
            <a:r>
              <a:rPr dirty="0" sz="1400" spc="-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Sends</a:t>
            </a:r>
            <a:r>
              <a:rPr dirty="0" sz="1400" spc="-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signals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dirty="0" sz="140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native</a:t>
            </a:r>
            <a:r>
              <a:rPr dirty="0" sz="1400" spc="-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crashes,</a:t>
            </a:r>
            <a:r>
              <a:rPr dirty="0" sz="1400" spc="-6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detects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kernel</a:t>
            </a:r>
            <a:r>
              <a:rPr dirty="0" sz="1400" spc="-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panics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Watchdog.java:</a:t>
            </a:r>
            <a:r>
              <a:rPr dirty="0" sz="140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thread</a:t>
            </a:r>
            <a:r>
              <a:rPr dirty="0" sz="1400" spc="-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monitors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and</a:t>
            </a:r>
            <a:r>
              <a:rPr dirty="0" sz="1400" spc="-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detects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system</a:t>
            </a:r>
            <a:r>
              <a:rPr dirty="0" sz="1400" spc="-6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server</a:t>
            </a:r>
            <a:r>
              <a:rPr dirty="0" sz="140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crash.</a:t>
            </a:r>
            <a:endParaRPr sz="1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Crash</a:t>
            </a:r>
            <a:r>
              <a:rPr dirty="0" sz="18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Event</a:t>
            </a:r>
            <a:r>
              <a:rPr dirty="0" sz="1800" spc="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Generation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&amp;</a:t>
            </a:r>
            <a:r>
              <a:rPr dirty="0" sz="1800" spc="-6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Logging</a:t>
            </a:r>
            <a:endParaRPr sz="18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AMS</a:t>
            </a:r>
            <a:r>
              <a:rPr dirty="0" sz="14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methods: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appNotResponding(),</a:t>
            </a:r>
            <a:r>
              <a:rPr dirty="0" sz="1400" spc="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handleAppCrash()</a:t>
            </a:r>
            <a:r>
              <a:rPr dirty="0" sz="1400" spc="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trigger</a:t>
            </a:r>
            <a:r>
              <a:rPr dirty="0" sz="1400" spc="-6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events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debuggerd</a:t>
            </a:r>
            <a:r>
              <a:rPr dirty="0" sz="1400" spc="-7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generates</a:t>
            </a:r>
            <a:r>
              <a:rPr dirty="0" sz="1400" spc="-3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native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</a:t>
            </a:r>
            <a:r>
              <a:rPr dirty="0" sz="1400" spc="-3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reports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DropBoxManagerService</a:t>
            </a:r>
            <a:r>
              <a:rPr dirty="0" sz="14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stores</a:t>
            </a:r>
            <a:r>
              <a:rPr dirty="0" sz="1400" spc="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crash/ANR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reports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Logs</a:t>
            </a:r>
            <a:r>
              <a:rPr dirty="0" sz="1400" spc="-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aggregated</a:t>
            </a:r>
            <a:r>
              <a:rPr dirty="0" sz="1400" spc="-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in</a:t>
            </a:r>
            <a:r>
              <a:rPr dirty="0" sz="1400" spc="-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logcat</a:t>
            </a:r>
            <a:r>
              <a:rPr dirty="0" sz="1400" spc="-5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dirty="0" sz="1400" spc="-9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user/developer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access</a:t>
            </a:r>
            <a:endParaRPr sz="14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solidFill>
                  <a:srgbClr val="212121"/>
                </a:solidFill>
                <a:latin typeface="Times New Roman"/>
                <a:cs typeface="Times New Roman"/>
              </a:rPr>
              <a:t>Next</a:t>
            </a:r>
            <a:r>
              <a:rPr dirty="0" sz="1800" spc="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12121"/>
                </a:solidFill>
                <a:latin typeface="Times New Roman"/>
                <a:cs typeface="Times New Roman"/>
              </a:rPr>
              <a:t>Steps</a:t>
            </a:r>
            <a:endParaRPr sz="18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Study</a:t>
            </a:r>
            <a:r>
              <a:rPr dirty="0" sz="1400" spc="-8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AMS,</a:t>
            </a:r>
            <a:r>
              <a:rPr dirty="0" sz="140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debuggerd,</a:t>
            </a:r>
            <a:r>
              <a:rPr dirty="0" sz="1400" spc="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DropBoxManagerService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source</a:t>
            </a:r>
            <a:r>
              <a:rPr dirty="0" sz="1400" spc="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code</a:t>
            </a:r>
            <a:endParaRPr sz="1400">
              <a:latin typeface="Times New Roman"/>
              <a:cs typeface="Times New Roman"/>
            </a:endParaRPr>
          </a:p>
          <a:p>
            <a:pPr lvl="1" marL="698500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Use</a:t>
            </a:r>
            <a:r>
              <a:rPr dirty="0" sz="1400" spc="-9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APIs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to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listen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for</a:t>
            </a:r>
            <a:r>
              <a:rPr dirty="0" sz="1400" spc="-8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crash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events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212121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212121"/>
                </a:solidFill>
                <a:latin typeface="Times New Roman"/>
                <a:cs typeface="Times New Roman"/>
              </a:rPr>
              <a:t>retrieve</a:t>
            </a:r>
            <a:r>
              <a:rPr dirty="0" sz="140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212121"/>
                </a:solidFill>
                <a:latin typeface="Times New Roman"/>
                <a:cs typeface="Times New Roman"/>
              </a:rPr>
              <a:t>logs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Times New Roman"/>
              <a:cs typeface="Times New Roman"/>
            </a:endParaRPr>
          </a:p>
          <a:p>
            <a:pPr marL="3853179">
              <a:lnSpc>
                <a:spcPct val="100000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6985" y="122936"/>
            <a:ext cx="515683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b="0">
                <a:latin typeface="Times New Roman"/>
                <a:cs typeface="Times New Roman"/>
              </a:rPr>
              <a:t>Reflections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5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9752" y="1033775"/>
            <a:ext cx="10678795" cy="4582795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Understanding</a:t>
            </a:r>
            <a:r>
              <a:rPr dirty="0" sz="2400" spc="-2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of</a:t>
            </a:r>
            <a:r>
              <a:rPr dirty="0" sz="2400" spc="1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corporate</a:t>
            </a:r>
            <a:r>
              <a:rPr dirty="0" sz="2400" spc="-3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work</a:t>
            </a:r>
            <a:r>
              <a:rPr dirty="0" sz="2400" spc="-15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EC7C30"/>
                </a:solidFill>
                <a:latin typeface="Times New Roman"/>
                <a:cs typeface="Times New Roman"/>
              </a:rPr>
              <a:t>culture</a:t>
            </a:r>
            <a:endParaRPr sz="2400">
              <a:latin typeface="Times New Roman"/>
              <a:cs typeface="Times New Roman"/>
            </a:endParaRPr>
          </a:p>
          <a:p>
            <a:pPr marL="12700" marR="760730">
              <a:lnSpc>
                <a:spcPts val="2180"/>
              </a:lnSpc>
              <a:spcBef>
                <a:spcPts val="1010"/>
              </a:spcBef>
            </a:pPr>
            <a:r>
              <a:rPr dirty="0" sz="2000">
                <a:latin typeface="Times New Roman"/>
                <a:cs typeface="Times New Roman"/>
              </a:rPr>
              <a:t>Learnt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professional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procedures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collaborating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teams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mentors.</a:t>
            </a:r>
            <a:endParaRPr sz="20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690"/>
              </a:spcBef>
            </a:pP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Exposure</a:t>
            </a:r>
            <a:r>
              <a:rPr dirty="0" sz="2400" spc="-35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to</a:t>
            </a:r>
            <a:r>
              <a:rPr dirty="0" sz="2400" spc="-1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the</a:t>
            </a:r>
            <a:r>
              <a:rPr dirty="0" sz="2400" spc="-25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development</a:t>
            </a:r>
            <a:r>
              <a:rPr dirty="0" sz="2400" spc="-5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in</a:t>
            </a:r>
            <a:r>
              <a:rPr dirty="0" sz="2400" spc="-15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EC7C30"/>
                </a:solidFill>
                <a:latin typeface="Times New Roman"/>
                <a:cs typeface="Times New Roman"/>
              </a:rPr>
              <a:t>AOSP</a:t>
            </a:r>
            <a:r>
              <a:rPr dirty="0" sz="2400" spc="-11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EC7C30"/>
                </a:solidFill>
                <a:latin typeface="Times New Roman"/>
                <a:cs typeface="Times New Roman"/>
              </a:rPr>
              <a:t>Domain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180"/>
              </a:lnSpc>
              <a:spcBef>
                <a:spcPts val="1005"/>
              </a:spcBef>
            </a:pPr>
            <a:r>
              <a:rPr dirty="0" sz="2000">
                <a:latin typeface="Times New Roman"/>
                <a:cs typeface="Times New Roman"/>
              </a:rPr>
              <a:t>Gained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Hands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experience 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development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AOSP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code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implementation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along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bp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files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folder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implementing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client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server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application.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Improved</a:t>
            </a:r>
            <a:r>
              <a:rPr dirty="0" sz="2400" spc="-35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communication</a:t>
            </a:r>
            <a:r>
              <a:rPr dirty="0" sz="2400" spc="-25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and</a:t>
            </a:r>
            <a:r>
              <a:rPr dirty="0" sz="2400" spc="-2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collaboration</a:t>
            </a:r>
            <a:r>
              <a:rPr dirty="0" sz="2400" spc="-4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EC7C30"/>
                </a:solidFill>
                <a:latin typeface="Times New Roman"/>
                <a:cs typeface="Times New Roman"/>
              </a:rPr>
              <a:t>skills</a:t>
            </a:r>
            <a:endParaRPr sz="2400">
              <a:latin typeface="Times New Roman"/>
              <a:cs typeface="Times New Roman"/>
            </a:endParaRPr>
          </a:p>
          <a:p>
            <a:pPr marL="12700" marR="414655">
              <a:lnSpc>
                <a:spcPts val="2180"/>
              </a:lnSpc>
              <a:spcBef>
                <a:spcPts val="1005"/>
              </a:spcBef>
            </a:pPr>
            <a:r>
              <a:rPr dirty="0" sz="2000">
                <a:latin typeface="Times New Roman"/>
                <a:cs typeface="Times New Roman"/>
              </a:rPr>
              <a:t>Developed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confidence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sharing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ideas,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asking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questions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working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diverse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team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members,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strong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interpersonal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collaboration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skills.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Professional</a:t>
            </a:r>
            <a:r>
              <a:rPr dirty="0" sz="2400" spc="-3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Growth</a:t>
            </a:r>
            <a:r>
              <a:rPr dirty="0" sz="2400" spc="-3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and</a:t>
            </a:r>
            <a:r>
              <a:rPr dirty="0" sz="2400" spc="-3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EC7C30"/>
                </a:solidFill>
                <a:latin typeface="Times New Roman"/>
                <a:cs typeface="Times New Roman"/>
              </a:rPr>
              <a:t>handling</a:t>
            </a:r>
            <a:r>
              <a:rPr dirty="0" sz="2400" spc="-3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dirty="0" sz="2400" spc="-10">
                <a:solidFill>
                  <a:srgbClr val="EC7C30"/>
                </a:solidFill>
                <a:latin typeface="Times New Roman"/>
                <a:cs typeface="Times New Roman"/>
              </a:rPr>
              <a:t>Responsibilities</a:t>
            </a:r>
            <a:endParaRPr sz="2400">
              <a:latin typeface="Times New Roman"/>
              <a:cs typeface="Times New Roman"/>
            </a:endParaRPr>
          </a:p>
          <a:p>
            <a:pPr marL="12700" marR="100965">
              <a:lnSpc>
                <a:spcPts val="2180"/>
              </a:lnSpc>
              <a:spcBef>
                <a:spcPts val="1005"/>
              </a:spcBef>
            </a:pPr>
            <a:r>
              <a:rPr dirty="0" sz="2000">
                <a:latin typeface="Times New Roman"/>
                <a:cs typeface="Times New Roman"/>
              </a:rPr>
              <a:t>Gained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experience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handle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 </a:t>
            </a:r>
            <a:r>
              <a:rPr dirty="0" sz="2000" spc="-10">
                <a:latin typeface="Times New Roman"/>
                <a:cs typeface="Times New Roman"/>
              </a:rPr>
              <a:t>responsibilities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adapting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new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challenges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undersatnding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how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contribute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effectively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corporate</a:t>
            </a:r>
            <a:r>
              <a:rPr dirty="0" sz="2000" spc="-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projects.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/>
          <p:nvPr/>
        </p:nvSpPr>
        <p:spPr>
          <a:xfrm>
            <a:off x="4057903" y="6518741"/>
            <a:ext cx="3638550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4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4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65861"/>
            <a:ext cx="244983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635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65"/>
              </a:spcBef>
            </a:pPr>
            <a:r>
              <a:rPr dirty="0" spc="-20"/>
              <a:t>We</a:t>
            </a:r>
            <a:r>
              <a:rPr dirty="0"/>
              <a:t> extend</a:t>
            </a:r>
            <a:r>
              <a:rPr dirty="0" spc="-35"/>
              <a:t> </a:t>
            </a:r>
            <a:r>
              <a:rPr dirty="0"/>
              <a:t>our</a:t>
            </a:r>
            <a:r>
              <a:rPr dirty="0" spc="-70"/>
              <a:t> </a:t>
            </a:r>
            <a:r>
              <a:rPr dirty="0"/>
              <a:t>sincere</a:t>
            </a:r>
            <a:r>
              <a:rPr dirty="0" spc="-70"/>
              <a:t> </a:t>
            </a:r>
            <a:r>
              <a:rPr dirty="0"/>
              <a:t>gratitude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Manager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Mentors</a:t>
            </a:r>
            <a:r>
              <a:rPr dirty="0" spc="-35"/>
              <a:t> </a:t>
            </a:r>
            <a:r>
              <a:rPr dirty="0"/>
              <a:t>for their</a:t>
            </a:r>
            <a:r>
              <a:rPr dirty="0" spc="-5"/>
              <a:t> </a:t>
            </a:r>
            <a:r>
              <a:rPr dirty="0"/>
              <a:t>unwavering</a:t>
            </a:r>
            <a:r>
              <a:rPr dirty="0" spc="-35"/>
              <a:t> </a:t>
            </a:r>
            <a:r>
              <a:rPr dirty="0"/>
              <a:t>support</a:t>
            </a:r>
            <a:r>
              <a:rPr dirty="0" spc="-40"/>
              <a:t> </a:t>
            </a:r>
            <a:r>
              <a:rPr dirty="0" spc="-25"/>
              <a:t>and </a:t>
            </a:r>
            <a:r>
              <a:rPr dirty="0"/>
              <a:t>invaluable</a:t>
            </a:r>
            <a:r>
              <a:rPr dirty="0" spc="25"/>
              <a:t> </a:t>
            </a:r>
            <a:r>
              <a:rPr dirty="0"/>
              <a:t>guidance</a:t>
            </a:r>
            <a:r>
              <a:rPr dirty="0" spc="-50"/>
              <a:t> </a:t>
            </a:r>
            <a:r>
              <a:rPr dirty="0"/>
              <a:t>throughout</a:t>
            </a:r>
            <a:r>
              <a:rPr dirty="0" spc="-15"/>
              <a:t> </a:t>
            </a:r>
            <a:r>
              <a:rPr dirty="0"/>
              <a:t>our</a:t>
            </a:r>
            <a:r>
              <a:rPr dirty="0" spc="-55"/>
              <a:t> </a:t>
            </a:r>
            <a:r>
              <a:rPr dirty="0"/>
              <a:t>internship</a:t>
            </a:r>
            <a:r>
              <a:rPr dirty="0" spc="-15"/>
              <a:t> </a:t>
            </a:r>
            <a:r>
              <a:rPr dirty="0" spc="-20"/>
              <a:t>journey.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30"/>
              <a:t> </a:t>
            </a:r>
            <a:r>
              <a:rPr dirty="0" spc="-20"/>
              <a:t>hands-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experience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knowledge</a:t>
            </a:r>
            <a:r>
              <a:rPr dirty="0" spc="-50"/>
              <a:t> </a:t>
            </a:r>
            <a:r>
              <a:rPr dirty="0" spc="-25"/>
              <a:t>we </a:t>
            </a:r>
            <a:r>
              <a:rPr dirty="0"/>
              <a:t>have</a:t>
            </a:r>
            <a:r>
              <a:rPr dirty="0" spc="-60"/>
              <a:t> </a:t>
            </a:r>
            <a:r>
              <a:rPr dirty="0"/>
              <a:t>acquired</a:t>
            </a:r>
            <a:r>
              <a:rPr dirty="0" spc="-15"/>
              <a:t> </a:t>
            </a:r>
            <a:r>
              <a:rPr dirty="0"/>
              <a:t>have</a:t>
            </a:r>
            <a:r>
              <a:rPr dirty="0" spc="-55"/>
              <a:t> </a:t>
            </a:r>
            <a:r>
              <a:rPr dirty="0"/>
              <a:t>equipped</a:t>
            </a:r>
            <a:r>
              <a:rPr dirty="0" spc="-15"/>
              <a:t> </a:t>
            </a:r>
            <a:r>
              <a:rPr dirty="0"/>
              <a:t>us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face</a:t>
            </a:r>
            <a:r>
              <a:rPr dirty="0" spc="-50"/>
              <a:t> </a:t>
            </a:r>
            <a:r>
              <a:rPr dirty="0"/>
              <a:t>future</a:t>
            </a:r>
            <a:r>
              <a:rPr dirty="0" spc="15"/>
              <a:t> </a:t>
            </a:r>
            <a:r>
              <a:rPr dirty="0"/>
              <a:t>challenges</a:t>
            </a:r>
            <a:r>
              <a:rPr dirty="0" spc="-20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industry</a:t>
            </a:r>
            <a:r>
              <a:rPr dirty="0" spc="-15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/>
              <a:t>confidence.</a:t>
            </a:r>
            <a:r>
              <a:rPr dirty="0" spc="-40"/>
              <a:t> </a:t>
            </a:r>
            <a:r>
              <a:rPr dirty="0" spc="-90"/>
              <a:t>We</a:t>
            </a:r>
            <a:r>
              <a:rPr dirty="0" spc="-50"/>
              <a:t> </a:t>
            </a:r>
            <a:r>
              <a:rPr dirty="0" spc="-20"/>
              <a:t>look </a:t>
            </a:r>
            <a:r>
              <a:rPr dirty="0"/>
              <a:t>forward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0"/>
              <a:t> </a:t>
            </a:r>
            <a:r>
              <a:rPr dirty="0"/>
              <a:t>applying</a:t>
            </a:r>
            <a:r>
              <a:rPr dirty="0" spc="-30"/>
              <a:t> </a:t>
            </a:r>
            <a:r>
              <a:rPr dirty="0"/>
              <a:t>these</a:t>
            </a:r>
            <a:r>
              <a:rPr dirty="0" spc="10"/>
              <a:t> </a:t>
            </a:r>
            <a:r>
              <a:rPr dirty="0"/>
              <a:t>skills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insights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our</a:t>
            </a:r>
            <a:r>
              <a:rPr dirty="0" spc="-65"/>
              <a:t> </a:t>
            </a:r>
            <a:r>
              <a:rPr dirty="0"/>
              <a:t>forthcoming</a:t>
            </a:r>
            <a:r>
              <a:rPr dirty="0" spc="-30"/>
              <a:t> </a:t>
            </a:r>
            <a:r>
              <a:rPr dirty="0"/>
              <a:t>endeavors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contributing </a:t>
            </a:r>
            <a:r>
              <a:rPr dirty="0"/>
              <a:t>meaningfully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innovative</a:t>
            </a:r>
            <a:r>
              <a:rPr dirty="0" spc="-15"/>
              <a:t> </a:t>
            </a:r>
            <a:r>
              <a:rPr dirty="0" spc="-10"/>
              <a:t>projects.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/>
          <p:nvPr/>
        </p:nvSpPr>
        <p:spPr>
          <a:xfrm>
            <a:off x="4287901" y="6458416"/>
            <a:ext cx="3634104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Copyright</a:t>
            </a:r>
            <a:r>
              <a:rPr dirty="0" sz="1200" spc="-2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©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Visteon</a:t>
            </a:r>
            <a:r>
              <a:rPr dirty="0" sz="1200" spc="-5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Corporation.</a:t>
            </a:r>
            <a:r>
              <a:rPr dirty="0" sz="1200" spc="-8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All</a:t>
            </a:r>
            <a:r>
              <a:rPr dirty="0" sz="1200" spc="-30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888888"/>
                </a:solidFill>
                <a:latin typeface="Arial MT"/>
                <a:cs typeface="Arial MT"/>
              </a:rPr>
              <a:t>Rights</a:t>
            </a:r>
            <a:r>
              <a:rPr dirty="0" sz="1200" spc="15">
                <a:solidFill>
                  <a:srgbClr val="88888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Arial MT"/>
                <a:cs typeface="Arial MT"/>
              </a:rPr>
              <a:t>Reserved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3803" y="2884868"/>
            <a:ext cx="3637915" cy="7581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dirty="0" sz="4800" spc="-8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800" spc="-25">
                <a:solidFill>
                  <a:srgbClr val="000000"/>
                </a:solidFill>
                <a:latin typeface="Arial"/>
                <a:cs typeface="Arial"/>
              </a:rPr>
              <a:t>YOU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C487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2026-06-04T09:47:32Z</dcterms:created>
  <dcterms:modified xsi:type="dcterms:W3CDTF">2026-06-04T09:47:32Z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2025-06-17T00:00:00Z</vt:filetime>
  </property>
  <property fmtid="{D5CDD505-2E9C-101B-9397-08002B2CF9AE}" pid="3" name="LastSaved">
    <vt:filetime>2026-06-04T00:00:00Z</vt:filetime>
  </property>
</Properties>
</file>